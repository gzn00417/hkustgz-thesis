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9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21444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411480"/>
            <a:ext cx="164592" cy="164592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35640" y="5349240"/>
            <a:ext cx="256032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03920" y="0"/>
            <a:ext cx="1554480" cy="155448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43000" y="1965960"/>
            <a:ext cx="98755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Towards Scalable and Generalizable</a:t>
            </a:r>
            <a:endParaRPr lang="en-US" sz="2900" dirty="0"/>
          </a:p>
          <a:p>
            <a:pPr marL="0" indent="0" algn="ctr">
              <a:buNone/>
            </a:pPr>
            <a:r>
              <a:rPr lang="en-US" sz="29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Retrieval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303520" y="3108960"/>
            <a:ext cx="1600200" cy="0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6634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PhD Thesis Defense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3858768"/>
            <a:ext cx="25603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Zhuoning Guo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337560" y="4343400"/>
            <a:ext cx="54864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Thrust of Artificial Intelligence, HKUST(GZ)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Advisors: Prof. Xiaowen Chu  &amp;  Prof. Renjing Xu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July 29,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618488" y="1600200"/>
            <a:ext cx="0" cy="82296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01368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 &amp; Motivation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01368" y="1938528"/>
            <a:ext cx="40233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pipeline, benchmark–production gap, thesis framework.</a:t>
            </a:r>
            <a:endParaRPr lang="en-US" sz="830" dirty="0"/>
          </a:p>
        </p:txBody>
      </p:sp>
      <p:sp>
        <p:nvSpPr>
          <p:cNvPr id="11" name="Text 9"/>
          <p:cNvSpPr/>
          <p:nvPr/>
        </p:nvSpPr>
        <p:spPr>
          <a:xfrm>
            <a:off x="960120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18488" y="2834640"/>
            <a:ext cx="0" cy="82296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01368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Scaling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01368" y="3172968"/>
            <a:ext cx="40233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GVE: capability diagnosis, synthetic curriculum, general video embedding.</a:t>
            </a:r>
            <a:endParaRPr lang="en-US" sz="830" dirty="0"/>
          </a:p>
        </p:txBody>
      </p:sp>
      <p:sp>
        <p:nvSpPr>
          <p:cNvPr id="15" name="Text 13"/>
          <p:cNvSpPr/>
          <p:nvPr/>
        </p:nvSpPr>
        <p:spPr>
          <a:xfrm>
            <a:off x="960120" y="4023360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618488" y="4069080"/>
            <a:ext cx="0" cy="82296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01368" y="402336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Observational Scaling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801368" y="4407408"/>
            <a:ext cx="40233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MG-LVR + VEterfall: granularity, sampling density, efficient inference.</a:t>
            </a:r>
            <a:endParaRPr lang="en-US" sz="830" dirty="0"/>
          </a:p>
        </p:txBody>
      </p:sp>
      <p:sp>
        <p:nvSpPr>
          <p:cNvPr id="19" name="Text 17"/>
          <p:cNvSpPr/>
          <p:nvPr/>
        </p:nvSpPr>
        <p:spPr>
          <a:xfrm>
            <a:off x="6492240" y="1554480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150608" y="1600200"/>
            <a:ext cx="0" cy="82296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33488" y="155448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Scaling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33488" y="1938528"/>
            <a:ext cx="40233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GMP-GR: metric, graph traversal and production-scale ANNS.</a:t>
            </a:r>
            <a:endParaRPr lang="en-US" sz="830" dirty="0"/>
          </a:p>
        </p:txBody>
      </p:sp>
      <p:sp>
        <p:nvSpPr>
          <p:cNvPr id="23" name="Text 21"/>
          <p:cNvSpPr/>
          <p:nvPr/>
        </p:nvSpPr>
        <p:spPr>
          <a:xfrm>
            <a:off x="6492240" y="2788920"/>
            <a:ext cx="502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150608" y="2834640"/>
            <a:ext cx="0" cy="82296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33488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 &amp; Outlook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333488" y="3172968"/>
            <a:ext cx="40233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Cross-study insights, limitations, future directions and conclusion.</a:t>
            </a:r>
            <a:endParaRPr lang="en-US" sz="8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Video Retrieval: the Big Picture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112471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Given a query, find semantically relevant videos from a massive collection — instantly.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645920"/>
            <a:ext cx="196047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459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783080"/>
            <a:ext cx="164043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78408" y="2148840"/>
            <a:ext cx="163129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· image · composed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847442" y="2171700"/>
            <a:ext cx="18288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938882" y="1645920"/>
            <a:ext cx="196047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38882" y="16459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3474" y="1783080"/>
            <a:ext cx="164043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140050" y="2148840"/>
            <a:ext cx="163129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 query and video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009083" y="2171700"/>
            <a:ext cx="18288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00523" y="1645920"/>
            <a:ext cx="196047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100523" y="16459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65115" y="1783080"/>
            <a:ext cx="164043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301691" y="2148840"/>
            <a:ext cx="163129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Billion-scale ANNS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170725" y="2171700"/>
            <a:ext cx="18288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262165" y="1645920"/>
            <a:ext cx="196047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62165" y="16459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6757" y="1783080"/>
            <a:ext cx="164043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463333" y="2148840"/>
            <a:ext cx="163129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DNN relevance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332366" y="2171700"/>
            <a:ext cx="18288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423806" y="1645920"/>
            <a:ext cx="1960474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23806" y="16459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88398" y="1783080"/>
            <a:ext cx="1640434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Display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624974" y="2148840"/>
            <a:ext cx="163129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feed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68680" y="329184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3392424"/>
            <a:ext cx="1965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500 hrs/min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960120" y="376732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YouTube upload scale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3337560" y="329184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29000" y="3392424"/>
            <a:ext cx="1965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1B+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3429000" y="376732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active users</a:t>
            </a:r>
            <a:endParaRPr lang="en-US" sz="780" dirty="0"/>
          </a:p>
        </p:txBody>
      </p:sp>
      <p:sp>
        <p:nvSpPr>
          <p:cNvPr id="38" name="Shape 36"/>
          <p:cNvSpPr/>
          <p:nvPr/>
        </p:nvSpPr>
        <p:spPr>
          <a:xfrm>
            <a:off x="5806440" y="329184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3392424"/>
            <a:ext cx="1965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100M+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897880" y="376732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daily-scale traffic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8275320" y="329184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66760" y="3392424"/>
            <a:ext cx="1965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stages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8366760" y="376732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covered in this thesis</a:t>
            </a:r>
            <a:endParaRPr lang="en-US" sz="780" dirty="0"/>
          </a:p>
        </p:txBody>
      </p:sp>
      <p:sp>
        <p:nvSpPr>
          <p:cNvPr id="44" name="Shape 42"/>
          <p:cNvSpPr/>
          <p:nvPr/>
        </p:nvSpPr>
        <p:spPr>
          <a:xfrm>
            <a:off x="1005840" y="4754880"/>
            <a:ext cx="10149840" cy="868680"/>
          </a:xfrm>
          <a:prstGeom prst="roundRect">
            <a:avLst>
              <a:gd name="adj" fmla="val 9474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05840" y="4754880"/>
            <a:ext cx="73152" cy="868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70432" y="4892040"/>
            <a:ext cx="9829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Question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1207008" y="5257800"/>
            <a:ext cx="9820656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video retrieval generalize beyond controlled benchmarks to real-world scale?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Benchmark–Production Gap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112471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Academic protocols stress isolated capabilities; real systems compound all constraints.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508760"/>
            <a:ext cx="324612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508760"/>
            <a:ext cx="73152" cy="2011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World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05840" y="2011680"/>
            <a:ext cx="2862072" cy="1444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Short clips (10–30s)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Single query type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1K–10K candidates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Single capability</a:t>
            </a:r>
            <a:endParaRPr lang="en-US" sz="740" dirty="0"/>
          </a:p>
        </p:txBody>
      </p:sp>
      <p:sp>
        <p:nvSpPr>
          <p:cNvPr id="12" name="Shape 10"/>
          <p:cNvSpPr/>
          <p:nvPr/>
        </p:nvSpPr>
        <p:spPr>
          <a:xfrm>
            <a:off x="4480560" y="1508760"/>
            <a:ext cx="3246120" cy="2011680"/>
          </a:xfrm>
          <a:prstGeom prst="roundRect">
            <a:avLst>
              <a:gd name="adj" fmla="val 4091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1508760"/>
            <a:ext cx="73152" cy="2011680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5152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Reality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709160" y="2011680"/>
            <a:ext cx="2862072" cy="1444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Minutes-to-hours videos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 / image / composed queries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Billion-scale corpus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Sub-ms to few-ms budget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8183880" y="1508760"/>
            <a:ext cx="3246120" cy="2011680"/>
          </a:xfrm>
          <a:prstGeom prst="roundRect">
            <a:avLst>
              <a:gd name="adj" fmla="val 4091"/>
            </a:avLst>
          </a:prstGeom>
          <a:solidFill>
            <a:srgbClr val="FFF7F6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1508760"/>
            <a:ext cx="73152" cy="2011680"/>
          </a:xfrm>
          <a:prstGeom prst="rect">
            <a:avLst/>
          </a:prstGeom>
          <a:solidFill>
            <a:srgbClr val="A53A38"/>
          </a:solidFill>
          <a:ln w="12700">
            <a:solidFill>
              <a:srgbClr val="A53A3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48472" y="164592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Structural Gap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412480" y="2011680"/>
            <a:ext cx="2862072" cy="1444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Heterogeneous queries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Multi-granular evidence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Efficient observation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Scalable retrieval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4096512" y="2514600"/>
            <a:ext cx="27432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799832" y="2514600"/>
            <a:ext cx="27432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51560" y="4251960"/>
            <a:ext cx="10012680" cy="1051560"/>
          </a:xfrm>
          <a:prstGeom prst="roundRect">
            <a:avLst>
              <a:gd name="adj" fmla="val 7826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51560" y="425196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16152" y="4389120"/>
            <a:ext cx="9692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 Position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52728" y="4754880"/>
            <a:ext cx="968349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gap is structural rather than incremental: increasing data, parameters, frames or metric AUC alone exposes new bottlenecks downstream.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Sequential Scaling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112471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Representation → observation → deployment; each stage has its own bottleneck.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2880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Scaling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2542032"/>
            <a:ext cx="21945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capabilities must the model possess?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078992" y="3246120"/>
            <a:ext cx="22402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GVE · UVRB · UVRD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343400" y="182880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Observational Scaling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542032"/>
            <a:ext cx="21945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long videos be observed efficiently?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99432" y="3246120"/>
            <a:ext cx="22402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MG-LVR · VEterfall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863840" y="1828800"/>
            <a:ext cx="2743200" cy="1920240"/>
          </a:xfrm>
          <a:prstGeom prst="roundRect">
            <a:avLst>
              <a:gd name="adj" fmla="val 3810"/>
            </a:avLst>
          </a:prstGeom>
          <a:solidFill>
            <a:srgbClr val="F6F7F8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0" y="2011680"/>
            <a:ext cx="23774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Scaling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38160" y="2542032"/>
            <a:ext cx="219456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A3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embeddings be searched at web scale?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119872" y="3246120"/>
            <a:ext cx="224028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9A2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GMP-GR · MUIRML · HiPANNS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66160" y="2743200"/>
            <a:ext cx="59436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086600" y="2743200"/>
            <a:ext cx="59436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572000" y="4160520"/>
            <a:ext cx="0" cy="731520"/>
          </a:xfrm>
          <a:prstGeom prst="line">
            <a:avLst/>
          </a:prstGeom>
          <a:noFill/>
          <a:ln w="10160">
            <a:solidFill>
              <a:srgbClr val="5B6470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1554480" y="4572000"/>
            <a:ext cx="28346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constraints shape observation budget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675120" y="4160520"/>
            <a:ext cx="0" cy="731520"/>
          </a:xfrm>
          <a:prstGeom prst="line">
            <a:avLst/>
          </a:prstGeom>
          <a:noFill/>
          <a:ln w="10160">
            <a:solidFill>
              <a:srgbClr val="5B6470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4800600" y="4864608"/>
            <a:ext cx="2926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evidence bounds representation quality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Background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Existing Approaches Fall Short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87168" y="1124712"/>
            <a:ext cx="6217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5B6470"/>
                </a:solidFill>
              </a:rPr>
              <a:t>Each stage fails for a different structural reason.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77240" y="1417320"/>
            <a:ext cx="33375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1832" y="1554480"/>
            <a:ext cx="3017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Scaling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78408" y="1920240"/>
            <a:ext cx="3008376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Fragmented benchmarks and misleading model rankings: capability breadth does not follow parameter count monotonically.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4434840" y="1417320"/>
            <a:ext cx="33375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1554480"/>
            <a:ext cx="3017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Observational Scaling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36008" y="1920240"/>
            <a:ext cx="3008376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Short-clip protocols hide the interaction between frame sampling, spatial resolution and query granularity.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092440" y="1417320"/>
            <a:ext cx="333756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92440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57032" y="1554480"/>
            <a:ext cx="3017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Scaling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93608" y="1920240"/>
            <a:ext cx="3008376" cy="2514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metrics violate metric assumptions needed by graph ANNS, degrading traversal under tight latency budgets.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914400" y="5166360"/>
            <a:ext cx="10241280" cy="685800"/>
          </a:xfrm>
          <a:prstGeom prst="roundRect">
            <a:avLst>
              <a:gd name="adj" fmla="val 12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4400" y="516636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78992" y="5303520"/>
            <a:ext cx="9921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Observation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5669280"/>
            <a:ext cx="991209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remedy is structure-aware scaling: design the data, observation strategy and search space around the bottleneck actually exposed at each stage.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Contributions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Contributions at a Glance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23444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234440"/>
            <a:ext cx="73152" cy="4297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 · GVE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" y="1737360"/>
            <a:ext cx="3227832" cy="3730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UVRB: 14 models × 16 datasets × 3 task types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V-SynFlow → UVRD: 1.55M targeted training pairs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GVE-7B: SOTA zero-shot, +6.5 pp over Unite-7B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4370832" y="123444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0832" y="1234440"/>
            <a:ext cx="73152" cy="4297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35424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99432" y="1737360"/>
            <a:ext cx="3227832" cy="3730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MG-LVR: 12K videos, 400K clips, 9,971 queries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Scaling laws reveal frame-count anchoring and S-T trade-off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VEterfall: +20% fine-grained R@1 at 4–16× token efficiency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8083296" y="1234440"/>
            <a:ext cx="3611880" cy="4297680"/>
          </a:xfrm>
          <a:prstGeom prst="roundRect">
            <a:avLst>
              <a:gd name="adj" fmla="val 2278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83296" y="1234440"/>
            <a:ext cx="73152" cy="4297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47888" y="1371600"/>
            <a:ext cx="3291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 · GMP-GR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11896" y="1737360"/>
            <a:ext cx="3227832" cy="37307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MUIRML: metric regularization for graph compatibility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HiPANNS: hierarchical parallel ANNS on GPU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Deployed at Baidu: 20+ apps, 100M+ users/day</a:t>
            </a:r>
            <a:endParaRPr lang="en-US" sz="7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Related Work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Related Work: Two Model Families &amp; Open Problems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80160"/>
            <a:ext cx="3246120" cy="3337560"/>
          </a:xfrm>
          <a:prstGeom prst="roundRect">
            <a:avLst>
              <a:gd name="adj" fmla="val 2535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80160"/>
            <a:ext cx="73152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Embedding Models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14400" y="1783080"/>
            <a:ext cx="2862072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CLIP-based: fast dual encoders, strong standard retrieval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MLLM-based: unified multimodal representations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gap: fair comparison across task types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4434840" y="1280160"/>
            <a:ext cx="3246120" cy="3337560"/>
          </a:xfrm>
          <a:prstGeom prst="roundRect">
            <a:avLst>
              <a:gd name="adj" fmla="val 2535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280160"/>
            <a:ext cx="73152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1783080"/>
            <a:ext cx="2862072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MSR-VTT, DiDeMo, LoVR, CoVR: each covers one dimension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benchmark combines long video with multi-granular queries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gap: controlled protocols miss production bottlenecks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8183880" y="1280160"/>
            <a:ext cx="3246120" cy="3337560"/>
          </a:xfrm>
          <a:prstGeom prst="roundRect">
            <a:avLst>
              <a:gd name="adj" fmla="val 2535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83880" y="1280160"/>
            <a:ext cx="73152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48472" y="141732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Large-Scale Search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0" y="1783080"/>
            <a:ext cx="2862072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HNSW graph index dominates practical ANNS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Neural ranking metrics break triangle inequality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Open gap: no metric–graph–hardware co-design</a:t>
            </a:r>
            <a:endParaRPr lang="en-US" sz="7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25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530352" y="2212848"/>
            <a:ext cx="96012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Semantic Scaling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1E2"/>
                </a:solidFill>
              </a:rPr>
              <a:t>General Video Embedder (GVE)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921240" y="45720"/>
            <a:ext cx="1143000" cy="1143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Scaling: the core 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6949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capabilities must a video retrieval model possess to generalize?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301752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3017520"/>
            <a:ext cx="73152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3154680"/>
            <a:ext cx="6446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Diagnosis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58768" y="3520440"/>
            <a:ext cx="643737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UVRB evaluates 14 models on 16 datasets and 8 ability dimensions.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0" y="388620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3886200"/>
            <a:ext cx="73152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4023360"/>
            <a:ext cx="6446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58768" y="4389120"/>
            <a:ext cx="643737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V-SynFlow converts diagnosed gaps into targeted training data.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475488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4754880"/>
            <a:ext cx="73152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4892040"/>
            <a:ext cx="6446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58768" y="5257800"/>
            <a:ext cx="643737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GVE achieves SOTA zero-shot performance across textual, visual and composed retrieval.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UVRB: A Unified Benchmark to Diagnose Video Retrieval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10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44941"/>
            <a:ext cx="6492240" cy="144243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52360" y="1417320"/>
            <a:ext cx="3977640" cy="1051560"/>
          </a:xfrm>
          <a:prstGeom prst="roundRect">
            <a:avLst>
              <a:gd name="adj" fmla="val 7826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52360" y="14173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16952" y="1554480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Task Families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680960" y="1920240"/>
            <a:ext cx="3593592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Textual retrieval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Visual I2V / V2V retrieval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Composed multimodal retrieval</a:t>
            </a:r>
            <a:endParaRPr lang="en-US" sz="740" dirty="0"/>
          </a:p>
        </p:txBody>
      </p:sp>
      <p:sp>
        <p:nvSpPr>
          <p:cNvPr id="12" name="Shape 9"/>
          <p:cNvSpPr/>
          <p:nvPr/>
        </p:nvSpPr>
        <p:spPr>
          <a:xfrm>
            <a:off x="7452360" y="2788920"/>
            <a:ext cx="3977640" cy="1051560"/>
          </a:xfrm>
          <a:prstGeom prst="roundRect">
            <a:avLst>
              <a:gd name="adj" fmla="val 7826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52360" y="27889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616952" y="2926080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Ability Coverage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680960" y="3291840"/>
            <a:ext cx="3593592" cy="484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Fine / coarse granularity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Temporal / spatial reasoning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Partially relevant matching</a:t>
            </a:r>
            <a:endParaRPr lang="en-US" sz="740" dirty="0"/>
          </a:p>
        </p:txBody>
      </p:sp>
      <p:sp>
        <p:nvSpPr>
          <p:cNvPr id="16" name="Shape 13"/>
          <p:cNvSpPr/>
          <p:nvPr/>
        </p:nvSpPr>
        <p:spPr>
          <a:xfrm>
            <a:off x="7452360" y="4160520"/>
            <a:ext cx="3977640" cy="1051560"/>
          </a:xfrm>
          <a:prstGeom prst="roundRect">
            <a:avLst>
              <a:gd name="adj" fmla="val 7826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452360" y="41605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16952" y="4297680"/>
            <a:ext cx="3657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Unified?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653528" y="4663440"/>
            <a:ext cx="364845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Identical evaluation conditions remove dataset-specific preprocessing artifacts and expose transferable capability gaps.</a:t>
            </a:r>
            <a:endParaRPr lang="en-US" sz="9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UVRB Results: GVE-7B Leads Across Datasets and Abilities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11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46402"/>
            <a:ext cx="7406640" cy="373095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21040" y="1554480"/>
            <a:ext cx="2971800" cy="1143000"/>
          </a:xfrm>
          <a:prstGeom prst="roundRect">
            <a:avLst>
              <a:gd name="adj" fmla="val 72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0" y="155448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85632" y="1691640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 Radar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22208" y="2057400"/>
            <a:ext cx="264261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across 16 individual datasets; GVE-7B occupies the largest area.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8321040" y="2971800"/>
            <a:ext cx="2971800" cy="1143000"/>
          </a:xfrm>
          <a:prstGeom prst="roundRect">
            <a:avLst>
              <a:gd name="adj" fmla="val 72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21040" y="297180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85632" y="3108960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Right Radar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22208" y="3474720"/>
            <a:ext cx="264261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across 8 ability dimensions; temporal and fine-grained axes remain difficult.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321040" y="4389120"/>
            <a:ext cx="2971800" cy="1051560"/>
          </a:xfrm>
          <a:prstGeom prst="roundRect">
            <a:avLst>
              <a:gd name="adj" fmla="val 7826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43891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85632" y="4526280"/>
            <a:ext cx="2651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522208" y="4892040"/>
            <a:ext cx="264261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remaining gaps motivate capability-targeted synthetic data rather than uniform data scaling.</a:t>
            </a:r>
            <a:endParaRPr lang="en-US" sz="9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 1: Partially-Relevant Retrieval Predicts Universality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12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50611"/>
            <a:ext cx="6492240" cy="158537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43800" y="150876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609344"/>
            <a:ext cx="28346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ρ ≈ 0.94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35240" y="1984248"/>
            <a:ext cx="2834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highest correlation with overall average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7543800" y="2788920"/>
            <a:ext cx="3337560" cy="123444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43800" y="278892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08392" y="2926080"/>
            <a:ext cx="3017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44968" y="3291840"/>
            <a:ext cx="300837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retrieval measures whether a model can match partial evidence without relying on exact one-to-one captions.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7543800" y="4343400"/>
            <a:ext cx="3337560" cy="1051560"/>
          </a:xfrm>
          <a:prstGeom prst="roundRect">
            <a:avLst>
              <a:gd name="adj" fmla="val 7826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543800" y="434340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08392" y="4480560"/>
            <a:ext cx="3017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Use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7744968" y="4846320"/>
            <a:ext cx="300837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can serve as a lightweight diagnostic proxy for video retrieval universality.</a:t>
            </a:r>
            <a:endParaRPr lang="en-US" sz="93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 2 &amp; 3: S–T Decoupling and the Scaling Paradox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13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71373"/>
            <a:ext cx="6858000" cy="19895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50876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26680" y="150876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91272" y="1645920"/>
            <a:ext cx="3108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2 · S–T Decoupling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927848" y="2011680"/>
            <a:ext cx="309981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 and temporal abilities show weak correlation (ρ &lt; 0.15), requiring targeted data instead of generic scaling.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726680" y="3063240"/>
            <a:ext cx="3429000" cy="123444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726680" y="306324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891272" y="3200400"/>
            <a:ext cx="3108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Finding 3 · Scaling Paradox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927848" y="3566160"/>
            <a:ext cx="309981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small CLIP model can outperform 8B MLLM models on visual-only queries, showing capacity is not perceptual breadth.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726680" y="4617720"/>
            <a:ext cx="3429000" cy="822960"/>
          </a:xfrm>
          <a:prstGeom prst="roundRect">
            <a:avLst>
              <a:gd name="adj" fmla="val 10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726680" y="4617720"/>
            <a:ext cx="73152" cy="822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891272" y="4754880"/>
            <a:ext cx="3108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Consequence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927848" y="5120640"/>
            <a:ext cx="309981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GVE must be modality-aware and capability-guided.</a:t>
            </a:r>
            <a:endParaRPr lang="en-US" sz="9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V-SynFlow: Capability-Guided Data Synthesis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14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729895"/>
            <a:ext cx="6766560" cy="158109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80960" y="1508760"/>
            <a:ext cx="993648" cy="3429000"/>
          </a:xfrm>
          <a:prstGeom prst="roundRect">
            <a:avLst>
              <a:gd name="adj" fmla="val 8282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80960" y="1508760"/>
            <a:ext cx="73152" cy="3429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45552" y="1645920"/>
            <a:ext cx="673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Control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882128" y="2011680"/>
            <a:ext cx="664464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filtering, video–text alignment, key-frame extraction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784336" y="3223260"/>
            <a:ext cx="18288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875776" y="1508760"/>
            <a:ext cx="993648" cy="3429000"/>
          </a:xfrm>
          <a:prstGeom prst="roundRect">
            <a:avLst>
              <a:gd name="adj" fmla="val 8282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75776" y="1508760"/>
            <a:ext cx="73152" cy="3429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40368" y="1645920"/>
            <a:ext cx="673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Information Enrichment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9076944" y="2011680"/>
            <a:ext cx="664464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Multimodal captioning with spatial-temporal constraints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9979152" y="3223260"/>
            <a:ext cx="18288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10070592" y="1508760"/>
            <a:ext cx="993648" cy="3429000"/>
          </a:xfrm>
          <a:prstGeom prst="roundRect">
            <a:avLst>
              <a:gd name="adj" fmla="val 8282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070592" y="1508760"/>
            <a:ext cx="73152" cy="3429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235184" y="1645920"/>
            <a:ext cx="673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 Extension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271760" y="2011680"/>
            <a:ext cx="664464" cy="2834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T2V, TI2V, VT2V and T2I-style retrieval pairs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680960" y="5166360"/>
            <a:ext cx="338328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680960" y="516636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845552" y="5303520"/>
            <a:ext cx="30632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882128" y="5669280"/>
            <a:ext cx="305409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is synthesized according to diagnosed gaps, not raw collection size.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UVRD: Targeted Data Rather than Naive Scale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4173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17904"/>
            <a:ext cx="1737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1.55M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1892808"/>
            <a:ext cx="1737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pairs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971800" y="14173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517904"/>
            <a:ext cx="1737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95%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63240" y="1892808"/>
            <a:ext cx="1737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human-verified quality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5120640" y="14173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0" y="1517904"/>
            <a:ext cx="1737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1892808"/>
            <a:ext cx="1737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temporal-focused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7269480" y="14173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60920" y="1517904"/>
            <a:ext cx="1737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60920" y="1892808"/>
            <a:ext cx="1737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spatial-focused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9418320" y="1417320"/>
            <a:ext cx="19202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0" y="1517904"/>
            <a:ext cx="1737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509760" y="1892808"/>
            <a:ext cx="1737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/ abstract</a:t>
            </a:r>
            <a:endParaRPr lang="en-US" sz="78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88720" y="2926080"/>
          <a:ext cx="9784080" cy="12344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Dataset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Pairs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Task Types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Quality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Capability Skew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WebVid-2M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2.5M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T2V only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HD-VILA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0.7M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T2V only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UVRD (ours)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1.55M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 retrieval types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 (95%)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1188720" y="4800600"/>
            <a:ext cx="9784080" cy="822960"/>
          </a:xfrm>
          <a:prstGeom prst="roundRect">
            <a:avLst>
              <a:gd name="adj" fmla="val 10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188720" y="4800600"/>
            <a:ext cx="73152" cy="822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353312" y="4937760"/>
            <a:ext cx="9464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1389888" y="5303520"/>
            <a:ext cx="945489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2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UVRD is not the largest dataset; it is the most capability-targeted dataset, aligned with the UVRB gap profile.</a:t>
            </a:r>
            <a:endParaRPr lang="en-US" sz="10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GVE Architecture: Unified Multi-Modal Encoder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16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474164"/>
            <a:ext cx="6675120" cy="218399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46304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240" y="146304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9832" y="1600200"/>
            <a:ext cx="3154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36408" y="1965960"/>
            <a:ext cx="31455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Qwen2.5-VL backbone with a frozen tokenizer and trained vision encoder.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635240" y="278892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5240" y="278892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9832" y="2926080"/>
            <a:ext cx="3154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36408" y="3291840"/>
            <a:ext cx="31455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+ text, image, and video frames are handled in a single unified encoder.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635240" y="4114800"/>
            <a:ext cx="3474720" cy="1051560"/>
          </a:xfrm>
          <a:prstGeom prst="roundRect">
            <a:avLst>
              <a:gd name="adj" fmla="val 7826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35240" y="4114800"/>
            <a:ext cx="73152" cy="1051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99832" y="4251960"/>
            <a:ext cx="3154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36408" y="4617720"/>
            <a:ext cx="31455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EOS token embedding serves as the retrieval vector for all query/video types.</a:t>
            </a:r>
            <a:endParaRPr lang="en-US" sz="9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Modality Pyramid: From Grounding to Video Retrieval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17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387" y="1325880"/>
            <a:ext cx="5007306" cy="43891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995160" y="1325880"/>
            <a:ext cx="4069080" cy="914400"/>
          </a:xfrm>
          <a:prstGeom prst="roundRect">
            <a:avLst>
              <a:gd name="adj" fmla="val 90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995160" y="1325880"/>
            <a:ext cx="73152" cy="914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59752" y="1463040"/>
            <a:ext cx="3749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1 · Base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196328" y="1828800"/>
            <a:ext cx="373989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Text–text and text–image alignment provide broad cross-modal grounding.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6995160" y="2423160"/>
            <a:ext cx="4069080" cy="914400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95160" y="2423160"/>
            <a:ext cx="73152" cy="914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59752" y="2560320"/>
            <a:ext cx="3749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2 · Composition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196328" y="2926080"/>
            <a:ext cx="373989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 composition tasks teach multi-input visual reasoning.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6995160" y="3520440"/>
            <a:ext cx="4069080" cy="914400"/>
          </a:xfrm>
          <a:prstGeom prst="roundRect">
            <a:avLst>
              <a:gd name="adj" fmla="val 90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995160" y="3520440"/>
            <a:ext cx="73152" cy="914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59752" y="3657600"/>
            <a:ext cx="3749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3 · Video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196328" y="4023360"/>
            <a:ext cx="373989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T2V, I2V and V2V introduce temporal dynamics and video modality.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995160" y="4617720"/>
            <a:ext cx="4069080" cy="914400"/>
          </a:xfrm>
          <a:prstGeom prst="roundRect">
            <a:avLst>
              <a:gd name="adj" fmla="val 9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995160" y="4617720"/>
            <a:ext cx="73152" cy="914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59752" y="4754880"/>
            <a:ext cx="3749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4 · Domain-Specific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7196328" y="5120640"/>
            <a:ext cx="3739896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TI2V and TV2V cover complex composed video retrieval.</a:t>
            </a:r>
            <a:endParaRPr lang="en-US" sz="93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GVE Scaling Law: Log-Linear Growth with Targeted Data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18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4631"/>
            <a:ext cx="7315200" cy="363161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321040" y="1554480"/>
            <a:ext cx="2880360" cy="1143000"/>
          </a:xfrm>
          <a:prstGeom prst="roundRect">
            <a:avLst>
              <a:gd name="adj" fmla="val 72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321040" y="155448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85632" y="1691640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522208" y="2057400"/>
            <a:ext cx="255117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Average R@1 across 16 datasets improves steadily as training pairs increase.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8321040" y="2971800"/>
            <a:ext cx="2880360" cy="1143000"/>
          </a:xfrm>
          <a:prstGeom prst="roundRect">
            <a:avLst>
              <a:gd name="adj" fmla="val 72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21040" y="297180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85632" y="3108960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Abilities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522208" y="3474720"/>
            <a:ext cx="255117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Both GVE-3B and GVE-7B scale across ability dimensions without saturation at 10M pairs.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321040" y="4389120"/>
            <a:ext cx="2880360" cy="1005840"/>
          </a:xfrm>
          <a:prstGeom prst="roundRect">
            <a:avLst>
              <a:gd name="adj" fmla="val 8182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21040" y="4389120"/>
            <a:ext cx="73152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85632" y="4526280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522208" y="4892040"/>
            <a:ext cx="25511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capability-targeted data is likely to continue improving retrieval generalization.</a:t>
            </a:r>
            <a:endParaRPr lang="en-US" sz="93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GVE Results: SOTA Zero-Shot Performance Across Dimensions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325880"/>
          <a:ext cx="7818120" cy="28346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Params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TXT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CMP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CLIP4Clip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87M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0.441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0.497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0.384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0.162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0.438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0.321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0.702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InternVideo2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6B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0.562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0.371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0.198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0.479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0.381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Unite-7B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7B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0.559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0.401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0.254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0.539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0.412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0.746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GME-7B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7B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0.562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0.415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0.341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0.373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0.788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GVE-3B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3.8B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0.619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0.422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0.304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0.541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0.430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0.764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7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GVE-7B ★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7.8B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A53A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0.657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0.451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0.312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0.469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0.814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823960" y="146304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915400" y="1563624"/>
            <a:ext cx="21488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+6.5 pp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915400" y="1938528"/>
            <a:ext cx="2148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 Unite-7B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823960" y="251460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15400" y="2615184"/>
            <a:ext cx="21488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3.8B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915400" y="2990088"/>
            <a:ext cx="2148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GVE-3B beats 7B+ baseline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8823960" y="3566160"/>
            <a:ext cx="23317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15400" y="3666744"/>
            <a:ext cx="21488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915400" y="4041648"/>
            <a:ext cx="21488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ability dimensions led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822960" y="4800600"/>
            <a:ext cx="10332720" cy="685800"/>
          </a:xfrm>
          <a:prstGeom prst="roundRect">
            <a:avLst>
              <a:gd name="adj" fmla="val 12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80060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4937760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200" dirty="0"/>
          </a:p>
        </p:txBody>
      </p:sp>
      <p:sp>
        <p:nvSpPr>
          <p:cNvPr id="7" name="Text 17"/>
          <p:cNvSpPr/>
          <p:nvPr/>
        </p:nvSpPr>
        <p:spPr>
          <a:xfrm>
            <a:off x="1024128" y="5303520"/>
            <a:ext cx="1000353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Capability-targeted data and curriculum explain the gain more convincingly than raw parameter count.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Data Composition and Curriculum Both Matter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6766560" cy="23317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Setting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TXT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CMP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ΔAVG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UVRD, no Pyramid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0.541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0.592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0.231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0.521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0.398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 UVRD data only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0.564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0.614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0.292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0.548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0.426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+2.3%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 Modality Pyramid only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0.258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0.551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0.441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+3.0%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7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GVE-7B ★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0.657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0.312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0.469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+5.9%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001000" y="1435608"/>
            <a:ext cx="29260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ΔAVG contribution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109373" y="3200400"/>
            <a:ext cx="390144" cy="0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001000" y="3255264"/>
            <a:ext cx="6502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8840893" y="2612239"/>
            <a:ext cx="390144" cy="588161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732520" y="3255264"/>
            <a:ext cx="6502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9572413" y="2433234"/>
            <a:ext cx="390144" cy="767166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464040" y="3255264"/>
            <a:ext cx="6502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pyramid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10303933" y="1691640"/>
            <a:ext cx="390144" cy="15087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195560" y="3255264"/>
            <a:ext cx="6502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8001000" y="3200400"/>
            <a:ext cx="292608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425196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425196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33272" y="438912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Contribution</a:t>
            </a:r>
            <a:endParaRPr lang="en-US" sz="1150" dirty="0"/>
          </a:p>
        </p:txBody>
      </p:sp>
      <p:sp>
        <p:nvSpPr>
          <p:cNvPr id="7" name="Text 18"/>
          <p:cNvSpPr/>
          <p:nvPr/>
        </p:nvSpPr>
        <p:spPr>
          <a:xfrm>
            <a:off x="1069848" y="4754880"/>
            <a:ext cx="29169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UVRD improves average performance and especially composed retrieval by targeting uncovered task types.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4434840" y="425196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34840" y="425196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99432" y="438912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Curriculum Contribution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636008" y="4754880"/>
            <a:ext cx="29169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pyramid prevents gradient submergence and progressively introduces video-specific tasks.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8001000" y="4251960"/>
            <a:ext cx="3246120" cy="1143000"/>
          </a:xfrm>
          <a:prstGeom prst="roundRect">
            <a:avLst>
              <a:gd name="adj" fmla="val 72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01000" y="425196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165592" y="438912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Effect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202168" y="4754880"/>
            <a:ext cx="291693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full model shows additive gains, indicating complementary mechanisms.</a:t>
            </a:r>
            <a:endParaRPr lang="en-US" sz="93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25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530352" y="2212848"/>
            <a:ext cx="96012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Observational Scaling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1E2"/>
                </a:solidFill>
              </a:rPr>
              <a:t>MG-LVR Benchmark &amp; VEterfall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921240" y="45720"/>
            <a:ext cx="1143000" cy="1143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Observational Scaling: the core 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6949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does visual observation density interact with query granularity?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301752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3017520"/>
            <a:ext cx="73152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3154680"/>
            <a:ext cx="6446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58768" y="3520440"/>
            <a:ext cx="643737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MG-LVR evaluates long videos with fine, medium and coarse queries.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0" y="388620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3886200"/>
            <a:ext cx="73152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4023360"/>
            <a:ext cx="6446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Scaling Laws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58768" y="4389120"/>
            <a:ext cx="643737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count, spatial density and token budget reveal different optima.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475488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4754880"/>
            <a:ext cx="73152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4892040"/>
            <a:ext cx="6446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Method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58768" y="5257800"/>
            <a:ext cx="643737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VEterfall transfers dense knowledge to sparse inference by self-distillation.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MG-LVR: Multi-Granular Long-Video Retrieval Benchmark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22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31620"/>
            <a:ext cx="6629400" cy="3977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43800" y="141732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635240" y="1517904"/>
            <a:ext cx="3108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12K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35240" y="1892808"/>
            <a:ext cx="3108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videos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7543800" y="246888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2569464"/>
            <a:ext cx="3108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635240" y="2944368"/>
            <a:ext cx="3108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clips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7543800" y="3520440"/>
            <a:ext cx="3291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635240" y="3621024"/>
            <a:ext cx="3108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9,971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635240" y="3995928"/>
            <a:ext cx="3108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queries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7543800" y="4663440"/>
            <a:ext cx="3291840" cy="822960"/>
          </a:xfrm>
          <a:prstGeom prst="roundRect">
            <a:avLst>
              <a:gd name="adj" fmla="val 10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43800" y="4663440"/>
            <a:ext cx="73152" cy="822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08392" y="480060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Novelty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744968" y="5166360"/>
            <a:ext cx="296265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video and multi-granular queries are evaluated jointly, which prior benchmarks do not cover.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MG-LVR Construction and Query Granularity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23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314330"/>
            <a:ext cx="6675120" cy="25036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417320"/>
            <a:ext cx="3429000" cy="1005840"/>
          </a:xfrm>
          <a:prstGeom prst="roundRect">
            <a:avLst>
              <a:gd name="adj" fmla="val 8182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635240" y="1417320"/>
            <a:ext cx="73152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99832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Sparse-to-Dense Construction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836408" y="1920240"/>
            <a:ext cx="309981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videos are decomposed into clips and caption-level semantic units at multiple temporal resolutions.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7635240" y="2743200"/>
            <a:ext cx="3429000" cy="1005840"/>
          </a:xfrm>
          <a:prstGeom prst="roundRect">
            <a:avLst>
              <a:gd name="adj" fmla="val 8182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635240" y="2743200"/>
            <a:ext cx="73152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99832" y="2880360"/>
            <a:ext cx="3108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Fine-Grained Query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836408" y="3246120"/>
            <a:ext cx="309981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Requires identifying specific objects, attributes or actions within a particular short interval.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7635240" y="4069080"/>
            <a:ext cx="3429000" cy="1005840"/>
          </a:xfrm>
          <a:prstGeom prst="roundRect">
            <a:avLst>
              <a:gd name="adj" fmla="val 8182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635240" y="4069080"/>
            <a:ext cx="73152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799832" y="4206240"/>
            <a:ext cx="3108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Coarse-Grained Query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7836408" y="4572000"/>
            <a:ext cx="309981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often be answered from video-level topic, title or thumbnail semantics.</a:t>
            </a:r>
            <a:endParaRPr lang="en-US" sz="93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Granularity Gap: Fine-Grained R@1 Lags Far Behind Coarse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6492240" cy="2423160"/>
        </p:xfrm>
        <a:graphic>
          <a:graphicData uri="http://schemas.openxmlformats.org/drawingml/2006/table">
            <a:tbl>
              <a:tblPr/>
              <a:tblGrid>
                <a:gridCol w="2514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Overall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Fine ↓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Coarse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LanguageBind (8F)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0.419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0.200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0.553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0.752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InternVideo2 (8F)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0.431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0.204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0.783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Qwen3-VL-Emb-8B (8F)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0.449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0.210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0.856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GVE-7B (128F)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0.266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0.845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38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7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Qwen3-VL-Emb-8B (128F) ★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0.549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0.287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0.672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0.903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726680" y="146304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818120" y="1563624"/>
            <a:ext cx="28346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0.903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818120" y="1938528"/>
            <a:ext cx="2834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coarse R@1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7726680" y="251460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818120" y="2615184"/>
            <a:ext cx="28346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0.287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818120" y="2990088"/>
            <a:ext cx="2834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fine R@1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7726680" y="3566160"/>
            <a:ext cx="30175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818120" y="3666744"/>
            <a:ext cx="28346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&lt; 8 pp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818120" y="4041648"/>
            <a:ext cx="28346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gain from 8F to 128F on fine queries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914400" y="4800600"/>
            <a:ext cx="10149840" cy="731520"/>
          </a:xfrm>
          <a:prstGeom prst="roundRect">
            <a:avLst>
              <a:gd name="adj" fmla="val 1125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14400" y="4800600"/>
            <a:ext cx="73152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78992" y="4937760"/>
            <a:ext cx="9829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Finding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115568" y="5303520"/>
            <a:ext cx="98206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Simply adding more frames cannot close the granularity gap; sampling strategy must adapt to query granularity.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Scaling Law: MLLMs Improve, CLIP Models Anchor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25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90037"/>
            <a:ext cx="7315200" cy="146080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183880" y="1417320"/>
            <a:ext cx="3063240" cy="1097280"/>
          </a:xfrm>
          <a:prstGeom prst="roundRect">
            <a:avLst>
              <a:gd name="adj" fmla="val 75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183880" y="1417320"/>
            <a:ext cx="73152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48472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MLLM Encoders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385048" y="1920240"/>
            <a:ext cx="273405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Qwen3-VL-Emb-8B and GVE-7B improve continuously from low to high frame counts.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8183880" y="2788920"/>
            <a:ext cx="3063240" cy="109728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83880" y="2788920"/>
            <a:ext cx="73152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48472" y="292608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 Encoders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385048" y="3291840"/>
            <a:ext cx="273405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CLIP-based models plateau near 16–32 frames and can degrade beyond 64 frames.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183880" y="4160520"/>
            <a:ext cx="3063240" cy="1097280"/>
          </a:xfrm>
          <a:prstGeom prst="roundRect">
            <a:avLst>
              <a:gd name="adj" fmla="val 75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183880" y="4160520"/>
            <a:ext cx="73152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48472" y="429768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Frame-Count Anchoring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385048" y="4663440"/>
            <a:ext cx="273405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Fixed-frame training anchors the model to its training density, limiting test-time temporal scaling.</a:t>
            </a:r>
            <a:endParaRPr lang="en-US" sz="93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Scaling: Resolution vs. Token Budget Trade-off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26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429776"/>
            <a:ext cx="7132320" cy="218132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046720" y="1508760"/>
            <a:ext cx="3063240" cy="1234440"/>
          </a:xfrm>
          <a:prstGeom prst="roundRect">
            <a:avLst>
              <a:gd name="adj" fmla="val 6667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046720" y="150876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11312" y="164592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Budget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247888" y="2011680"/>
            <a:ext cx="273405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Higher resolution consumes more tokens per frame, leaving fewer frames under the same total budget.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8046720" y="3017520"/>
            <a:ext cx="3063240" cy="123444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046720" y="3017520"/>
            <a:ext cx="73152" cy="12344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11312" y="315468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Granularity Dependence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247888" y="3520440"/>
            <a:ext cx="2734056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Coarse queries prefer higher resolution; fine queries prefer more temporal coverage.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046720" y="4526280"/>
            <a:ext cx="3063240" cy="731520"/>
          </a:xfrm>
          <a:prstGeom prst="roundRect">
            <a:avLst>
              <a:gd name="adj" fmla="val 1125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46720" y="4526280"/>
            <a:ext cx="73152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11312" y="4663440"/>
            <a:ext cx="27432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Implication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247888" y="5029200"/>
            <a:ext cx="27340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single spatial setting is universally optimal.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Spatial–Temporal Trade-off: Same Tokens, Different Optima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27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2788734"/>
            <a:ext cx="7315200" cy="146341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29600" y="1508760"/>
            <a:ext cx="2880360" cy="1143000"/>
          </a:xfrm>
          <a:prstGeom prst="roundRect">
            <a:avLst>
              <a:gd name="adj" fmla="val 72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0" y="150876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94192" y="1645920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X-axis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30768" y="2011680"/>
            <a:ext cx="255117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Configurations such as 8F–400T, 16F–200T, 32F–100T and 64F–50T under the same token budget.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8229600" y="2926080"/>
            <a:ext cx="2880360" cy="1143000"/>
          </a:xfrm>
          <a:prstGeom prst="roundRect">
            <a:avLst>
              <a:gd name="adj" fmla="val 72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0" y="292608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94192" y="3063240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Pareto Frontiers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430768" y="3429000"/>
            <a:ext cx="255117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Fine-grained retrieval benefits from more frames; coarse retrieval benefits from spatial detail.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229600" y="4343400"/>
            <a:ext cx="2880360" cy="1005840"/>
          </a:xfrm>
          <a:prstGeom prst="roundRect">
            <a:avLst>
              <a:gd name="adj" fmla="val 8182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29600" y="4343400"/>
            <a:ext cx="73152" cy="1005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394192" y="4480560"/>
            <a:ext cx="2560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Lesson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430768" y="4846320"/>
            <a:ext cx="2551176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Granularity-adaptive observation is necessary for efficient long-video retrieval.</a:t>
            </a:r>
            <a:endParaRPr lang="en-US" sz="93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VEterfall: Dense-to-Sparse Self-Distillation Cascade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28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1753"/>
            <a:ext cx="6492240" cy="324881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498080" y="1554480"/>
            <a:ext cx="1024128" cy="3291840"/>
          </a:xfrm>
          <a:prstGeom prst="roundRect">
            <a:avLst>
              <a:gd name="adj" fmla="val 8036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98080" y="1554480"/>
            <a:ext cx="73152" cy="3291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62672" y="1691640"/>
            <a:ext cx="70408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Teacher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699248" y="2057400"/>
            <a:ext cx="694944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High-density model captures rich temporal knowledge</a:t>
            </a:r>
            <a:endParaRPr lang="en-US" sz="750" dirty="0"/>
          </a:p>
        </p:txBody>
      </p:sp>
      <p:sp>
        <p:nvSpPr>
          <p:cNvPr id="12" name="Shape 9"/>
          <p:cNvSpPr/>
          <p:nvPr/>
        </p:nvSpPr>
        <p:spPr>
          <a:xfrm>
            <a:off x="8631936" y="3200400"/>
            <a:ext cx="18288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8723376" y="1554480"/>
            <a:ext cx="1024128" cy="3291840"/>
          </a:xfrm>
          <a:prstGeom prst="roundRect">
            <a:avLst>
              <a:gd name="adj" fmla="val 8036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23376" y="1554480"/>
            <a:ext cx="73152" cy="3291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87968" y="1691640"/>
            <a:ext cx="70408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Student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8924544" y="2057400"/>
            <a:ext cx="694944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8F–200T mimics dense embeddings through distillation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9857232" y="3200400"/>
            <a:ext cx="182880" cy="0"/>
          </a:xfrm>
          <a:prstGeom prst="line">
            <a:avLst/>
          </a:prstGeom>
          <a:noFill/>
          <a:ln w="16510">
            <a:solidFill>
              <a:srgbClr val="C9A227"/>
            </a:solidFill>
            <a:prstDash val="solid"/>
            <a:headEnd type="none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9948672" y="1554480"/>
            <a:ext cx="1024128" cy="3291840"/>
          </a:xfrm>
          <a:prstGeom prst="roundRect">
            <a:avLst>
              <a:gd name="adj" fmla="val 8036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948672" y="1554480"/>
            <a:ext cx="73152" cy="3291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113264" y="1691640"/>
            <a:ext cx="70408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 Student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0149840" y="2057400"/>
            <a:ext cx="694944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4F–100T inherits knowledge for efficient inference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498080" y="5074920"/>
            <a:ext cx="3474720" cy="731520"/>
          </a:xfrm>
          <a:prstGeom prst="roundRect">
            <a:avLst>
              <a:gd name="adj" fmla="val 1125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498080" y="5074920"/>
            <a:ext cx="73152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662672" y="5212080"/>
            <a:ext cx="3154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Idea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7699248" y="5577840"/>
            <a:ext cx="31455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is acquired dense, but deployed sparse.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Dense-to-Sparse Distillation?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4937760" cy="2606040"/>
          </a:xfrm>
          <a:prstGeom prst="roundRect">
            <a:avLst>
              <a:gd name="adj" fmla="val 3158"/>
            </a:avLst>
          </a:prstGeom>
          <a:solidFill>
            <a:srgbClr val="FFF7F6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73152" cy="2606040"/>
          </a:xfrm>
          <a:prstGeom prst="rect">
            <a:avLst/>
          </a:prstGeom>
          <a:solidFill>
            <a:srgbClr val="A53A38"/>
          </a:solidFill>
          <a:ln w="12700">
            <a:solidFill>
              <a:srgbClr val="A53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554480"/>
            <a:ext cx="4617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with Direct Sparse Training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4553712" cy="2039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Sparse inputs miss fine-grained evidence entirely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model never observes dense temporal patterns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Performance ceiling is determined by input sparsity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446520" y="1417320"/>
            <a:ext cx="4937760" cy="2606040"/>
          </a:xfrm>
          <a:prstGeom prst="roundRect">
            <a:avLst>
              <a:gd name="adj" fmla="val 3158"/>
            </a:avLst>
          </a:prstGeom>
          <a:solidFill>
            <a:srgbClr val="EFF7F4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46520" y="1417320"/>
            <a:ext cx="73152" cy="2606040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1554480"/>
            <a:ext cx="4617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VEterfall Solution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675120" y="1920240"/>
            <a:ext cx="4553712" cy="2039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Train dense first to build knowledge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the sparse student imitate dense embeddings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Transfer fine-grained knowledge without dense inference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1143000" y="4663440"/>
            <a:ext cx="9875520" cy="731520"/>
          </a:xfrm>
          <a:prstGeom prst="roundRect">
            <a:avLst>
              <a:gd name="adj" fmla="val 1125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4663440"/>
            <a:ext cx="73152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4800600"/>
            <a:ext cx="9555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Insight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44168" y="5166360"/>
            <a:ext cx="954633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VEterfall decouples knowledge acquisition from inference cost: the embedding space carries dense knowledge into sparse observation.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VEterfall Results: +20% Fine-Grained R@1 at 4–16× Token Efficiency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417320"/>
          <a:ext cx="7543800" cy="21488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Model Setting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Overall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Fine ↑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Medium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Coarse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Fine Gain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8F–200T no distill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0.369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0.782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8F–200T VEterfall ★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0.402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0.188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0.543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0.777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+27.0%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4F–100T no distill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0.300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0.391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0.664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—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4F–100T VEterfall ★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0.325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0.158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0.423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0.667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+19.7%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732520" y="150876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823960" y="1609344"/>
            <a:ext cx="1965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+27%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823960" y="198424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 gain at 8F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732520" y="256032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823960" y="2660904"/>
            <a:ext cx="1965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+20%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823960" y="303580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 gain at 4F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8732520" y="3611880"/>
            <a:ext cx="214884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823960" y="3712464"/>
            <a:ext cx="1965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16×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823960" y="4087368"/>
            <a:ext cx="1965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fewer tokens vs dense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868680" y="4663440"/>
            <a:ext cx="10149840" cy="731520"/>
          </a:xfrm>
          <a:prstGeom prst="roundRect">
            <a:avLst>
              <a:gd name="adj" fmla="val 1125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4663440"/>
            <a:ext cx="73152" cy="731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33272" y="4800600"/>
            <a:ext cx="9829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69848" y="5166360"/>
            <a:ext cx="9820656" cy="1371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Fine-grained retrieval gains most from distillation, while coarse-grained performance remains stable.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VEterfall Efficiency: Better Accuracy with Less Compute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508760"/>
          <a:ext cx="6766560" cy="18288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Approach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Training Pairs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Compute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Fine R@1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Overall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Direct sparse (4F–100T)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2.0M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1.0×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0.132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0.300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Dense-to-sparse finetune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2.0M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2.4×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0.149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0.318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7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VEterfall (2-stage) ★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200K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0.1×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0.158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0.325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0" y="1344168"/>
            <a:ext cx="2651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Relative compute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8360551" y="2480310"/>
            <a:ext cx="471424" cy="628650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0" y="3163824"/>
            <a:ext cx="785707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sparse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9244471" y="1600200"/>
            <a:ext cx="471424" cy="1508760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13520" y="3163824"/>
            <a:ext cx="785707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finetune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10128391" y="3046095"/>
            <a:ext cx="471424" cy="62865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997440" y="3163824"/>
            <a:ext cx="785707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VEterfall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8229600" y="3108960"/>
            <a:ext cx="265176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14400" y="434340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14400" y="4343400"/>
            <a:ext cx="73152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78992" y="4480560"/>
            <a:ext cx="2788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Data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1115568" y="4846320"/>
            <a:ext cx="277977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rounds × 100K pairs = 200K total.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4434840" y="434340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434840" y="4343400"/>
            <a:ext cx="73152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99432" y="4480560"/>
            <a:ext cx="2788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Architecture Change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4636008" y="4846320"/>
            <a:ext cx="277977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method can be applied to pretrained video embedding models.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7955280" y="4343400"/>
            <a:ext cx="3108960" cy="1097280"/>
          </a:xfrm>
          <a:prstGeom prst="roundRect">
            <a:avLst>
              <a:gd name="adj" fmla="val 75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955280" y="4343400"/>
            <a:ext cx="73152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119872" y="4480560"/>
            <a:ext cx="2788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Takeaway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8156448" y="4846320"/>
            <a:ext cx="277977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Sampling density must be learned and transferred, not simply increased.</a:t>
            </a:r>
            <a:endParaRPr lang="en-US" sz="93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32588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9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900" dirty="0"/>
          </a:p>
        </p:txBody>
      </p:sp>
      <p:sp>
        <p:nvSpPr>
          <p:cNvPr id="4" name="Shape 2"/>
          <p:cNvSpPr/>
          <p:nvPr/>
        </p:nvSpPr>
        <p:spPr>
          <a:xfrm>
            <a:off x="530352" y="2212848"/>
            <a:ext cx="960120" cy="0"/>
          </a:xfrm>
          <a:prstGeom prst="line">
            <a:avLst/>
          </a:prstGeom>
          <a:noFill/>
          <a:ln w="1524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30352" y="256032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Scaling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33375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FD1E2"/>
                </a:solidFill>
              </a:rPr>
              <a:t>GMP-GR at Baidu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9921240" y="45720"/>
            <a:ext cx="1143000" cy="1143000"/>
          </a:xfrm>
          <a:prstGeom prst="ellipse">
            <a:avLst/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0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Scaling: the core 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1920240"/>
            <a:ext cx="694944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can neural ranking signals be searched at billion scale under real latency constraints?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0" y="301752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3017520"/>
            <a:ext cx="73152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22192" y="3154680"/>
            <a:ext cx="6446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858768" y="3520440"/>
            <a:ext cx="643737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MUIRML regularizes learned relevance into a graph-compatible space.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657600" y="388620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3886200"/>
            <a:ext cx="73152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4023360"/>
            <a:ext cx="6446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858768" y="4389120"/>
            <a:ext cx="643737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HiPANNS expands candidate exploration and GPU batching.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0" y="4754880"/>
            <a:ext cx="6766560" cy="713232"/>
          </a:xfrm>
          <a:prstGeom prst="roundRect">
            <a:avLst>
              <a:gd name="adj" fmla="val 11538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4754880"/>
            <a:ext cx="73152" cy="7132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4892040"/>
            <a:ext cx="6446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858768" y="5257800"/>
            <a:ext cx="6437376" cy="1188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serves large-scale production traffic across Baidu applications.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Retrieval at Baidu Scale: Production Context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33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852360"/>
            <a:ext cx="6583680" cy="142759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46304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26680" y="1563624"/>
            <a:ext cx="30632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Billion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26680" y="1938528"/>
            <a:ext cx="3063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item corpus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7635240" y="251460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26680" y="2615184"/>
            <a:ext cx="30632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20+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26680" y="2990088"/>
            <a:ext cx="3063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applications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7635240" y="3566160"/>
            <a:ext cx="324612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26680" y="3666744"/>
            <a:ext cx="30632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100M+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26680" y="4041648"/>
            <a:ext cx="30632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/ day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7635240" y="4663440"/>
            <a:ext cx="3246120" cy="822960"/>
          </a:xfrm>
          <a:prstGeom prst="roundRect">
            <a:avLst>
              <a:gd name="adj" fmla="val 10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635240" y="4663440"/>
            <a:ext cx="73152" cy="822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99832" y="4800600"/>
            <a:ext cx="29260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Challenge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836408" y="5166360"/>
            <a:ext cx="2916936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metrics and graph traversal are structurally incompatible at this scale.</a:t>
            </a:r>
            <a:endParaRPr lang="en-US" sz="8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Metric–Search Tension: Why Neural Metrics Break Graph ANNS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417320"/>
            <a:ext cx="3291840" cy="3291840"/>
          </a:xfrm>
          <a:prstGeom prst="roundRect">
            <a:avLst>
              <a:gd name="adj" fmla="val 2500"/>
            </a:avLst>
          </a:prstGeom>
          <a:solidFill>
            <a:srgbClr val="FFF7F6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417320"/>
            <a:ext cx="73152" cy="3291840"/>
          </a:xfrm>
          <a:prstGeom prst="rect">
            <a:avLst/>
          </a:prstGeom>
          <a:solidFill>
            <a:srgbClr val="A53A38"/>
          </a:solidFill>
          <a:ln w="12700">
            <a:solidFill>
              <a:srgbClr val="A53A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55448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Neural Metric Violation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32688" y="1920240"/>
            <a:ext cx="2962656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DNN scoring functions are expressive but can violate triangle inequality, weakening geometric pruning.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434840" y="1417320"/>
            <a:ext cx="3291840" cy="3291840"/>
          </a:xfrm>
          <a:prstGeom prst="roundRect">
            <a:avLst>
              <a:gd name="adj" fmla="val 25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417320"/>
            <a:ext cx="73152" cy="3291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55448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HNSW Assumption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36008" y="1920240"/>
            <a:ext cx="2962656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Greedy graph traversal relies on the idea that moving closer to the query leads to better neighborhoods.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138160" y="1417320"/>
            <a:ext cx="3291840" cy="3291840"/>
          </a:xfrm>
          <a:prstGeom prst="roundRect">
            <a:avLst>
              <a:gd name="adj" fmla="val 25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417320"/>
            <a:ext cx="73152" cy="32918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02752" y="155448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Practical Consequence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39328" y="1920240"/>
            <a:ext cx="2962656" cy="2697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 fixed traversal budget, graph search misses relevant items because shortcut paths are unreliable.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097280" y="5257800"/>
            <a:ext cx="9875520" cy="502920"/>
          </a:xfrm>
          <a:prstGeom prst="roundRect">
            <a:avLst>
              <a:gd name="adj" fmla="val 16364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97280" y="5257800"/>
            <a:ext cx="73152" cy="5029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61872" y="5394960"/>
            <a:ext cx="95554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GMP-GR Solution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98448" y="5760720"/>
            <a:ext cx="9546336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learned relevance graph-compatible rather than abandoning either DNN scoring or graph search.</a:t>
            </a:r>
            <a:endParaRPr lang="en-US" sz="9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GMP-GR Framework: Metric–Graph–Hardware Co-Design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35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145643"/>
            <a:ext cx="7315200" cy="284103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8275320" y="1508760"/>
            <a:ext cx="2926080" cy="1097280"/>
          </a:xfrm>
          <a:prstGeom prst="roundRect">
            <a:avLst>
              <a:gd name="adj" fmla="val 75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75320" y="1508760"/>
            <a:ext cx="73152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439912" y="1645920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Training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8476488" y="2011680"/>
            <a:ext cx="259689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MUIRML combines multi-relational behavior signals with self-covariant loss.</a:t>
            </a:r>
            <a:endParaRPr lang="en-US" sz="930" dirty="0"/>
          </a:p>
        </p:txBody>
      </p:sp>
      <p:sp>
        <p:nvSpPr>
          <p:cNvPr id="12" name="Shape 9"/>
          <p:cNvSpPr/>
          <p:nvPr/>
        </p:nvSpPr>
        <p:spPr>
          <a:xfrm>
            <a:off x="8275320" y="2880360"/>
            <a:ext cx="2926080" cy="1097280"/>
          </a:xfrm>
          <a:prstGeom prst="roundRect">
            <a:avLst>
              <a:gd name="adj" fmla="val 75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75320" y="2880360"/>
            <a:ext cx="73152" cy="1097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39912" y="3017520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Online Search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8476488" y="3383280"/>
            <a:ext cx="2596896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HiPANNS uses HNSW layers plus parallel candidate and query expansion.</a:t>
            </a:r>
            <a:endParaRPr lang="en-US" sz="930" dirty="0"/>
          </a:p>
        </p:txBody>
      </p:sp>
      <p:sp>
        <p:nvSpPr>
          <p:cNvPr id="16" name="Shape 13"/>
          <p:cNvSpPr/>
          <p:nvPr/>
        </p:nvSpPr>
        <p:spPr>
          <a:xfrm>
            <a:off x="8275320" y="4251960"/>
            <a:ext cx="2926080" cy="960120"/>
          </a:xfrm>
          <a:prstGeom prst="roundRect">
            <a:avLst>
              <a:gd name="adj" fmla="val 8571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5320" y="4251960"/>
            <a:ext cx="73152" cy="960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39912" y="4389120"/>
            <a:ext cx="26060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 View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8476488" y="4754880"/>
            <a:ext cx="259689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Accuracy, graph traversal and GPU throughput are optimized jointly.</a:t>
            </a:r>
            <a:endParaRPr lang="en-US" sz="93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MUIRML: Multi-Relational Metric Learning with Self-Covariant Loss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3291840" cy="3337560"/>
          </a:xfrm>
          <a:prstGeom prst="roundRect">
            <a:avLst>
              <a:gd name="adj" fmla="val 25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25880"/>
            <a:ext cx="73152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1828800"/>
            <a:ext cx="2907792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MLP + multi-head attention over behavior signals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Inputs: click, dwell-time, skip, engagement and share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Two heads: relevance and distance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291840" cy="3337560"/>
          </a:xfrm>
          <a:prstGeom prst="roundRect">
            <a:avLst>
              <a:gd name="adj" fmla="val 25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325880"/>
            <a:ext cx="73152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Objective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63440" y="1828800"/>
            <a:ext cx="2907792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Supervised ranking loss for relevance accuracy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Self-Covariant Loss aligns neural ordering with Euclidean distance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Joint optimization balances accuracy and graph compatibility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8092440" y="1325880"/>
            <a:ext cx="3291840" cy="3337560"/>
          </a:xfrm>
          <a:prstGeom prst="roundRect">
            <a:avLst>
              <a:gd name="adj" fmla="val 25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325880"/>
            <a:ext cx="73152" cy="33375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7032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SCL Intuition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321040" y="1828800"/>
            <a:ext cx="2907792" cy="27706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the DNN ranks v+ above v− for query q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then Euclidean distance should satisfy d(q,v+) &lt; d(q,v−)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This reduces dead ends during graph traversal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1920240" y="5166360"/>
            <a:ext cx="850392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L_SCL = max(0, d_E(q, v+) − d_E(q, v−) + margin)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HiPANNS: Hierarchical Parallel ANNS for GPU-Accelerated Search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417320"/>
            <a:ext cx="5029200" cy="3108960"/>
          </a:xfrm>
          <a:prstGeom prst="roundRect">
            <a:avLst>
              <a:gd name="adj" fmla="val 2647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554480"/>
            <a:ext cx="4709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C-HiPANNS · Inter-Candidate Parallelism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05840" y="1920240"/>
            <a:ext cx="4645152" cy="2542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 parallel search threads share one max-heap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thread explores a different candidate neighbor set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Expands effective search space at the same traversal depth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Improves accuracy without increasing graph hops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5029200" cy="3108960"/>
          </a:xfrm>
          <a:prstGeom prst="roundRect">
            <a:avLst>
              <a:gd name="adj" fmla="val 2647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417320"/>
            <a:ext cx="73152" cy="31089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554480"/>
            <a:ext cx="47091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Q-HiPANNS · Inter-Query Parallelism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83680" y="1920240"/>
            <a:ext cx="4645152" cy="2542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Adaptive GPU aggregation through queue-based batching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Queries batched according to current GPU utilization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Adaptive slicing matched to CUDA thread configurations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Improves throughput at high concurrency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1143000" y="5120640"/>
            <a:ext cx="9829800" cy="640080"/>
          </a:xfrm>
          <a:prstGeom prst="roundRect">
            <a:avLst>
              <a:gd name="adj" fmla="val 12857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43000" y="5120640"/>
            <a:ext cx="73152" cy="6400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07592" y="5257800"/>
            <a:ext cx="95097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Combined Benefit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344168" y="5623560"/>
            <a:ext cx="9500616" cy="45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C-HiPANNS improves recall at fixed compute; Q-HiPANNS improves queries per second at fixed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Offline Results: 20%+ Improvement over NANN Across Metrics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417320"/>
          <a:ext cx="7955280" cy="242316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Method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Video Cov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Video R@10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MVideo Cov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Explore Cov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Explore R@10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Fresh Cov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C-NSW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0.339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0.383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0.298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0.329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0.349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0.401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SL2G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0.441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0.578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0.412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0.408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0.525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0.490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NANN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0.537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0.672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0.515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0.503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0.604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0.581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07376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GMP-GR ★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0.649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0.824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0.624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0.628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0.800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0.698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915400" y="150876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006840" y="1609344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+21%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006840" y="1984248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improvement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8915400" y="256032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006840" y="2660904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+22%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9006840" y="3035808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recall improvement</a:t>
            </a:r>
            <a:endParaRPr lang="en-US" sz="780" dirty="0"/>
          </a:p>
        </p:txBody>
      </p:sp>
      <p:sp>
        <p:nvSpPr>
          <p:cNvPr id="14" name="Shape 11"/>
          <p:cNvSpPr/>
          <p:nvPr/>
        </p:nvSpPr>
        <p:spPr>
          <a:xfrm>
            <a:off x="8915400" y="361188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06840" y="3712464"/>
            <a:ext cx="20116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+13.8%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006840" y="4087368"/>
            <a:ext cx="20116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throughput gain</a:t>
            </a:r>
            <a:endParaRPr lang="en-US" sz="780" dirty="0"/>
          </a:p>
        </p:txBody>
      </p:sp>
      <p:sp>
        <p:nvSpPr>
          <p:cNvPr id="17" name="Shape 14"/>
          <p:cNvSpPr/>
          <p:nvPr/>
        </p:nvSpPr>
        <p:spPr>
          <a:xfrm>
            <a:off x="822960" y="4800600"/>
            <a:ext cx="10287000" cy="685800"/>
          </a:xfrm>
          <a:prstGeom prst="roundRect">
            <a:avLst>
              <a:gd name="adj" fmla="val 12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480060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87552" y="4937760"/>
            <a:ext cx="99669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Takeaway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24128" y="5303520"/>
            <a:ext cx="995781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GMP-GR improves accuracy and speed together by co-designing the metric, graph traversal and hardware execution.</a:t>
            </a:r>
            <a:endParaRPr lang="en-US" sz="1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Ablation: MUIRML and HiPANNS Contribute Independently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40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310" y="1417320"/>
            <a:ext cx="4457700" cy="3566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0" y="1389888"/>
            <a:ext cx="365760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 trend (illustrative from reported ablations)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993467" y="1986358"/>
            <a:ext cx="487680" cy="1671242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0" y="3712464"/>
            <a:ext cx="812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NANN</a:t>
            </a:r>
            <a:endParaRPr lang="en-US" sz="650" dirty="0"/>
          </a:p>
        </p:txBody>
      </p:sp>
      <p:sp>
        <p:nvSpPr>
          <p:cNvPr id="11" name="Shape 8"/>
          <p:cNvSpPr/>
          <p:nvPr/>
        </p:nvSpPr>
        <p:spPr>
          <a:xfrm>
            <a:off x="7907867" y="1831614"/>
            <a:ext cx="487680" cy="1825986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0" y="3712464"/>
            <a:ext cx="812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 only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8822267" y="1800665"/>
            <a:ext cx="487680" cy="1856935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686800" y="3712464"/>
            <a:ext cx="812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only</a:t>
            </a:r>
            <a:endParaRPr lang="en-US" sz="650" dirty="0"/>
          </a:p>
        </p:txBody>
      </p:sp>
      <p:sp>
        <p:nvSpPr>
          <p:cNvPr id="15" name="Shape 12"/>
          <p:cNvSpPr/>
          <p:nvPr/>
        </p:nvSpPr>
        <p:spPr>
          <a:xfrm>
            <a:off x="9736667" y="1645920"/>
            <a:ext cx="487680" cy="20116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601200" y="3712464"/>
            <a:ext cx="812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6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</a:t>
            </a:r>
            <a:endParaRPr lang="en-US" sz="650" dirty="0"/>
          </a:p>
        </p:txBody>
      </p:sp>
      <p:sp>
        <p:nvSpPr>
          <p:cNvPr id="17" name="Shape 14"/>
          <p:cNvSpPr/>
          <p:nvPr/>
        </p:nvSpPr>
        <p:spPr>
          <a:xfrm>
            <a:off x="6858000" y="3657600"/>
            <a:ext cx="3657600" cy="0"/>
          </a:xfrm>
          <a:prstGeom prst="line">
            <a:avLst/>
          </a:prstGeom>
          <a:noFill/>
          <a:ln w="7620">
            <a:solidFill>
              <a:srgbClr val="D9E1E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5120640"/>
            <a:ext cx="3154680" cy="68580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512064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33272" y="5257800"/>
            <a:ext cx="2834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MUIRML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69848" y="5623560"/>
            <a:ext cx="282549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Regularizes the learned space so graph shortcuts remain meaningful.</a:t>
            </a:r>
            <a:endParaRPr lang="en-US" sz="930" dirty="0"/>
          </a:p>
        </p:txBody>
      </p:sp>
      <p:sp>
        <p:nvSpPr>
          <p:cNvPr id="22" name="Shape 19"/>
          <p:cNvSpPr/>
          <p:nvPr/>
        </p:nvSpPr>
        <p:spPr>
          <a:xfrm>
            <a:off x="4480560" y="5120640"/>
            <a:ext cx="3154680" cy="685800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480560" y="512064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45152" y="5257800"/>
            <a:ext cx="2834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HiPANNS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681728" y="5623560"/>
            <a:ext cx="282549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Searches more candidates and processes more queries in parallel.</a:t>
            </a:r>
            <a:endParaRPr lang="en-US" sz="930" dirty="0"/>
          </a:p>
        </p:txBody>
      </p:sp>
      <p:sp>
        <p:nvSpPr>
          <p:cNvPr id="26" name="Shape 23"/>
          <p:cNvSpPr/>
          <p:nvPr/>
        </p:nvSpPr>
        <p:spPr>
          <a:xfrm>
            <a:off x="8092440" y="5120640"/>
            <a:ext cx="3154680" cy="685800"/>
          </a:xfrm>
          <a:prstGeom prst="roundRect">
            <a:avLst>
              <a:gd name="adj" fmla="val 12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2440" y="512064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57032" y="5257800"/>
            <a:ext cx="28346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GMP-GR</a:t>
            </a:r>
            <a:endParaRPr lang="en-US" sz="1150" dirty="0"/>
          </a:p>
        </p:txBody>
      </p:sp>
      <p:sp>
        <p:nvSpPr>
          <p:cNvPr id="29" name="Text 26"/>
          <p:cNvSpPr/>
          <p:nvPr/>
        </p:nvSpPr>
        <p:spPr>
          <a:xfrm>
            <a:off x="8293608" y="5623560"/>
            <a:ext cx="282549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Combines both effects and wins consistently across four domains.</a:t>
            </a:r>
            <a:endParaRPr lang="en-US" sz="93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Online A/B Tests: Consistent Engagement Lift Across Services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5669280" cy="14630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Service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Time-on-Page Δ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DAU Δ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Significance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News Feed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+1.13%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+0.23%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 &lt; 0.001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Short Video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+1.19%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+0.50%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 &lt; 0.001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0" y="1508760"/>
            <a:ext cx="3200400" cy="822960"/>
          </a:xfrm>
          <a:prstGeom prst="roundRect">
            <a:avLst>
              <a:gd name="adj" fmla="val 8889"/>
            </a:avLst>
          </a:prstGeom>
          <a:solidFill>
            <a:srgbClr val="EEF4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06640" y="1609344"/>
            <a:ext cx="301752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+1%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406640" y="1984248"/>
            <a:ext cx="30175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matters at 100M+ users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914400" y="3474720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3474720"/>
            <a:ext cx="73152" cy="1188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78992" y="3611880"/>
            <a:ext cx="2788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Gains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15568" y="3977640"/>
            <a:ext cx="27797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TensorRT compilation improves throughput by roughly 74–75%; FP16 quantization adds another 25–26%.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4480560" y="3474720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480560" y="3474720"/>
            <a:ext cx="73152" cy="1188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3611880"/>
            <a:ext cx="2788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Reach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681728" y="3977640"/>
            <a:ext cx="27797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20+ applications with large daily traffic validate system stability beyond offline retrieval metrics.</a:t>
            </a:r>
            <a:endParaRPr lang="en-US" sz="930" dirty="0"/>
          </a:p>
        </p:txBody>
      </p:sp>
      <p:sp>
        <p:nvSpPr>
          <p:cNvPr id="19" name="Shape 16"/>
          <p:cNvSpPr/>
          <p:nvPr/>
        </p:nvSpPr>
        <p:spPr>
          <a:xfrm>
            <a:off x="8046720" y="3474720"/>
            <a:ext cx="3108960" cy="1188720"/>
          </a:xfrm>
          <a:prstGeom prst="roundRect">
            <a:avLst>
              <a:gd name="adj" fmla="val 6923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046720" y="3474720"/>
            <a:ext cx="73152" cy="1188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11312" y="3611880"/>
            <a:ext cx="2788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Result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247888" y="3977640"/>
            <a:ext cx="2779776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Cumulative production lift reaches approximately +3% engagement after system rollout.</a:t>
            </a:r>
            <a:endParaRPr lang="en-US" sz="93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Traffic and Latency: Reliability After Deployment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pic>
        <p:nvPicPr>
          <p:cNvPr id="7" name="Image 0" descr="/mnt/data/pres_assets/slide43_img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290572"/>
            <a:ext cx="4846320" cy="1453896"/>
          </a:xfrm>
          <a:prstGeom prst="rect">
            <a:avLst/>
          </a:prstGeom>
        </p:spPr>
      </p:pic>
      <p:pic>
        <p:nvPicPr>
          <p:cNvPr id="8" name="Image 1" descr="/mnt/data/pres_assets/slide43_img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710" y="1417320"/>
            <a:ext cx="4000500" cy="32004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60120" y="5074920"/>
            <a:ext cx="4617720" cy="685800"/>
          </a:xfrm>
          <a:prstGeom prst="roundRect">
            <a:avLst>
              <a:gd name="adj" fmla="val 120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960120" y="507492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1124712" y="5212080"/>
            <a:ext cx="4297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1161288" y="5577840"/>
            <a:ext cx="428853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ramp-up stays stable after deployment, without abnormal spikes.</a:t>
            </a:r>
            <a:endParaRPr lang="en-US" sz="930" dirty="0"/>
          </a:p>
        </p:txBody>
      </p:sp>
      <p:sp>
        <p:nvSpPr>
          <p:cNvPr id="13" name="Shape 9"/>
          <p:cNvSpPr/>
          <p:nvPr/>
        </p:nvSpPr>
        <p:spPr>
          <a:xfrm>
            <a:off x="6492240" y="5074920"/>
            <a:ext cx="4617720" cy="685800"/>
          </a:xfrm>
          <a:prstGeom prst="roundRect">
            <a:avLst>
              <a:gd name="adj" fmla="val 12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92240" y="507492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656832" y="5212080"/>
            <a:ext cx="4297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6693408" y="5577840"/>
            <a:ext cx="428853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P99 latency remains within SLA, showing that quality gains do not introduce serving regression.</a:t>
            </a:r>
            <a:endParaRPr lang="en-US" sz="93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Cross-Study Insights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Unified Insight: Structure-Aware Scaling Across All Stages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417320"/>
          <a:ext cx="10652760" cy="214884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94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Naive Scaling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Structural Bottleneck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Thesis Solution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37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Semantic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↑ parameters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Capability gaps across task types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UVRB → UVRD + Modality Pyramid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Observational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↑ frame count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Query–granularity alignment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MG-LVR scaling laws + VEterfall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Search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↑ metric AUC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Metric–graph–hardware incompatibility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20" dirty="0">
                          <a:solidFill>
                            <a:srgbClr val="1E2A35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SCL regularization + HiPANNS</a:t>
                      </a:r>
                      <a:endParaRPr lang="en-US" sz="82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36576" marR="36576" marT="36576" marB="36576">
                    <a:lnL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914400" y="4160520"/>
            <a:ext cx="10332720" cy="960120"/>
          </a:xfrm>
          <a:prstGeom prst="roundRect">
            <a:avLst>
              <a:gd name="adj" fmla="val 8571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14400" y="4160520"/>
            <a:ext cx="73152" cy="9601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78992" y="4297680"/>
            <a:ext cx="100126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Thesis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4663440"/>
            <a:ext cx="10003536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Generalizability is the empirical criterion for effective scaling. Each pipeline stage requires diagnosing its structural bottleneck before scaling capacity.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5486400"/>
            <a:ext cx="3108960" cy="548640"/>
          </a:xfrm>
          <a:prstGeom prst="roundRect">
            <a:avLst>
              <a:gd name="adj" fmla="val 150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5486400"/>
            <a:ext cx="73152" cy="548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5623560"/>
            <a:ext cx="2788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1: capability taxonomy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526280" y="5486400"/>
            <a:ext cx="3108960" cy="548640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526280" y="5486400"/>
            <a:ext cx="73152" cy="548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90872" y="5623560"/>
            <a:ext cx="2788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2: granularity alignment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8138160" y="5486400"/>
            <a:ext cx="3108960" cy="548640"/>
          </a:xfrm>
          <a:prstGeom prst="roundRect">
            <a:avLst>
              <a:gd name="adj" fmla="val 150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138160" y="5486400"/>
            <a:ext cx="73152" cy="5486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302752" y="5623560"/>
            <a:ext cx="2788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3: metric compatibility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Thesis Strengths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32588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325880"/>
            <a:ext cx="73152" cy="1828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Coverage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78408" y="1828800"/>
            <a:ext cx="2962656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Representation, observation and deployment are studied as a connected retrieval pipeline.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4434840" y="132588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325880"/>
            <a:ext cx="73152" cy="1828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99432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Principled Methodology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636008" y="1828800"/>
            <a:ext cx="2962656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diagnoses gaps; synthesis and algorithms directly target the diagnosed bottlenecks.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8092440" y="1325880"/>
            <a:ext cx="3291840" cy="1828800"/>
          </a:xfrm>
          <a:prstGeom prst="roundRect">
            <a:avLst>
              <a:gd name="adj" fmla="val 45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1325880"/>
            <a:ext cx="73152" cy="1828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57032" y="146304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Reproducible Benchmarks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93608" y="1828800"/>
            <a:ext cx="2962656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UVRB and MG-LVR provide public protocols for fair comparison and future research.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1874520" y="388620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3886200"/>
            <a:ext cx="73152" cy="1417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39112" y="402336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Validation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075688" y="4389120"/>
            <a:ext cx="296265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GMP-GR is deployed at Baidu scale with measurable online engagement gains.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989320" y="3886200"/>
            <a:ext cx="329184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89320" y="3886200"/>
            <a:ext cx="73152" cy="14173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53912" y="4023360"/>
            <a:ext cx="29718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Actionable Field Insights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90488" y="4389120"/>
            <a:ext cx="2962656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 proxy, frame-count anchoring, and metric–graph incompatibility are reusable lessons.</a:t>
            </a:r>
            <a:endParaRPr lang="en-US" sz="93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Discussion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Honest Assessment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34440"/>
            <a:ext cx="51663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3444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371600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Synthesized Data Quality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978408" y="1737360"/>
            <a:ext cx="483717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UVRD quality validation is sampled; synthetic captions may contain systematic biases not present in natural queries.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263640" y="1234440"/>
            <a:ext cx="51663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23444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28232" y="1371600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Caption-Level Grounding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464808" y="1737360"/>
            <a:ext cx="483717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MG-LVR uses dense captions as semantic proxies; it does not provide pixel-level or action-level annotations.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777240" y="2788920"/>
            <a:ext cx="51663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77240" y="278892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1832" y="2926080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Platform Specificity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78408" y="3291840"/>
            <a:ext cx="483717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GMP-GR is validated on Baidu infrastructure and traffic distributions; external hardware and corpora remain open.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263640" y="2788920"/>
            <a:ext cx="5166360" cy="1143000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63640" y="2788920"/>
            <a:ext cx="73152" cy="1143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2926080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Cross-Study · No Fully Integrated System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64808" y="3291840"/>
            <a:ext cx="4837176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three stages have not yet been jointly optimized as a single end-to-end retrieval system.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1051560" y="4983480"/>
            <a:ext cx="10058400" cy="685800"/>
          </a:xfrm>
          <a:prstGeom prst="roundRect">
            <a:avLst>
              <a:gd name="adj" fmla="val 12000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4983480"/>
            <a:ext cx="73152" cy="6858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6152" y="5120640"/>
            <a:ext cx="9738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52728" y="5486400"/>
            <a:ext cx="9729216" cy="91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limitation is also a concrete research direction for the next generation of video retrieval systems.</a:t>
            </a:r>
            <a:endParaRPr lang="en-US" sz="10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Work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Directions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234440"/>
            <a:ext cx="5166360" cy="1325880"/>
          </a:xfrm>
          <a:prstGeom prst="roundRect">
            <a:avLst>
              <a:gd name="adj" fmla="val 6207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23444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371600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Retrieval-Native Foundation Models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86968" y="1737360"/>
            <a:ext cx="483717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Pre-train models with retrieval-first objectives so hidden states and EOS embeddings are naturally aligned for search.</a:t>
            </a:r>
            <a:endParaRPr lang="en-US" sz="930" dirty="0"/>
          </a:p>
        </p:txBody>
      </p:sp>
      <p:sp>
        <p:nvSpPr>
          <p:cNvPr id="11" name="Shape 9"/>
          <p:cNvSpPr/>
          <p:nvPr/>
        </p:nvSpPr>
        <p:spPr>
          <a:xfrm>
            <a:off x="6355080" y="1234440"/>
            <a:ext cx="5166360" cy="1325880"/>
          </a:xfrm>
          <a:prstGeom prst="roundRect">
            <a:avLst>
              <a:gd name="adj" fmla="val 6207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23444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1371600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Retrieval as Agent Memory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556248" y="1737360"/>
            <a:ext cx="483717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video retrieval as long-horizon visual memory for embodied and web agents operating over growing streams.</a:t>
            </a:r>
            <a:endParaRPr lang="en-US" sz="930" dirty="0"/>
          </a:p>
        </p:txBody>
      </p:sp>
      <p:sp>
        <p:nvSpPr>
          <p:cNvPr id="15" name="Shape 13"/>
          <p:cNvSpPr/>
          <p:nvPr/>
        </p:nvSpPr>
        <p:spPr>
          <a:xfrm>
            <a:off x="685800" y="2971800"/>
            <a:ext cx="5166360" cy="1325880"/>
          </a:xfrm>
          <a:prstGeom prst="roundRect">
            <a:avLst>
              <a:gd name="adj" fmla="val 6207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97180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" y="3108960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Self-Evolving Data and Curriculum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86968" y="3474720"/>
            <a:ext cx="483717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 the evaluation–synthesis–curriculum loop so models identify and repair their own capability gaps.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6355080" y="2971800"/>
            <a:ext cx="5166360" cy="1325880"/>
          </a:xfrm>
          <a:prstGeom prst="roundRect">
            <a:avLst>
              <a:gd name="adj" fmla="val 6207"/>
            </a:avLst>
          </a:prstGeom>
          <a:solidFill>
            <a:srgbClr val="FFFFFF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55080" y="2971800"/>
            <a:ext cx="73152" cy="13258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19672" y="3108960"/>
            <a:ext cx="48463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Generative Multi-Granular Representations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56248" y="3474720"/>
            <a:ext cx="4837176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93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Explore diffusion denoising states as representations for coarse-to-fine retrieval without task-specific heads.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1051560" y="5166360"/>
            <a:ext cx="10058400" cy="594360"/>
          </a:xfrm>
          <a:prstGeom prst="roundRect">
            <a:avLst>
              <a:gd name="adj" fmla="val 13846"/>
            </a:avLst>
          </a:prstGeom>
          <a:solidFill>
            <a:srgbClr val="073763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51560" y="5166360"/>
            <a:ext cx="73152" cy="59436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16152" y="5303520"/>
            <a:ext cx="9738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Long-term Direction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252728" y="5669280"/>
            <a:ext cx="9729216" cy="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>
            <a:lvl1pPr algn="l"/>
          </a:lstStyle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retrieval system that jointly learns capability, observation and search rather than optimizing them separately.</a:t>
            </a:r>
            <a:endParaRPr lang="en-US" sz="1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11384280" y="16459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11480" y="393192"/>
            <a:ext cx="11365992" cy="0"/>
          </a:xfrm>
          <a:prstGeom prst="line">
            <a:avLst/>
          </a:prstGeom>
          <a:noFill/>
          <a:ln w="5080">
            <a:solidFill>
              <a:srgbClr val="D9E1E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566928"/>
            <a:ext cx="786384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66928" y="1060704"/>
            <a:ext cx="173736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34440"/>
            <a:ext cx="10652760" cy="777240"/>
          </a:xfrm>
          <a:prstGeom prst="roundRect">
            <a:avLst>
              <a:gd name="adj" fmla="val 10588"/>
            </a:avLst>
          </a:prstGeom>
          <a:solidFill>
            <a:srgbClr val="F7F0DC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34440"/>
            <a:ext cx="73152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41832" y="1371600"/>
            <a:ext cx="103327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Thesis in One Sentence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78408" y="1737360"/>
            <a:ext cx="1032357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Video retrieval has three sequential scaling bottlenecks; each requires structure-aware, not capacity-naive, solutions.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77240" y="2423160"/>
            <a:ext cx="3337560" cy="2240280"/>
          </a:xfrm>
          <a:prstGeom prst="roundRect">
            <a:avLst>
              <a:gd name="adj" fmla="val 3673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2423160"/>
            <a:ext cx="73152" cy="2240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41832" y="2560320"/>
            <a:ext cx="3017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1 · Semantic Scaling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005840" y="2926080"/>
            <a:ext cx="2953512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GVE: capability-guided synthesis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SOTA zero-shot across 16 datasets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 as a universality proxy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4434840" y="2423160"/>
            <a:ext cx="3337560" cy="2240280"/>
          </a:xfrm>
          <a:prstGeom prst="roundRect">
            <a:avLst>
              <a:gd name="adj" fmla="val 3673"/>
            </a:avLst>
          </a:prstGeom>
          <a:solidFill>
            <a:srgbClr val="F7F8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34840" y="2423160"/>
            <a:ext cx="73152" cy="2240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9432" y="2560320"/>
            <a:ext cx="3017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2 · Observational Scaling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663440" y="2926080"/>
            <a:ext cx="2953512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MG-LVR: long-video granularity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Frame-count anchoring discovered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VEterfall: +20% fine-grained R@1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092440" y="2423160"/>
            <a:ext cx="3337560" cy="2240280"/>
          </a:xfrm>
          <a:prstGeom prst="roundRect">
            <a:avLst>
              <a:gd name="adj" fmla="val 3673"/>
            </a:avLst>
          </a:prstGeom>
          <a:solidFill>
            <a:srgbClr val="EEF4FA"/>
          </a:solidFill>
          <a:ln w="8890">
            <a:solidFill>
              <a:srgbClr val="D9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92440" y="2423160"/>
            <a:ext cx="73152" cy="22402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2560320"/>
            <a:ext cx="30175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7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Study 3 · Search Scaling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321040" y="2926080"/>
            <a:ext cx="2953512" cy="1673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GMP-GR: metric–graph co-design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+20% offline accuracy</a:t>
            </a:r>
            <a:endParaRPr lang="en-US" sz="740" dirty="0"/>
          </a:p>
          <a:p>
            <a:pPr marL="0" indent="0" algn="l">
              <a:buNone/>
            </a:pPr>
            <a:r>
              <a:rPr lang="en-US" sz="74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Production A/B gains at Baidu scale</a:t>
            </a:r>
            <a:endParaRPr lang="en-US" sz="740" dirty="0"/>
          </a:p>
        </p:txBody>
      </p:sp>
      <p:sp>
        <p:nvSpPr>
          <p:cNvPr id="23" name="Text 21"/>
          <p:cNvSpPr/>
          <p:nvPr/>
        </p:nvSpPr>
        <p:spPr>
          <a:xfrm>
            <a:off x="1417320" y="5715000"/>
            <a:ext cx="932688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question for the field: Can a single end-to-end system jointly optimize all three stages?</a:t>
            </a:r>
            <a:endParaRPr lang="en-US" sz="15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6858000"/>
          </a:xfrm>
          <a:prstGeom prst="rect">
            <a:avLst/>
          </a:prstGeom>
          <a:solidFill>
            <a:srgbClr val="073763"/>
          </a:solidFill>
          <a:ln w="12700">
            <a:solidFill>
              <a:srgbClr val="0737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6459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HKUST(GZ)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931920" y="2148840"/>
            <a:ext cx="493776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5074920" y="2944368"/>
            <a:ext cx="1508760" cy="0"/>
          </a:xfrm>
          <a:prstGeom prst="line">
            <a:avLst/>
          </a:prstGeom>
          <a:noFill/>
          <a:ln w="26670">
            <a:solidFill>
              <a:srgbClr val="C9A22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0" y="3383280"/>
            <a:ext cx="50292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Zhuoning Guo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B64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Thrust of AI · HKUST(GZ)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474720" y="4572000"/>
            <a:ext cx="5760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737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Towards Scalable and Generalizable Video Retrieval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3695</Words>
  <Application>Microsoft Macintosh PowerPoint</Application>
  <PresentationFormat>宽屏</PresentationFormat>
  <Paragraphs>869</Paragraphs>
  <Slides>47</Slides>
  <Notes>47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47</vt:i4>
      </vt:variant>
    </vt:vector>
  </HeadingPairs>
  <TitlesOfParts>
    <vt:vector size="51" baseType="lpstr">
      <vt:lpstr>Aptos</vt:lpstr>
      <vt:lpstr>Arial</vt:lpstr>
      <vt:lpstr>Georgia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HKUST(GZ)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Towards Scalable and Generalizable Video Retrieval</dc:title>
  <dc:subject>Towards Scalable and Generalizable Video Retrieval</dc:subject>
  <dc:creator>Zhuoning Guo</dc:creator>
  <cp:lastModifiedBy>Microsoft Office User</cp:lastModifiedBy>
  <cp:revision>2</cp:revision>
  <dcterms:created xsi:type="dcterms:W3CDTF">2026-07-02T09:50:18Z</dcterms:created>
  <dcterms:modified xsi:type="dcterms:W3CDTF">2026-07-07T05:35:52Z</dcterms:modified>
</cp:coreProperties>
</file>