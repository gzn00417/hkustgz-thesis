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69"/>
  </p:normalViewPr>
  <p:slideViewPr>
    <p:cSldViewPr snapToGrid="0" snapToObjects="1">
      <p:cViewPr varScale="1">
        <p:scale>
          <a:sx n="114" d="100"/>
          <a:sy n="114" d="100"/>
        </p:scale>
        <p:origin x="6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6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I am Zhuoning Guo. This thesis studies video retrieval as a pipeline-level scaling problem, advised by Prof. Xiaowen Chu and Prof. Renjing Xu.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Video retrieval is foundational to search, recommendation, and discovery — and it is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talk follows the retrieval pipeline; three studies attack three successive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Retrieval is a chain: represent, observe, search — each stage has a distinct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Formal setup: one embedding space, cosine relevance, evaluated across query formats and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gap is structural — along length, query form, corpus size, and serving.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Thesis Figure 1.1: three-stage pipeline with structural bottlenecks and structure-aware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Failure modes are qualitatively different, so no single scaling recipe fixes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studies, one argument: structure-aware scaling along the retrieval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capabilities should a video retrieval model possess, and how do we scale toward them?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Universal retrieval is defined by capability coverage, not a single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UVRB is a diagnostic, not a leaderboard: one protocol isolating six capability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radar is the evidence: gaps are systematic and tied to data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findings: PR proxy, spatial/temporal decoupling, and the visual-only scaling paradox.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V-SynFlow turns the diagnosis into data: control quality, enrich toward gaps, extend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UVRD embodies capability-first data design: targeted skew plus audited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GVE is one unified embedding model; training is symmetric InfoNCE with hard negatives.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curriculum orders tasks by measured alignment, stabilizing multi-task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GVE sets new SOTA on both averages; GVE-3B beats Unite-7B; GVE-7B is strongest.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gains land on the diagnosed gaps; VIS remains the honest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Ablations isolate targeted data (UVRD) and curriculum ordering (Modality Pyramid).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correlation figure is the quantitative backing for the three capability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GVE's embedding transfers to classification, matching InternVideo2-6B zero-shot.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Study 1 in one line: capability diagnosis drives effective semantic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visual evidence should be observed, under limited frame and token budgets?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hook: observation bounds representation; sampling decides what evidence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Granularity G and continuity C make the observation problem measurable.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MG-LVR is the measurement instrument: only benchmark with all granularities on long videos.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granularity gap is the core empirical finding of Study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There is no single 'more frames is better' law — it depends on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 fixed budget, allocation should be granularity-aware.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Training-time laws set rigid inference constraints, motivating VEterfall.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VEterfall is cascaded self-distillation: MSE to the denser teacher plus an InfoNCE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VEterfall lifts fine-grained R@1 ~20% over the sparse baseline at 4–16×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Spatial scaling matters most at low frame counts — complementary to temporal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Study 2 in one line: observe granularity-aware, then distill dense skill into sparse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How can a learned retrieval signal be searched at deployment scale?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Search scaling: the learned signal must be accurate AND searchable under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coupled bottlenecks — metric, graph, GPU — demand joint co-design.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core insight: expressive metrics can violate regularity and trap graph traversal.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GMP-GR co-design: searchable metric, parallel graph traversal, GPU-aware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MUIRML learns multi-relational relevance; SCL regularizes it toward graph-searchable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HiPANNS parallelizes across candidates (recall) and across queries (throughput).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Offline: GMP-GR jointly improves coverage, recall, and speed across four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Two-service A/B: +1.13%/+1.19% time-on-page; later deployed across 20+ apps. No p-values in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System optimizations (compilation, quantization, streaming) make GMP-GR production-ready.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Ablation figures: removing MUIRML or HiPANNS drops accuracy and throughput.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Study 3 in one line: make the learned signal searchable, then execute it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table, one thesis: structure-aware scaling unifies the three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framework returns, now backed by concrete generalization evidence per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thesis produces reusable artifacts across all three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Framed as boundaries of evidence: honest, controlled, forward-looking.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Future I: models purpose-built for retrieval, not repurposed generators.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Future II: retrieval as the memory layer for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Future III: evaluation → synthesis → curriculum → training as an autonomous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three sentences to remember, and the unifying thesis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papers, one per study, plus public benchmarks, data, and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Standby Q&amp;A page — three memorable phrases anchor the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Backup: full evidence and prepared committee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Foundation models optimize open-ended generation, not dense retrieval embeddings. GVE is trained with retrieval objectives and capability-targeted data, aligning query and video geometry rather than reusing generic hidden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100-sample audit has a wide confidence interval, which we acknowledge. The functional proof is downstream: consistent zero-shot gains across 16 UVRB datasets — systematic noise would not produce broad, cross-dataset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gap persists across all 23 evaluated models and both continuity types. Its cause is structural — sparse sampling misses brief frame-level evidence — and short-clip benchmarks simply mask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future work. Hypothesis: a stronger dense teacher (GVE) yields higher-quality sparse distillation signals for VEterfall, improving fine-grained efficiency — a concrete cross-model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SCL constrains ranking order, not raw score magnitudes. It aligns output ranking with Euclidean distance to remove degenerate graph-navigation cases while preserving fine-grained relevance — regularizing relative order, not absolute expressiveness.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core logic is HNSW-compatible and architecture-agnostic, so accuracy gains transfer. Absolute throughput depends on hardware and traffic — we separate universal algorithmic value from platform-specific engineering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Backup (promotable): Figure 4.2 — MG-LVR construction pipeline. Isolated nodes = semantically unique clips → fine-grained retrieval targets (G label). Louvain communities = thematically connected multi-clip groups → coarse-grained targets (C label). This structural approach makes granularity measurable rather than manually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119104" y="5788152"/>
            <a:ext cx="566928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88720" y="3108960"/>
            <a:ext cx="9811512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908792" cy="1417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4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Video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18688"/>
            <a:ext cx="10908792" cy="40233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PhD Thesis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85615"/>
            <a:ext cx="10908792" cy="56692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2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62272"/>
            <a:ext cx="10908792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4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Thrust of Artificial Intelligence, HKUST(GZ)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01184"/>
            <a:ext cx="10908792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rPr>
              <a:t>Advisors:  </a:t>
            </a:r>
            <a:r>
              <a:rPr sz="1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rPr>
              <a:t>Prof. Xiaowen Chu</a:t>
            </a:r>
            <a:r>
              <a:rPr sz="14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rPr>
              <a:t>   &amp;   </a:t>
            </a:r>
            <a:r>
              <a:rPr sz="1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rPr>
              <a:t>Prof. Renjing Xu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58384"/>
            <a:ext cx="1090879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2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July 29,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07024"/>
            <a:ext cx="10908792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400" b="0" i="1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“How can video retrieval stay generalizable as semantic capability, visual observation, and search scale all grow?”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Video Retrieval Underpins Modern Multimedia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Search, recommendation, and discovery all reduce to matching a query to a video corpus.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92807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1874519"/>
            <a:ext cx="344728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58568"/>
            <a:ext cx="3410712" cy="187451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Find videos from text, an image, or a clip across a massive corpus.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6" y="1892807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17136" y="1874519"/>
            <a:ext cx="344728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2258568"/>
            <a:ext cx="3410712" cy="187451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Match evolving user intent to a fast-growing item catalog.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5592" y="1892807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2" y="1874519"/>
            <a:ext cx="344728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Discovery &amp; personalization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258568"/>
            <a:ext cx="3410712" cy="187451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Surface relevant long-form content under strict latency.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4528" y="1920240"/>
            <a:ext cx="10972" cy="210312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19288" y="1920240"/>
            <a:ext cx="10972" cy="210312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02920" y="4434840"/>
            <a:ext cx="11183112" cy="123444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21208" y="4535424"/>
            <a:ext cx="82296" cy="103327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" y="453542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shift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" y="4892040"/>
            <a:ext cx="10762488" cy="6858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As corpora, query forms, and serving traffic all grow, retrieval stops being a single benchmark task and becomes a pipeline-level scaling problem — the subject of this thesis.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Roadmap: From Representation to Observation to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One pipeline, three sequential scaling bottlenecks, three studies.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1847088"/>
            <a:ext cx="585216" cy="58521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1847088"/>
            <a:ext cx="585216" cy="58521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1828800"/>
            <a:ext cx="996696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176272"/>
            <a:ext cx="996696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Video retrieval is a pipeline-level scaling problem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3856" y="2450592"/>
            <a:ext cx="45720" cy="292608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8680" y="2743200"/>
            <a:ext cx="585216" cy="585216"/>
          </a:xfrm>
          <a:prstGeom prst="roundRect">
            <a:avLst>
              <a:gd name="adj" fmla="val 8000"/>
            </a:avLst>
          </a:prstGeom>
          <a:solidFill>
            <a:srgbClr val="C09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2743200"/>
            <a:ext cx="585216" cy="58521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2724912"/>
            <a:ext cx="996696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1 · Semantic Scaling — GVE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072384"/>
            <a:ext cx="996696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Diagnose capabilities → synthesize data → unified embedding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3856" y="3346704"/>
            <a:ext cx="45720" cy="292608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8680" y="3639312"/>
            <a:ext cx="585216" cy="585216"/>
          </a:xfrm>
          <a:prstGeom prst="roundRect">
            <a:avLst>
              <a:gd name="adj" fmla="val 8000"/>
            </a:avLst>
          </a:prstGeom>
          <a:solidFill>
            <a:srgbClr val="C09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639312"/>
            <a:ext cx="585216" cy="58521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621024"/>
            <a:ext cx="996696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2 · Observational Scaling — MG-LVR &amp; VEterfall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968496"/>
            <a:ext cx="996696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Granularity-aware evidence → scaling laws → distillation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33856" y="4242816"/>
            <a:ext cx="45720" cy="292608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68680" y="4535424"/>
            <a:ext cx="585216" cy="585216"/>
          </a:xfrm>
          <a:prstGeom prst="roundRect">
            <a:avLst>
              <a:gd name="adj" fmla="val 8000"/>
            </a:avLst>
          </a:prstGeom>
          <a:solidFill>
            <a:srgbClr val="C09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4535424"/>
            <a:ext cx="585216" cy="58521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517136"/>
            <a:ext cx="996696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3 · Search Scaling — GMP-GR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864608"/>
            <a:ext cx="996696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Search-compatible metric → graph traversal → GPU execution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33856" y="5138928"/>
            <a:ext cx="45720" cy="292608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68680" y="5431536"/>
            <a:ext cx="585216" cy="58521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431536"/>
            <a:ext cx="585216" cy="58521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8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413248"/>
            <a:ext cx="996696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760720"/>
            <a:ext cx="9966960" cy="29260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Structure-aware scaling across the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Video Retrieval Is a Pipeline, Not a Single Benchmark 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query is answered by a chain of decisions, each with its own scaling pressure.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920240"/>
            <a:ext cx="1975104" cy="109728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054096"/>
            <a:ext cx="1975104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text / image /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composed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377440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16352" y="1920240"/>
            <a:ext cx="1975104" cy="109728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3054096"/>
            <a:ext cx="1975104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embed query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&amp;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2377440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5776" y="1920240"/>
            <a:ext cx="1975104" cy="109728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3054096"/>
            <a:ext cx="1975104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sample frames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&amp; tokens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377440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920240"/>
            <a:ext cx="1975104" cy="109728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054096"/>
            <a:ext cx="1975104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billion-scale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ANNS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2377440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64624" y="1920240"/>
            <a:ext cx="1975104" cy="109728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Candidates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3054096"/>
            <a:ext cx="1975104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ranked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result 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2736" y="3584448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6352" y="3822191"/>
            <a:ext cx="1975104" cy="82296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capability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584448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65776" y="3822191"/>
            <a:ext cx="1975104" cy="82296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visual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evidence gap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583" y="3584448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3822191"/>
            <a:ext cx="1975104" cy="82296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searchability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gap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846320"/>
            <a:ext cx="11119104" cy="82296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85216" y="4946904"/>
            <a:ext cx="82296" cy="59664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" y="4983480"/>
            <a:ext cx="10698480" cy="49377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Modern retrieval fails not because one benchmark is hard, but because different pipeline stages expose different scaling bottlenecks.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Problem Formulation: Embedding-Based Video Retrieval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shared embedding space ranks a corpus by similarity to any query 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10512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" y="1911095"/>
            <a:ext cx="82296" cy="176479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" y="1911095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267712"/>
            <a:ext cx="5111496" cy="141731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Learn an encoder E_θ mapping a query q (text, visual, or composed) and every video v into a shared space, so relevant pairs rank above irrelevant ones and a compact candidate set is returned for downstream ranking.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13632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1208" y="4005072"/>
            <a:ext cx="82296" cy="86868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" y="4005072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Relevance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315968"/>
            <a:ext cx="5056631" cy="55778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0" i="1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s(q → v)  =  cos( E_θ(q),  E_θ(v) 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810512"/>
            <a:ext cx="5513832" cy="315468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0488" y="1911095"/>
            <a:ext cx="82296" cy="295351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9944" y="1911095"/>
            <a:ext cx="516636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Two axes of universality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2267712"/>
            <a:ext cx="5093208" cy="2606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Query format:  Textual (TXT), Composed (CMP), Visual (VIS)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Data domain:  Coarse-grained (CG), Fine-grained (FG), Long-context (LC)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Fine-grained splits:  Spatial (S), Temporal (T), Partial Relevance (PR)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956048"/>
            <a:ext cx="5513832" cy="132588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90488" y="5056632"/>
            <a:ext cx="82296" cy="11247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9944" y="5056632"/>
            <a:ext cx="516636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Why it is hard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5413248"/>
            <a:ext cx="5093208" cy="777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model may excel on one axis (e.g. text–video) yet fail on composed, visual-only, or partially-relevant retrieval — leaderboards hide this.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956048"/>
            <a:ext cx="5532120" cy="132588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21208" y="5056632"/>
            <a:ext cx="82296" cy="1124712"/>
          </a:xfrm>
          <a:prstGeom prst="rect">
            <a:avLst/>
          </a:prstGeom>
          <a:solidFill>
            <a:srgbClr val="556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0664" y="5056632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" y="5413248"/>
            <a:ext cx="5111496" cy="777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Studies 1–2 target text/visual→video retrieval; Study 3 targets web-scale user→item retrieval under the same searchable-signal principle.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Benchmark–Reality Gap Is Structural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Leaderboard conditions differ from deployment along every axis that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539496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BENCHMARK WORLD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47088"/>
            <a:ext cx="521208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PRODUCTION REALITY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95728"/>
            <a:ext cx="1783080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Video length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2304288"/>
            <a:ext cx="3703320" cy="603504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Short clips (10–30 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304288"/>
            <a:ext cx="5376672" cy="603504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Minutes to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127248"/>
            <a:ext cx="1783080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Query 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3035808"/>
            <a:ext cx="3703320" cy="603504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Single type (text)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035808"/>
            <a:ext cx="5376672" cy="603504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Text · image · composed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58768"/>
            <a:ext cx="1783080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Corpus size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3767328"/>
            <a:ext cx="3703320" cy="603504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1K–10K videos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767328"/>
            <a:ext cx="5376672" cy="603504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Billion-scale pools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90288"/>
            <a:ext cx="1783080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Serving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31720" y="4498848"/>
            <a:ext cx="3703320" cy="603504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Offline evaluation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498848"/>
            <a:ext cx="5376672" cy="603504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Sub-10 ms latency budget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413248"/>
            <a:ext cx="11183112" cy="603504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521208" y="5513832"/>
            <a:ext cx="82296" cy="455981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0664" y="5550408"/>
            <a:ext cx="10762488" cy="262123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Each production stage exposes a bottleneck that short-clip benchmarks make invisible.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Three Bottlenecks Structure the Thesis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Representation, observation, and search each need structure-aware scaling.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4" name="Picture 13" descr="thesis-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476" y="1657519"/>
            <a:ext cx="6858000" cy="364427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5360839"/>
            <a:ext cx="3630168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98583"/>
            <a:ext cx="3630168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Capability gaps across query forms &amp; relevance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5360839"/>
            <a:ext cx="3630168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5598583"/>
            <a:ext cx="3630168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Evidence gaps under limited frame/token budgets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5360839"/>
            <a:ext cx="3630168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5598583"/>
            <a:ext cx="3630168" cy="2011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Metric–graph–GPU incompatibility at scale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4256" y="5360839"/>
            <a:ext cx="10972" cy="43891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65592" y="5360839"/>
            <a:ext cx="10972" cy="438912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" y="5945832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964119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Generalizability is the evidence that scaling has addressed the right bottleneck.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Naive Scaling Fails Differently at Each 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More parameters, more frames, or higher offline AUC each hit a different wall.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847088"/>
            <a:ext cx="1677466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0386" y="1847088"/>
            <a:ext cx="2683946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Naive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333" y="1847088"/>
            <a:ext cx="3690426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Why it fails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4760" y="1847088"/>
            <a:ext cx="3131271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Structure-aware fix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267712"/>
            <a:ext cx="1540306" cy="96926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80386" y="2267712"/>
            <a:ext cx="2546786" cy="969264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More params /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generic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64333" y="2267712"/>
            <a:ext cx="3553266" cy="969264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Capability gaps persist even at 8B parameters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54760" y="2267712"/>
            <a:ext cx="3131271" cy="969264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Diagnose → synthesize → curriculum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364991"/>
            <a:ext cx="1540306" cy="96926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80386" y="3364991"/>
            <a:ext cx="2546786" cy="969264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More frames /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64333" y="3364991"/>
            <a:ext cx="3553266" cy="969264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Fine recall barely moves with 16× more frames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54760" y="3364991"/>
            <a:ext cx="3131271" cy="969264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Granularity-aware allocation + distillation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62272"/>
            <a:ext cx="1540306" cy="96926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80386" y="4462272"/>
            <a:ext cx="2546786" cy="969264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Higher offline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metric AUC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64333" y="4462272"/>
            <a:ext cx="3553266" cy="969264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Neural metrics break greedy graph traversal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54760" y="4462272"/>
            <a:ext cx="3131271" cy="969264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Metric–graph–GPU co-design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Three Studies Address Three Pipeline Bottlenecks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Each study delivers a diagnosis, a method, and generalization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28800"/>
            <a:ext cx="363016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1828800"/>
            <a:ext cx="3630168" cy="621792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828800"/>
            <a:ext cx="3630168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1 · Semantic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2615184"/>
            <a:ext cx="3227832" cy="32918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Aft>
                <a:spcPts val="11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UVRB: unified diagnosis, 16 datasets × 14 models</a:t>
            </a:r>
          </a:p>
          <a:p>
            <a:pPr>
              <a:lnSpc>
                <a:spcPct val="102000"/>
              </a:lnSpc>
              <a:spcAft>
                <a:spcPts val="11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V-SynFlow → UVRD: 1.55M capability-targeted pairs</a:t>
            </a:r>
          </a:p>
          <a:p>
            <a:pPr>
              <a:lnSpc>
                <a:spcPct val="102000"/>
              </a:lnSpc>
              <a:spcAft>
                <a:spcPts val="11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GVE: SOTA zero-shot generalization (0.573 / 0.600)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1828800"/>
            <a:ext cx="363016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34256" y="1828800"/>
            <a:ext cx="3630168" cy="621792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34256" y="1828800"/>
            <a:ext cx="3630168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2 · Observational Scaling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615184"/>
            <a:ext cx="3227832" cy="32918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Aft>
                <a:spcPts val="11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MG-LVR: 9,971 queries over 4,844 long videos (706 s)</a:t>
            </a:r>
          </a:p>
          <a:p>
            <a:pPr>
              <a:lnSpc>
                <a:spcPct val="102000"/>
              </a:lnSpc>
              <a:spcAft>
                <a:spcPts val="11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Spatiotemporal scaling laws for frame/token budgets</a:t>
            </a:r>
          </a:p>
          <a:p>
            <a:pPr>
              <a:lnSpc>
                <a:spcPct val="102000"/>
              </a:lnSpc>
              <a:spcAft>
                <a:spcPts val="11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VEterfall: +20% fine-grained at 4–16× efficiency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828800"/>
            <a:ext cx="363016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65592" y="1828800"/>
            <a:ext cx="3630168" cy="621792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65592" y="1828800"/>
            <a:ext cx="3630168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3 · Search Scaling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615184"/>
            <a:ext cx="3227832" cy="32918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Aft>
                <a:spcPts val="11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MUIRML + SCL: search-compatible neural metric</a:t>
            </a:r>
          </a:p>
          <a:p>
            <a:pPr>
              <a:lnSpc>
                <a:spcPct val="102000"/>
              </a:lnSpc>
              <a:spcAft>
                <a:spcPts val="11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HiPANNS: parallel graph traversal on GPU</a:t>
            </a:r>
          </a:p>
          <a:p>
            <a:pPr>
              <a:lnSpc>
                <a:spcPct val="102000"/>
              </a:lnSpc>
              <a:spcAft>
                <a:spcPts val="11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GMP-GR: +20.9% coverage; validated in two A/B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32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3611880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9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246120"/>
            <a:ext cx="16002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3438144"/>
            <a:ext cx="338328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200" b="1" i="0">
                <a:solidFill>
                  <a:srgbClr val="C3D3E6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1 · SEMANTIC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822191"/>
            <a:ext cx="3429000" cy="1554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General Video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Embedding (GVE)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331720"/>
            <a:ext cx="676656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GUIDING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761488"/>
            <a:ext cx="6858000" cy="21031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What capabilities should a video retrieval model possess, and how do we scale toward them?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4800600"/>
            <a:ext cx="6766560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Chapter 3 · submitted to ACM MM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Universal Video Retrieval Requires Capability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Generalization means covering query forms, domains, and relevance types.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28800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1810512"/>
            <a:ext cx="53492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Query formats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194560"/>
            <a:ext cx="5312664" cy="1508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600" b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Textual (TXT) — natural-language prompts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600" b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Composed (CMP) — text + visual reference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600" b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Visual (VIS) — reference frame or clip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1828800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1810512"/>
            <a:ext cx="53492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Domains &amp; relevance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194560"/>
            <a:ext cx="5312664" cy="1508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600" b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Coarse (CG) vs. fine-grained (FG) vs. long-context (LC)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600" b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Fine-grained splits: Spatial (S), Temporal (T)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600" b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Partial Relevance (PR) — only part of a video matches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16752" y="1847088"/>
            <a:ext cx="10972" cy="173736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11183112" cy="105156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1208" y="3849624"/>
            <a:ext cx="82296" cy="850392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" y="384962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trap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4206240"/>
            <a:ext cx="10762488" cy="50291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model can top MSR-VTT yet fail on composed, visual-only, or partially-relevant retrieval — a single leaderboard score hides the capabilities that matter.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37760"/>
            <a:ext cx="11183112" cy="109728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21208" y="5038344"/>
            <a:ext cx="82296" cy="8961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" y="503834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Core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" y="5394960"/>
            <a:ext cx="10762488" cy="548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 means scaling toward broader capability coverage across formats, domains, and relevance types — not merely adding parameters or generic pairs.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UVRB: One Protocol to Diagnose 14 Models on 16 Datasets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standardized diagnostic that measures what a model lacks, not just its rank.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4" name="Picture 13" descr="uv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1828800"/>
            <a:ext cx="10424160" cy="23150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2396" y="4189599"/>
            <a:ext cx="1042416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UVRB unifies 16 public datasets into one evaluation space with six capability labels.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700016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4681728"/>
            <a:ext cx="333756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Unified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065776"/>
            <a:ext cx="3300984" cy="10972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600" b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16 datasets, identical preprocessing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600" b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Frozen embeddings, cosine similarity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600" b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No task-specific fine-tuning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1688" y="4700016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44568" y="4681728"/>
            <a:ext cx="333756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14 baselines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5065776"/>
            <a:ext cx="3300984" cy="10972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600" b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87M → 8.3B parameters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600" b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CLIP- &amp; MLLM-based families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600" b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GME · UNITE · VLM2Vec · UniME · B3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6448" y="4700016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7" y="4681728"/>
            <a:ext cx="333756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Diagnostic 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5065776"/>
            <a:ext cx="3300984" cy="10972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Maps the capability a model is missing — not just its leaderboard rank.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4718304"/>
            <a:ext cx="10972" cy="122529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19288" y="4718304"/>
            <a:ext cx="10972" cy="1225296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UVRB Reveals Structured, Not Random, Capability Gaps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Weaknesses track the training distribution and cluster on the same hard skills.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4" name="Picture 13" descr="uvrb_dual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47088"/>
            <a:ext cx="7955279" cy="40071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5899911"/>
            <a:ext cx="7955279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Per-dataset (left) and per-ability (right) coverage; GVE-7B forms the outer envelope.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1892807"/>
            <a:ext cx="73152" cy="274320"/>
          </a:xfrm>
          <a:prstGeom prst="rect">
            <a:avLst/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3959" y="1874519"/>
            <a:ext cx="288036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GVE-7B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59" y="2258568"/>
            <a:ext cx="2843784" cy="8229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Fills the largest area across both datasets and abilities.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3264408"/>
            <a:ext cx="73152" cy="274320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23959" y="3246120"/>
            <a:ext cx="288036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Shared blind spots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59" y="3630168"/>
            <a:ext cx="2843784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Temporal, composed, and partial-relevance retrieval stay weak across all 14 models — even at 8.3B parameters.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1080" y="5001768"/>
            <a:ext cx="73152" cy="274320"/>
          </a:xfrm>
          <a:prstGeom prst="rect">
            <a:avLst/>
          </a:prstGeom>
          <a:solidFill>
            <a:srgbClr val="C09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23959" y="4983480"/>
            <a:ext cx="288036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Structured, not random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59" y="5367528"/>
            <a:ext cx="2843784" cy="10972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Gaps can be diagnosed and targeted, not scaled away by size.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Three Non-Trivial Capability Gaps Emerge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Diagnosis surfaces one proxy, one decoupling, and one scaling paradox.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10512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1956816"/>
            <a:ext cx="3246120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ρ ≈ 0.97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96896"/>
            <a:ext cx="324612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PR predicts universality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962656"/>
            <a:ext cx="3246120" cy="163677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Partial-relevance retrieval correlates with overall UVR far more than MSR-VTT (ρ ≈ 0.58) — a lightweight universality proxy.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1810512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9704" y="1956816"/>
            <a:ext cx="3246120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ρ ≈ 0.12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2596896"/>
            <a:ext cx="324612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Spatial ⟂ Temporal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2962656"/>
            <a:ext cx="3246120" cy="163677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Spatial and temporal skills are near-independent; temporal drives fine-grained recall (ρ ≈ 0.98), spatial does not (ρ ≈ 0.39).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1810512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1956816"/>
            <a:ext cx="3246120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87M &gt; 8B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596896"/>
            <a:ext cx="324612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Scaling paradox (VIS)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962656"/>
            <a:ext cx="3246120" cy="163677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On visual-only retrieval an 87M CLIP model (0.714) beats an 8B MLLM (0.702) — perceptual breadth over raw capacity.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956048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974336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Bigger is not broader — targeted, diverse data, not parameter count, closes these gaps.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V-SynFlow: Capability-Guided Data Synthesis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three-stage pipeline synthesizes exactly the skills diagnosis flagged as weak.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4" name="Picture 13" descr="v-syn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0512"/>
            <a:ext cx="11183112" cy="261525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02920" y="4480559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462272"/>
            <a:ext cx="344728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① Quality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46320"/>
            <a:ext cx="3410712" cy="9144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Filter web video by quality, cross-modal consistency, and temporal dynamics.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4256" y="4480559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17136" y="4462272"/>
            <a:ext cx="344728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② Information enrichment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4846320"/>
            <a:ext cx="3410712" cy="9144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MLLM captioning skewed to under-represented temporal &amp; spatial skills.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65592" y="4480559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2" y="4462272"/>
            <a:ext cx="344728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③ Task extension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4846320"/>
            <a:ext cx="3410712" cy="9144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Synthesize composed and visual tasks covering all UVRB dimensions.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4498848"/>
            <a:ext cx="10972" cy="109728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19288" y="4498848"/>
            <a:ext cx="10972" cy="109728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21207" y="5961888"/>
            <a:ext cx="1463040" cy="177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044183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Capability-skewed synthesis — 60% temporal · 30% spatial · 10% partial/abstract — targets diagnosed gaps.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UVRD Is Capability-Targeted, Not Merely Large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1.55M synthetic pairs, skewed to diagnosed gaps and audited for quality.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10512"/>
            <a:ext cx="2761488" cy="233172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1956816"/>
            <a:ext cx="2395728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1.55M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96896"/>
            <a:ext cx="2395728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Training pairs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962656"/>
            <a:ext cx="2395728" cy="108813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multi-task corpus built for the capabilities models actually lack.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2424" y="1810512"/>
            <a:ext cx="2761488" cy="233172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3592" y="1956816"/>
            <a:ext cx="2395728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596896"/>
            <a:ext cx="2395728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Sample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2962656"/>
            <a:ext cx="2395728" cy="108813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Factual accuracy on a 100-sample human audit; downstream gains confirm quality at scale.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1810512"/>
            <a:ext cx="2761488" cy="233172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3096" y="1956816"/>
            <a:ext cx="2395728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60/30/10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2596896"/>
            <a:ext cx="2395728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Gap-targeted skew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2962656"/>
            <a:ext cx="2395728" cy="108813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Temporal / spatial / partial-abstract emphasis over generic coverage.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9171432" y="1810512"/>
          <a:ext cx="2514600" cy="2353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9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UVRD task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T2V  text→video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879K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T2I  text→image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210K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I2V  image→video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200K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T2T / TI2V / TV2V / V2V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260K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02920" y="4315968"/>
            <a:ext cx="11183112" cy="100584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21208" y="4416552"/>
            <a:ext cx="82296" cy="80467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" y="4416552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Design principle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" y="4773168"/>
            <a:ext cx="10762488" cy="262123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Skew beats naive scale: UVRD is not the largest corpus, but the most effective for filling the capability gaps UVRB diagnosed.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GVE: A Unified Embedding Trained by Contrastive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One Qwen2.5-VL backbone maps every query form into a shared retrieval space.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4" name="Picture 13" descr="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0512"/>
            <a:ext cx="7680960" cy="25124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4368675"/>
            <a:ext cx="768096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GVE encodes text, image, video, and composed queries into one aligned embedding 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10512"/>
            <a:ext cx="3319272" cy="150876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85048" y="1911095"/>
            <a:ext cx="82296" cy="130759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04504" y="1911095"/>
            <a:ext cx="29718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Backbone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504" y="2267712"/>
            <a:ext cx="2898648" cy="96011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Qwen2.5-VL MLLM; parameter-efficient LoRA fine-tuning; last-token pooling + ℓ2 norm.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429000"/>
            <a:ext cx="3319272" cy="141732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85048" y="3520440"/>
            <a:ext cx="82296" cy="123444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04504" y="3520440"/>
            <a:ext cx="295351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Symmetric InfoNCE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4504" y="3831336"/>
            <a:ext cx="2843784" cy="9235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500" b="0" i="1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ℒ = −log  exp(s⁺/τ)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———————————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Σ exp(s/τ) + Σ exp(s⁻/τ)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4956048"/>
            <a:ext cx="3319272" cy="128016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85048" y="5056632"/>
            <a:ext cx="82296" cy="1078992"/>
          </a:xfrm>
          <a:prstGeom prst="rect">
            <a:avLst/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04504" y="5056632"/>
            <a:ext cx="29718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Objective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4504" y="5413248"/>
            <a:ext cx="2898648" cy="73151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Align matched pairs against in-batch + mined hard negatives (τ = 0.03), symmetrized q↔v.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Modality Pyramid Curriculum Stabilizes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difficulty-ordered schedule prevents gradient interference across tasks.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4" name="Picture 13" descr="modality-pyra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0512"/>
            <a:ext cx="4572000" cy="40118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5868086"/>
            <a:ext cx="4572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Pyramid: easy atomic alignment → text-video → composed retrieval.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810512"/>
            <a:ext cx="6382512" cy="141732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21807" y="1911095"/>
            <a:ext cx="82296" cy="121615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41264" y="1911095"/>
            <a:ext cx="60350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Bottom-up curriculum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1264" y="2267712"/>
            <a:ext cx="5961888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Text–image alignment → text–video matching → composed video retrieval, building capability incrementally rather than mixing all tasks at once.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3337560"/>
            <a:ext cx="6382512" cy="160020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21807" y="3429000"/>
            <a:ext cx="82296" cy="1417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41264" y="3429000"/>
            <a:ext cx="601675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Alignment-aware dynamic scheduling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3739896"/>
            <a:ext cx="5907024" cy="11064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800" b="0" i="1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P⁽ᵗ⁾(k)  ∝  exp( R_k⁽ᵗ⁾ / σ(t) ),    R_k = (1/Nₚ) Σ cos( Ψ(xᵢ), Ψ(yᵢ) 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5047488"/>
            <a:ext cx="6382512" cy="1131494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21807" y="5148071"/>
            <a:ext cx="82296" cy="89441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41264" y="5148072"/>
            <a:ext cx="60350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1264" y="5504688"/>
            <a:ext cx="5961888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prober Ψ scores per-task alignment; temperature σ(t) rises 0.1→1.0 across epochs, shifting sampling from easy to hard tasks.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GVE Improves Zero-Shot Retrieval Generalization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New SOTA on both dataset-level and ability-level averages across 16 datasets.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810512"/>
          <a:ext cx="5989318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7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Dataset AVG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Ability AVG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CLIP4Clip (87M)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Unite-7B (prev. best)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0.538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0.559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GVE-3B (ours, 3.8B)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GVE-7B (ours, 8.3B)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0.573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0.600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720840" y="1810512"/>
            <a:ext cx="2395728" cy="233172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22007" y="1956816"/>
            <a:ext cx="2029968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+6.5%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7" y="2596896"/>
            <a:ext cx="2029968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Dataset AVG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7" y="2962656"/>
            <a:ext cx="2029968" cy="108813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vs Unite-7B, over 16 datasets.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0304" y="1810512"/>
            <a:ext cx="2395728" cy="233172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91472" y="1956816"/>
            <a:ext cx="2029968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+7.3%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2596896"/>
            <a:ext cx="2029968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Ability AVG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2962656"/>
            <a:ext cx="2029968" cy="108813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vs Unite-7B, over 8 abilities.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61104"/>
            <a:ext cx="11183112" cy="1170432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1208" y="4361688"/>
            <a:ext cx="82296" cy="9692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4361688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Efficiency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" y="4718304"/>
            <a:ext cx="10762488" cy="62179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GVE-3B (3.8B) already outperforms the larger Unite-7B — data quality beats parameter count, while GVE-7B remains the strongest variant.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596128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614416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Capability-targeted data lifts a smaller model above a larger baseline.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Where the Gains Come From: Ability Breakdown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GVE-7B leads on the hard skills UVRB flagged, while staying competitive elsewhere.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810512"/>
          <a:ext cx="6720840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4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Ability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Unite-7B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GVE-7B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Δ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Text (TXT)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+0.048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Composed (CMP)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0.254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0.312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+0.058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Long-context (LC)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+0.068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Temporal (T)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0.412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0.469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+0.057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Fine-grained (FG)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+0.031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Visual-only (VIS)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0.666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0.657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−0.009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406640" y="1810512"/>
            <a:ext cx="4279392" cy="160020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24927" y="1911095"/>
            <a:ext cx="82296" cy="139903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44383" y="1911095"/>
            <a:ext cx="393192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Largest gains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3" y="2267712"/>
            <a:ext cx="3858768" cy="10515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Composed, long-context, and temporal — exactly the capabilities diagnosis identified as under-served.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529584"/>
            <a:ext cx="4279392" cy="1709928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24927" y="3630168"/>
            <a:ext cx="82296" cy="1508760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44383" y="3630168"/>
            <a:ext cx="393192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Honest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383" y="3986783"/>
            <a:ext cx="3858768" cy="116128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Visual-only retrieval stays flat: the scaling-paradox skill where a compact CLIP encoder remains hard to beat.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5989320"/>
            <a:ext cx="1463040" cy="177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071616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Targeted synthesis raises the diagnosed weak skills without sacrificing the strong ones.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UVRD and Curriculum Provide Complementary Gains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Targeted data and ordered training each contribute; together they compound.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810512"/>
          <a:ext cx="7360920" cy="19926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44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3B variant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Dataset AVG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Ability AVG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Composed (CMP)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GVE-i  (public data)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0.237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GVE-s  (+ UVRD)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0.537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0.564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0.301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GVE  (+ Modality Pyramid)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0.544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0.571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0.304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46720" y="1810512"/>
            <a:ext cx="3639312" cy="196596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56816"/>
            <a:ext cx="3273552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+27%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96896"/>
            <a:ext cx="327355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on Composed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962656"/>
            <a:ext cx="3273552" cy="72237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Relative CMP gain from adding UVRD (0.237 → 0.301).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77639"/>
            <a:ext cx="11183112" cy="1145795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1208" y="4078224"/>
            <a:ext cx="82296" cy="9719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407822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Reading the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4434840"/>
            <a:ext cx="10762488" cy="51328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UVRD lifts overall R@1 by +2.3% and composed retrieval by +27% relative; the Modality Pyramid curriculum adds further ordering gains on top — diagnosis → data → curriculum is additive.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5989320"/>
            <a:ext cx="1463040" cy="177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071616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Each component targets a distinct part of the semantic bottleneck.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Correlation Analysis Explains the Capability 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Partial relevance predicts universality; spatial and temporal skills are decoupled.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4" name="Picture 13" descr="corr_ability_and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1810512"/>
            <a:ext cx="10058400" cy="24568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65276" y="4313089"/>
            <a:ext cx="100584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Correlation of each ability with overall UVR performance (and with training-data mix).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73168"/>
            <a:ext cx="3630168" cy="132588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1208" y="4873752"/>
            <a:ext cx="82296" cy="112471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" y="4873752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PR ↔ universality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5230368"/>
            <a:ext cx="3209544" cy="777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Partial-relevance retrieval has the highest correlation with overall UVR (ρ ≈ 0.97).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4773168"/>
            <a:ext cx="3630168" cy="132588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79" y="4873752"/>
            <a:ext cx="82296" cy="112471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17136" y="4873752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Spatial ⟂ Temporal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5230368"/>
            <a:ext cx="3209544" cy="777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Spatial and temporal abilities correlate only ρ ≈ 0.12 — learned separately.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5864" y="4773168"/>
            <a:ext cx="3630168" cy="132588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74152" y="4873752"/>
            <a:ext cx="82296" cy="112471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3608" y="4873752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Temporal → fine-grained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5230368"/>
            <a:ext cx="3209544" cy="777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Temporal ability drives fine-grained recall (ρ ≈ 0.98); spatial does not (ρ ≈ 0.39).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GVE Transfers to Zero-Shot Video Classification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retrieval embedding generalizes to classification with no task-specific tuning.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810512"/>
          <a:ext cx="6720839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66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Zero-shot classification AVG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GVE-3B (ours)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Unite-7B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0.519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InternVideo2-6B (video specialist)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GVE-7B (ours)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0.526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406640" y="1810512"/>
            <a:ext cx="4279392" cy="109728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24927" y="1911095"/>
            <a:ext cx="82296" cy="89611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44383" y="1911095"/>
            <a:ext cx="393192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3" y="2267712"/>
            <a:ext cx="3858768" cy="548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GVE-7B matches a specialist 6B video model, zero-shot.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035808"/>
            <a:ext cx="4279392" cy="1106424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24927" y="3136391"/>
            <a:ext cx="82296" cy="905256"/>
          </a:xfrm>
          <a:prstGeom prst="rect">
            <a:avLst/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44383" y="3136391"/>
            <a:ext cx="393192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383" y="3493008"/>
            <a:ext cx="3858768" cy="5577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Retrieval-trained geometry is genuinely general, not benchmark-specific.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15968"/>
            <a:ext cx="11183112" cy="114300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1208" y="4416552"/>
            <a:ext cx="82296" cy="914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4416552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Reading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" y="4773168"/>
            <a:ext cx="10762488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Averaged over K700, UCF101, HMDB51, SSV2, and Breakfast: capability-guided retrieval training yields embeddings that transfer beyond retrieval itself.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1 Takeaway: Capability-Guided Semantic Scaling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Scaling begins with diagnosis: build and train for the capabilities the model lacks.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011680"/>
            <a:ext cx="2615184" cy="100584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Diagnose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(UVRB)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2331720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432" y="2011680"/>
            <a:ext cx="2615184" cy="100584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Synthesize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(V-SynFlow → UVRD)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2331720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2011680"/>
            <a:ext cx="2615184" cy="100584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Curriculum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(Modality Pyramid)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331720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39" y="2011680"/>
            <a:ext cx="2615184" cy="1005840"/>
          </a:xfrm>
          <a:prstGeom prst="roundRect">
            <a:avLst>
              <a:gd name="adj" fmla="val 8000"/>
            </a:avLst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Generalize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(GVE)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429000"/>
            <a:ext cx="11183112" cy="132588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1208" y="3529584"/>
            <a:ext cx="82296" cy="1124712"/>
          </a:xfrm>
          <a:prstGeom prst="rect">
            <a:avLst/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" y="352958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3886200"/>
            <a:ext cx="10762488" cy="777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GVE reaches 0.573 dataset-AVG and 0.600 ability-AVG (SOTA zero-shot across 16 datasets), with GVE-3B already beating the 7B baseline.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74920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093207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Semantic scaling needs capability diagnosis, not just more parameters or data.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32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3611880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9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246120"/>
            <a:ext cx="16002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3438144"/>
            <a:ext cx="338328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200" b="1" i="0">
                <a:solidFill>
                  <a:srgbClr val="C3D3E6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2 · OBSERVATIONAL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822191"/>
            <a:ext cx="3429000" cy="1554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MG-LVR &amp;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VEterfall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331720"/>
            <a:ext cx="676656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GUIDING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761488"/>
            <a:ext cx="6858000" cy="21031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What visual evidence should be observed, under limited frame and token budgets?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4800600"/>
            <a:ext cx="6766560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Chapter 4 · submitted to ECCV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Video Embedding Can Only Represent What It Observes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For long videos, frame sampling is part of retrieval — not a preprocessing detail.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606040"/>
            <a:ext cx="10515600" cy="658368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9525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258568"/>
            <a:ext cx="36576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one 706-second video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53895" y="2660904"/>
            <a:ext cx="45720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26080" y="2660904"/>
            <a:ext cx="45720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98264" y="2660904"/>
            <a:ext cx="45720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70448" y="2660904"/>
            <a:ext cx="45720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25128" y="2660904"/>
            <a:ext cx="45720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497312" y="2660904"/>
            <a:ext cx="45720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47788" y="2441448"/>
            <a:ext cx="82296" cy="987552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3348" y="2039112"/>
            <a:ext cx="256032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relevant moment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55848"/>
            <a:ext cx="105156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gold = sampled frames    ·    red = the few relevant seconds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931920"/>
            <a:ext cx="10515600" cy="859536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1248" y="4032504"/>
            <a:ext cx="82296" cy="679443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4069080"/>
            <a:ext cx="10094976" cy="72237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If the relevant moment is never sampled, retrieval fails before modeling even begins — and encoding every frame of an hour-long video is infeasible.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029200"/>
            <a:ext cx="10515600" cy="1105408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1248" y="5129784"/>
            <a:ext cx="82296" cy="88432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0704" y="5129784"/>
            <a:ext cx="1016812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Open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5486400"/>
            <a:ext cx="10094976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How does sampling density interact with query granularity? Standard benchmarks never isolate this, so it has stayed unmeasured — the gap MG-LVR fills.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Granularity Defines How Much Evidence a Query Needs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 is the fraction of a video that is relevant — from one moment to the whole clip.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10512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" y="1901952"/>
            <a:ext cx="82296" cy="91440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" y="1901952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Temporal granularity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212848"/>
            <a:ext cx="5056631" cy="60350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0" i="1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  =  | S(v*, q) |  /  d_video     ∈  (0, 1]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695" y="3175606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0983" y="3267046"/>
            <a:ext cx="82296" cy="91440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439" y="3267046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Temporal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439" y="3577942"/>
            <a:ext cx="5056631" cy="60350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0" i="1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  =  Σ (eᵢ − sᵢ)  /  (e_k − s₁)     ∈  (0, 1]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695" y="4526280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0983" y="4626864"/>
            <a:ext cx="82296" cy="121615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439" y="4626864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Reading the definitions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439" y="4983480"/>
            <a:ext cx="5111496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 measures how localized the evidence is; C measures whether it is one contiguous event or scattered across the video.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892807"/>
            <a:ext cx="228600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Fine (FN)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258568"/>
            <a:ext cx="2377440" cy="51206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brief moment · G ∈ [0.001, 0.01]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1929384"/>
            <a:ext cx="2953512" cy="475488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9525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732520" y="1929384"/>
            <a:ext cx="354421" cy="475488"/>
          </a:xfrm>
          <a:prstGeom prst="roundRect">
            <a:avLst>
              <a:gd name="adj" fmla="val 8000"/>
            </a:avLst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2852927"/>
            <a:ext cx="228600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Medium (MD)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218687"/>
            <a:ext cx="2377440" cy="51206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several segments · G ∈ [0.1, 0.3]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32520" y="2889503"/>
            <a:ext cx="2953512" cy="475488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9525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732520" y="2889503"/>
            <a:ext cx="1329080" cy="475488"/>
          </a:xfrm>
          <a:prstGeom prst="roundRect">
            <a:avLst>
              <a:gd name="adj" fmla="val 8000"/>
            </a:avLst>
          </a:prstGeom>
          <a:solidFill>
            <a:srgbClr val="C09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3813047"/>
            <a:ext cx="228600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Coarse (CR)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178807"/>
            <a:ext cx="2377440" cy="51206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broad, video-level coverage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32520" y="3849623"/>
            <a:ext cx="2953512" cy="475488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9525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732520" y="3849623"/>
            <a:ext cx="2717231" cy="475488"/>
          </a:xfrm>
          <a:prstGeom prst="roundRect">
            <a:avLst>
              <a:gd name="adj" fmla="val 8000"/>
            </a:avLst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263640" y="4846320"/>
            <a:ext cx="5422392" cy="109728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81927" y="4946904"/>
            <a:ext cx="82296" cy="8961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01383" y="4946904"/>
            <a:ext cx="507492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Why it matters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1383" y="5303520"/>
            <a:ext cx="5001768" cy="548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Granularity sets the frame/token budget a query truly needs — coarse and fine queries want opposite allocations.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MG-LVR: A Multi-Granularity Long-Video Benchmark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long-video benchmark that varies query granularity under controlled sampling.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10512"/>
            <a:ext cx="2761488" cy="214884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1956816"/>
            <a:ext cx="2395728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9,971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96896"/>
            <a:ext cx="2395728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962656"/>
            <a:ext cx="2395728" cy="9052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Fine 4,706 · Medium 4,142 · Coarse 1,123.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2424" y="1810512"/>
            <a:ext cx="2761488" cy="214884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3592" y="1956816"/>
            <a:ext cx="2395728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4,844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596896"/>
            <a:ext cx="2395728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Long videos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2962656"/>
            <a:ext cx="2395728" cy="9052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Average duration ≈ 706 s — genuinely long-form.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1810512"/>
            <a:ext cx="2761488" cy="214884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3096" y="1956816"/>
            <a:ext cx="2395728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2596896"/>
            <a:ext cx="2395728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2962656"/>
            <a:ext cx="2395728" cy="9052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6 CLIP-based + 17 MLLM-based, one protocol.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71432" y="1810512"/>
            <a:ext cx="2514600" cy="214884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72600" y="1956816"/>
            <a:ext cx="2148840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96%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596896"/>
            <a:ext cx="214884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Audited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962656"/>
            <a:ext cx="2148840" cy="9052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Human-validated on 50 pairs.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02920" y="4114800"/>
          <a:ext cx="11183109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31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9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9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0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Benchmark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#Query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#Corpus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Avg dur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Granularity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MSR-VTT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15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Coarse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ActivityNet Cap.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18,000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4,917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118 s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FN, MD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LoVR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467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1,560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Coarse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MG-LVR (ours)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9,971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4,844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706 s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All + both C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Fine-Grained Retrieval Exposes the Observation Bottleneck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Under sparse sampling, coarse queries are easy and fine queries collapse.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10512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029968"/>
            <a:ext cx="544068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60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0.856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27248"/>
            <a:ext cx="544068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20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Coarse R@1  ·  8 frames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84448"/>
            <a:ext cx="544068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broad themes are easy to 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810512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45352" y="2029968"/>
            <a:ext cx="544068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60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0.210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3127248"/>
            <a:ext cx="544068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20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Fine R@1  ·  8 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584448"/>
            <a:ext cx="5440680" cy="40233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&gt; 75% drop — evidence is missed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4279392"/>
          <a:ext cx="7863838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89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7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7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Best model (Qwen3-VL-Emb-8B)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Coarse R@1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Fine R@1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8 frames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128 frames  (16× more)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0.903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0.287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8503920" y="4279392"/>
            <a:ext cx="3182112" cy="114300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22208" y="4379976"/>
            <a:ext cx="82296" cy="941832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41664" y="4416552"/>
            <a:ext cx="2761488" cy="9052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16× more frames lifts fine R@1 by &lt; 8 points — naive frame scaling cannot close the gap.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77840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596127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Fine-grained retrieval fails under sparse sampling and barely recovers with more frames.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Temporal Scaling Is Architecture-Dependent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MLLMs keep improving with frames; CLIP-style models saturate, then degrade.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4" name="Picture 13" descr="mglvr_testtime_temporal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0512"/>
            <a:ext cx="11183112" cy="22345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4090783"/>
            <a:ext cx="11183112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Test-time R@1 vs. frame count, by architecture family.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98039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1208" y="4498623"/>
            <a:ext cx="82296" cy="121615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" y="4498623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MLLM-based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855239"/>
            <a:ext cx="5111496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Improve up to ~128 frames — useful for fine-grained queries that need dense temporal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4398039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4498623"/>
            <a:ext cx="82296" cy="1216152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1656" y="4498623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CLIP-based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4855239"/>
            <a:ext cx="5111496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Saturate near 16 frames, then degrade: mean-pooling dilutes the signal as frames grow.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7" y="5989320"/>
            <a:ext cx="1463040" cy="177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071616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More frames help only architectures that can actually use them.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Fixed Token Budgets Require Granularity-Aware Allocation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Under a fixed budget N = F × T, coarse and fine queries prefer opposite splits.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4" name="Picture 13" descr="st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0512"/>
            <a:ext cx="11183112" cy="22386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4094925"/>
            <a:ext cx="11183112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Spatial–temporal trade-off at fixed token budget across query granularities.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98039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1208" y="4498623"/>
            <a:ext cx="82296" cy="1216152"/>
          </a:xfrm>
          <a:prstGeom prst="rect">
            <a:avLst/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" y="4498623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Coarse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855239"/>
            <a:ext cx="5111496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Prefer high spatial resolution with fewer frames — scene-level cues dominate.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4398039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4498623"/>
            <a:ext cx="82296" cy="121615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1656" y="4498623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Fine-grained queries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4855239"/>
            <a:ext cx="5111496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Prefer more frames over spatial detail — temporal coverage locates the moment.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7" y="5989320"/>
            <a:ext cx="1463040" cy="177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071616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Spatial and temporal tokens are not interchangeable; allocation must follow granularity.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Training Choices Constrain What Inference Can Recover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Two training-time laws: resolution transfers, but frame count is anchored.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10512"/>
            <a:ext cx="5532120" cy="242316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" y="1911095"/>
            <a:ext cx="82296" cy="2221991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" y="1911095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Resolution robustness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267712"/>
            <a:ext cx="5111496" cy="187451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Training at high spatial resolution transfers to low-resolution inference — models trained at 400 tokens still lead when tested at 50 tokens.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1810512"/>
            <a:ext cx="5532120" cy="242316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911095"/>
            <a:ext cx="82296" cy="2221991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1911095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Frame-count anchoring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267712"/>
            <a:ext cx="5111496" cy="187451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Temporal ability peaks when the inference frame count matches training; a train-32 / test-4 mismatch loses fine-grained recall, and vice-versa.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89120"/>
            <a:ext cx="11183112" cy="132588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1208" y="4489704"/>
            <a:ext cx="82296" cy="11247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" y="448970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Consequence for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" y="4846320"/>
            <a:ext cx="10762488" cy="777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Efficient serving demands sparse inference, yet anchoring ties fine-grained skill to dense training — motivating an explicit dense-to-sparse transfer method (VEterfall).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7" y="5989320"/>
            <a:ext cx="1463040" cy="177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071616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Sparse inference must inherit dense-trained temporal skill — not relearn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VEterfall: Dense-to-Sparse Self-Distillation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cascade transfers temporal knowledge down the sampling-density axis.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4" name="Picture 13" descr="d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47088"/>
            <a:ext cx="6126480" cy="3063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4956048"/>
            <a:ext cx="612648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Dense-to-sparse cascade: temporal knowledge distilled to progressively fewer frames and tokens.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1920240"/>
            <a:ext cx="4873752" cy="123444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30568" y="2011680"/>
            <a:ext cx="82296" cy="105156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0024" y="2011680"/>
            <a:ext cx="450799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Per-step distillation 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2322576"/>
            <a:ext cx="4398264" cy="7406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800" b="0" i="1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ℒ  =  MSE( zₛ , zₜ )  +  λ · InfoNCE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3346704"/>
            <a:ext cx="4873752" cy="1719072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30568" y="3447288"/>
            <a:ext cx="82296" cy="15179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0024" y="3447288"/>
            <a:ext cx="452628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Learn dense, deploy sparse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3803904"/>
            <a:ext cx="4453128" cy="1170431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Skill for low-density inference is latent in dense models but does not transfer automatically — VEterfall distills it explicitly, one step at a time (λ = 0.5, K = 2, 16× fewer tokens).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7" y="5989320"/>
            <a:ext cx="1463040" cy="177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071616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architecture is unchanged; only observation density decreases.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VEterfall Recovers Fine-Grained Sparse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Large fine-grained gains at the tightest budget, over the sparse baseline.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810512"/>
          <a:ext cx="7360919" cy="1965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9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Model  ·  4F–100T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Overall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Fine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Medium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Coarse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V⁰  (sparse baseline)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0.132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V¹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0.300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0.130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0.394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0.664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V²  (VEterfall)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0.325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0.158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0.423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0.667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46720" y="1810512"/>
            <a:ext cx="3639312" cy="196596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956816"/>
            <a:ext cx="3273552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+20%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596896"/>
            <a:ext cx="327355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Fine R@1 (relative)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962656"/>
            <a:ext cx="3273552" cy="722375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0.132 → 0.158 at 4F–100T, over the sparse baseline.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77639"/>
            <a:ext cx="11183112" cy="132588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1208" y="4078224"/>
            <a:ext cx="82296" cy="11247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407822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Reading the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4434840"/>
            <a:ext cx="10762488" cy="777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+20% relative fine-grained gain is measured over the sparse baseline (V⁰) at the same 4F–100T budget: VEterfall improves sparse inference by transferring dense knowledge at 4–16× efficiency — not by outperforming the dense teacher directly.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413248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431536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Dense-trained temporal skill is recovered under a 16× smaller token budget.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Spatial Resolution Helps Most When Frames Are Scarce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Spatial and temporal budgets are complementary, not interchangeable.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4" name="Picture 13" descr="mglvr_testtime_spatial_scaling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76" y="1719072"/>
            <a:ext cx="7315200" cy="2236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36876" y="4001101"/>
            <a:ext cx="73152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Test-time R@1 vs. spatial tokens per frame, by frame 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26280"/>
            <a:ext cx="5532120" cy="123444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1208" y="4626864"/>
            <a:ext cx="82296" cy="103327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" y="4626864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Low frame counts (F ≤ 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983480"/>
            <a:ext cx="5111496" cy="6858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Spatial resolution is critical — more tokens per frame recover detail sparse frames miss.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4526280"/>
            <a:ext cx="5532120" cy="123444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4626864"/>
            <a:ext cx="82296" cy="1033272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1656" y="4626864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High frame counts (F &gt; 32)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4983480"/>
            <a:ext cx="5111496" cy="6858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Extra spatial tokens add little; coarse queries can even suffer token redundancy.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7" y="5989320"/>
            <a:ext cx="1463040" cy="177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071616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Spend spatial detail when frames are scarce; spend frames when the query is fine-grained.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2 Takeaway: Observation-Aware Retrieval Scaling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MG-LVR reveals the bottleneck; scaling laws explain it; VEterfall intervenes.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01168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Measure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(MG-LVR)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8" y="2331720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201168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Explain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(scaling laws)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331720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201168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Intervene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(VEterfall)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29000"/>
            <a:ext cx="11183112" cy="132588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1208" y="3529584"/>
            <a:ext cx="82296" cy="1124712"/>
          </a:xfrm>
          <a:prstGeom prst="rect">
            <a:avLst/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352958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3886200"/>
            <a:ext cx="10762488" cy="777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Fine-grained retrieval drops &gt; 75% under sparse sampling; VEterfall recovers +20% at 4–16× efficiency by transferring dense knowledge to sparse inference.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74920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093207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Observational scaling needs granularity-aware evidence acquisition, not just more frames.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32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3611880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9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246120"/>
            <a:ext cx="16002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3438144"/>
            <a:ext cx="338328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200" b="1" i="0">
                <a:solidFill>
                  <a:srgbClr val="C3D3E6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3 · SEARCH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3822191"/>
            <a:ext cx="3429000" cy="1554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GMP-GR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331720"/>
            <a:ext cx="676656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GUIDING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761488"/>
            <a:ext cx="6858000" cy="21031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How can a learned retrieval signal be searched at deployment scale?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4800600"/>
            <a:ext cx="6766560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Chapter 5 · published at ACM Web Conference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Web-Scale Retrieval: Reduce Billions to a Searchable Candidate 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Deployment must return the top candidates under strict latency, from a huge corpus.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874519"/>
            <a:ext cx="1975104" cy="96012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Billion-scale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corpus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167127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6352" y="1874519"/>
            <a:ext cx="1975104" cy="96012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Learned metric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δ(u, 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167127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1874519"/>
            <a:ext cx="1975104" cy="96012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Graph traversal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(ANNS)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167127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874519"/>
            <a:ext cx="1975104" cy="96012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GPU serving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&lt; 10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2167127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64624" y="1874519"/>
            <a:ext cx="1975104" cy="960120"/>
          </a:xfrm>
          <a:prstGeom prst="roundRect">
            <a:avLst>
              <a:gd name="adj" fmla="val 8000"/>
            </a:avLst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Candidate set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~10³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154680"/>
            <a:ext cx="5532120" cy="10515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5216" y="3246120"/>
            <a:ext cx="82296" cy="86868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246120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objective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557016"/>
            <a:ext cx="5056631" cy="55778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700" b="0" i="1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Vᵤ*  =  arg max   Σ  δ(u, v)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over candidate sets  Vᵤ ⊆ V ,   v ∈ Vᵤ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154680"/>
            <a:ext cx="5422392" cy="132588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81927" y="3255264"/>
            <a:ext cx="82296" cy="1124712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01383" y="3255264"/>
            <a:ext cx="507492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catch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3" y="3611880"/>
            <a:ext cx="5001768" cy="777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more accurate neural metric δ is worthless if it cannot be searched: expressive metrics can violate the regularity graph traversal relies 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626864"/>
            <a:ext cx="11119104" cy="100584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5216" y="4727448"/>
            <a:ext cx="82296" cy="80467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4727448"/>
            <a:ext cx="10771632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Reframing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084064"/>
            <a:ext cx="10698480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3 is search scaling for a learned signal — making accuracy compatible with graph and GPU execution. (Here queries are users and items; the searchable-signal principle is the same as for video.)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 Couples Metric, Graph, and GPU Bottlenecks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Isolated optimization of any one component cannot deliver end-to-end efficiency.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10512"/>
            <a:ext cx="3630168" cy="246888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" y="1911095"/>
            <a:ext cx="82296" cy="2267712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" y="1911095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Metric bottleneck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267712"/>
            <a:ext cx="3209544" cy="1920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neural metric captures multi-relational user behavior but can break search regularity.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1810512"/>
            <a:ext cx="3630168" cy="246888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52544" y="1911095"/>
            <a:ext cx="82296" cy="2267712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1911095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Graph bottleneck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267712"/>
            <a:ext cx="3209544" cy="1920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Metrics that violate the triangle inequality trap greedy HNSW traversal in local optima.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810512"/>
            <a:ext cx="3630168" cy="246888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83880" y="1911095"/>
            <a:ext cx="82296" cy="2267712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03336" y="1911095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GPU bottleneck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2267712"/>
            <a:ext cx="3209544" cy="1920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Irregular neural ops trigger many kernel launches; high concurrency underutilizes the GPU.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80560"/>
            <a:ext cx="11183112" cy="114300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21208" y="4581144"/>
            <a:ext cx="82296" cy="94183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" y="458114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Why co-design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" y="4937760"/>
            <a:ext cx="10762488" cy="5943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three bottlenecks are intertwined: a searchable metric, a broader graph search, and GPU-aware execution must be designed together — GMP-GR does exactly this.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Expressive Neural Metrics Can Break Graph Traversal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Greedy graph search relies on distance regularity that neural metrics may violate.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10512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" y="1911095"/>
            <a:ext cx="82296" cy="2130551"/>
          </a:xfrm>
          <a:prstGeom prst="rect">
            <a:avLst/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" y="1911095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Regular (Euclidean)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267712"/>
            <a:ext cx="5111496" cy="178307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triangle inequality holds, so every greedy hop provably moves closer to the target — graph traversal reaches the true nearest neighbors.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1810512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911095"/>
            <a:ext cx="82296" cy="2130551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1911095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Expressive neural 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267712"/>
            <a:ext cx="5111496" cy="178307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Ranking can be inconsistent with distance, so greedy traversal stalls in local optima and misses relevant items — accuracy gains are lost at search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15968"/>
            <a:ext cx="5532120" cy="100584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1208" y="4407407"/>
            <a:ext cx="82296" cy="82296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" y="4407407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Triangle inequality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" y="4718304"/>
            <a:ext cx="5056631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0" i="1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d(a, c)  ≤  d(a, b)  +  d(b, c)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3912" y="4315968"/>
            <a:ext cx="5532120" cy="109728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4416552"/>
            <a:ext cx="82296" cy="8961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91656" y="4416552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fix (SCL)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4773168"/>
            <a:ext cx="5111496" cy="548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Transplant Euclidean ranking regularity into the learned metric — accuracy and searchability hold together.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541264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559551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Better offline relevance is useless unless the signal stays searchable.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GMP-GR Co-Designs Metric, Graph, and GPU Execution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One framework aligns learned relevance with graph search and GPU serving.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4" name="Picture 13" descr="GMP-G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55648"/>
            <a:ext cx="9144000" cy="35490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02920" y="5458968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5440680"/>
            <a:ext cx="344728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① Metric — MUIRML + SCL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24728"/>
            <a:ext cx="3410712" cy="6583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Accurate and searchable: SCL enforces rank–distance consistency.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4256" y="5458968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17136" y="5440680"/>
            <a:ext cx="344728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② Graph — C-HiPANNS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5824728"/>
            <a:ext cx="3410712" cy="6583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Multi-seed parallel traversal widens the search space, escaping traps.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65592" y="5458968"/>
            <a:ext cx="73152" cy="2743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2" y="5440680"/>
            <a:ext cx="344728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③ GPU — Q-HiPANNS +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5824728"/>
            <a:ext cx="3410712" cy="6583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Query batching, compilation, and quantization cut latency.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5477256"/>
            <a:ext cx="10972" cy="82296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19288" y="5477256"/>
            <a:ext cx="10972" cy="82296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MUIRML and the Self-Covariant Loss Make Relevance Searchable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multi-relational metric, regularized to preserve graph-search regularity.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10512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" y="1911095"/>
            <a:ext cx="82296" cy="203911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" y="1911095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MUIRML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267712"/>
            <a:ext cx="5111496" cy="1691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lightweight DNN predicts a multi-interaction relevance δ(u, v) from concatenated user/item features (with a serendipity term), capturing behaviors a single dot-product cannot.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1810512"/>
            <a:ext cx="5532120" cy="224028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901952"/>
            <a:ext cx="82296" cy="205740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1901952"/>
            <a:ext cx="5166359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Self-Covariant Loss (SCL)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212848"/>
            <a:ext cx="5056631" cy="1746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700" b="0" i="1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ρ(u,v) = Σ (δ − δ̄)(δ′ − δ̄′)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————————————————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VAR(δ) · VAR(δ′)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224528"/>
            <a:ext cx="11183112" cy="10515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1208" y="4315968"/>
            <a:ext cx="82296" cy="86868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" y="4315968"/>
            <a:ext cx="1081735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Multi-objective 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" y="4626864"/>
            <a:ext cx="10707624" cy="55778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800" b="0" i="1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ℒ  =  Σ ‖ Z − Ẑ ‖₂   +   Σ  1 / ( ρ + 1 )         ( δ = learned relevance,  δ′ = Euclidean distance 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86400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504688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SCL transplants Euclidean ranking regularity into the learned metric, retaining an approximate triangle inequality property.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HiPANNS: Parallel Graph Traversal on the GPU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Two levels of parallelism raise recall and throughput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10512"/>
            <a:ext cx="5532120" cy="251460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" y="1911095"/>
            <a:ext cx="82296" cy="231343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" y="1911095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C-HiPANNS — inter-candidate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267712"/>
            <a:ext cx="5111496" cy="1965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k parallel searches per query with different seeds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Share one K-size max-heap across processes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k-fold search-space expansion escapes local optima → higher recall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1810512"/>
            <a:ext cx="5532120" cy="251460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911095"/>
            <a:ext cx="82296" cy="231343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1911095"/>
            <a:ext cx="5184648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Q-HiPANNS — inter-query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267712"/>
            <a:ext cx="5111496" cy="1965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Aggregate irregular neural computations into GPU batches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Adaptive batch splitting under a max batch size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Amortizes kernel-launch overhead → higher throughput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98848"/>
            <a:ext cx="11183112" cy="109728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21208" y="4599432"/>
            <a:ext cx="82296" cy="89611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" y="4599432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Together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" y="4956048"/>
            <a:ext cx="10762488" cy="548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C-HiPANNS broadens the search for accuracy while Q-HiPANNS batches computation for speed — the graph and GPU layers reinforce, rather than trade off against, each other.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GMP-GR Improves Coverage, Recall, and Speed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Search-compatible learning lifts accuracy and throughput at the same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356909"/>
              </p:ext>
            </p:extLst>
          </p:nvPr>
        </p:nvGraphicFramePr>
        <p:xfrm>
          <a:off x="502920" y="1810512"/>
          <a:ext cx="7287769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15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7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Method (Video)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Coverage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Rec@10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Rec@100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D-NSW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SL2G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0.441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0.578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0.612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NANN (best baseline)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GMP-GR (ours)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0.649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0.824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</a:rPr>
                        <a:t>0.805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5" name="Picture 14" descr="efficiency_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898" y="1810512"/>
            <a:ext cx="3716701" cy="29733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37810" y="4829237"/>
            <a:ext cx="3328639" cy="42178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Recall vs. latency — </a:t>
            </a:r>
            <a:endParaRPr lang="en-US" dirty="0"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GMP-GR sits on the efficient frontier.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15968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" y="4443984"/>
            <a:ext cx="3200400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+20.9%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5084064"/>
            <a:ext cx="320040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Coverage  ·  vs NANN (Video)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8" y="4315968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43984" y="4443984"/>
            <a:ext cx="3200400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+22.7%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5084064"/>
            <a:ext cx="320040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Recall@10  ·  vs NANN (Video)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42432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 dirty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Video dataset shown; full four-dataset results in backup. Metric and graph co-design jointly improve coverage, recall, and speed.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Online A/B Tests Validate Production 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Two live services show consistent, significant engagement gains.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810512"/>
          <a:ext cx="672084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0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Online A/B service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Time-on-page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DAU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Main feed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+1.13%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+0.23%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Short video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+1.19%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+0.50%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452360" y="1810512"/>
            <a:ext cx="4233672" cy="146304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70648" y="1911095"/>
            <a:ext cx="82296" cy="126187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90104" y="1911095"/>
            <a:ext cx="38862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Component attribution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104" y="2267712"/>
            <a:ext cx="3813048" cy="9144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MUIRML and HiPANNS add +0.57% and +0.23% time-on-page respectively.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56432"/>
            <a:ext cx="11183112" cy="1147682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1208" y="3557015"/>
            <a:ext cx="82296" cy="91946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3557015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Deployment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3913631"/>
            <a:ext cx="10762488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Validated by two online A/B services (main feed and short video), then subsequently extended across 20+ Baidu applications — the broader rollout is deployment, not a single A/B result.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50418"/>
            <a:ext cx="11183112" cy="100440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1208" y="4851002"/>
            <a:ext cx="82296" cy="804672"/>
          </a:xfrm>
          <a:prstGeom prst="rect">
            <a:avLst/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4851002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" y="5207618"/>
            <a:ext cx="10762488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Retrieval gains matter only when relevance improves without latency regression — which these online tests confirm.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7" y="5989320"/>
            <a:ext cx="1463040" cy="177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6071616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searchable learned signal delivers measurable, latency-safe engagement gains in production.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System-Level Execution Makes the Signal Deployable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Engineering co-design turns a searchable metric into a production service.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10512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1956816"/>
            <a:ext cx="3246120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+74%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596896"/>
            <a:ext cx="324612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Throughput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962656"/>
            <a:ext cx="3246120" cy="9052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from compilation optimization of the serving graph.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1810512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9704" y="1956816"/>
            <a:ext cx="3246120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+26%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2596896"/>
            <a:ext cx="324612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Throughput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2962656"/>
            <a:ext cx="3246120" cy="9052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from 32→16-bit model quantization.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1810512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1956816"/>
            <a:ext cx="3246120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20+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596896"/>
            <a:ext cx="324612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Baidu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962656"/>
            <a:ext cx="3246120" cy="90525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News, Tieba, Shorts and more, on 165 + 119 A30 GPUs.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60520"/>
            <a:ext cx="11183112" cy="146304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21208" y="4261104"/>
            <a:ext cx="82296" cy="126187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" y="426110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Freshness &amp; serving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" y="4617720"/>
            <a:ext cx="10762488" cy="9144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Streaming index updates keep embeddings current under dynamic catalogs; two services on five servers each sustain production-scale traffic within the P99 latency budget.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Ablation: Metric and Graph Are Both Necessary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Removing MUIRML or HiPANNS degrades accuracy or throughput.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4" name="Picture 13" descr="ablation_C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10512"/>
            <a:ext cx="4114800" cy="3291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5148072"/>
            <a:ext cx="41148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Coverage under component removal.</a:t>
            </a:r>
          </a:p>
        </p:txBody>
      </p:sp>
      <p:pic>
        <p:nvPicPr>
          <p:cNvPr id="16" name="Picture 15" descr="ablation_Rec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1810512"/>
            <a:ext cx="4114800" cy="3291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22592" y="5148072"/>
            <a:ext cx="41148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Recall@10 under component removal.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7" y="5989320"/>
            <a:ext cx="1463040" cy="177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071616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Each component is irreplaceable — the metric, graph, and GPU layers reinforce one another.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3 Takeaway: Search-Compatible Retrieval Scaling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Accuracy, searchability, and throughput must be optimized as one 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01168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Searchable metric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(MUIRML + SCL)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201168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Parallel graph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(C-HiPANNS)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201168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GPU execution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(Q-HiPANNS)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429000"/>
            <a:ext cx="11183112" cy="132588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1208" y="3529584"/>
            <a:ext cx="82296" cy="1124712"/>
          </a:xfrm>
          <a:prstGeom prst="rect">
            <a:avLst/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352958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3886200"/>
            <a:ext cx="10762488" cy="777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GMP-GR raises coverage +20.9% and Recall@10 +22.7% while improving throughput, and lifts engagement +1.13%/+1.19% time-on-page in two online A/B services.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74920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093207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Search scaling needs metric–graph–GPU compatibility, not just better offline metrics.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4511" y="2313432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4991" y="2313432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Structure-Aware Scaling Explains All Three Studies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same principle — align scaling with the bottleneck — recurs at every stage.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847088"/>
          <a:ext cx="11183110" cy="2788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5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3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1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2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723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Stage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Naive scaling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Structural bottleneck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Structure-aware solution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</a:rPr>
                        <a:t>Semantic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More params / generic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Capability gaps across tasks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Diagnose → synthesize → curriculum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Observation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More frames / tokens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Granularity vs. evidence coverage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Granularity-aware allocation + distillation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Higher offline AUC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Metric–graph–GPU mismatch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</a:rPr>
                        <a:t>Search-compatible metric + GPU co-design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02920" y="5074920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093207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Scaling capacity alone is insufficient unless aligned with the structure of the bottleneck.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Generalizability Confirms the Right Bottleneck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opening framework, now filled with evidence from each study.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47088"/>
            <a:ext cx="3630168" cy="58521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42032"/>
            <a:ext cx="3630168" cy="530352"/>
          </a:xfrm>
          <a:prstGeom prst="roundRect">
            <a:avLst>
              <a:gd name="adj" fmla="val 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18688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1208" y="3319272"/>
            <a:ext cx="82296" cy="1581912"/>
          </a:xfrm>
          <a:prstGeom prst="rect">
            <a:avLst/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" y="3319272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3675887"/>
            <a:ext cx="3209544" cy="12344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SOTA zero-shot across 16 datasets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(0.573 dataset · 0.600 ability AVG)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8" y="1993392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1847088"/>
            <a:ext cx="3630168" cy="58521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6" y="2542032"/>
            <a:ext cx="3630168" cy="530352"/>
          </a:xfrm>
          <a:prstGeom prst="roundRect">
            <a:avLst>
              <a:gd name="adj" fmla="val 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VEterfall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3218688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52544" y="3319272"/>
            <a:ext cx="82296" cy="1581912"/>
          </a:xfrm>
          <a:prstGeom prst="rect">
            <a:avLst/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3319272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675887"/>
            <a:ext cx="3209544" cy="12344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+20% fine-grained recall over the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sparse baseline at 4–16× efficiency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4424" y="1993392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65592" y="1847088"/>
            <a:ext cx="3630168" cy="58521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65592" y="2542032"/>
            <a:ext cx="3630168" cy="530352"/>
          </a:xfrm>
          <a:prstGeom prst="roundRect">
            <a:avLst>
              <a:gd name="adj" fmla="val 8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GMP-GR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65592" y="3218688"/>
            <a:ext cx="3630168" cy="178308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80" y="3319272"/>
            <a:ext cx="82296" cy="1581912"/>
          </a:xfrm>
          <a:prstGeom prst="rect">
            <a:avLst/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03336" y="3319272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3675887"/>
            <a:ext cx="3209544" cy="12344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+20.9% coverage, +22.7% recall;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+1.1–1.2% online time-on-page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285232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303520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Generalizability is the evidence that scaling has addressed the right bottleneck.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Research Outputs and Reusable Artifacts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Each study leaves behind a benchmark, a method, and a deployable 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47088"/>
            <a:ext cx="3630168" cy="3977639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" y="1947672"/>
            <a:ext cx="82296" cy="377647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" y="1947672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Benchmarks &amp;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304288"/>
            <a:ext cx="3209544" cy="342899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UVRB — 16-dataset capability diagnosis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UVRD — 1.55M targeted pairs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MG-LVR — long-video, multi-granularity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1847088"/>
            <a:ext cx="3630168" cy="3977639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79" y="1947672"/>
            <a:ext cx="82296" cy="377647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17136" y="1947672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Models &amp;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304288"/>
            <a:ext cx="3209544" cy="342899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GVE — unified video embedding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V-SynFlow — capability-guided synthesis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VEterfall — dense-to-sparse distillation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5864" y="1847088"/>
            <a:ext cx="3630168" cy="3977639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74152" y="1947672"/>
            <a:ext cx="82296" cy="377647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93608" y="1947672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2304288"/>
            <a:ext cx="3209544" cy="342899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GMP-GR — search-scaling framework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MUIRML + SCL — searchable metric</a:t>
            </a:r>
          </a:p>
          <a:p>
            <a:pPr>
              <a:lnSpc>
                <a:spcPct val="102000"/>
              </a:lnSpc>
              <a:spcAft>
                <a:spcPts val="500"/>
              </a:spcAft>
              <a:defRPr sz="1600" b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•  HiPANNS — parallel graph traversal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Boundaries of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Where the current evidence stops — and where structure-aware scaling extends next.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47088"/>
            <a:ext cx="3630168" cy="306324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" y="1947672"/>
            <a:ext cx="82296" cy="2862072"/>
          </a:xfrm>
          <a:prstGeom prst="rect">
            <a:avLst/>
          </a:prstGeom>
          <a:solidFill>
            <a:srgbClr val="556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" y="1947672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Stage-wise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304288"/>
            <a:ext cx="3209544" cy="2514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three studies cover successive pipeline stages but are not yet jointly optimized end-to-end — an integration this thesis motivates rather than claims.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1847088"/>
            <a:ext cx="3630168" cy="306324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79" y="1947672"/>
            <a:ext cx="82296" cy="2862072"/>
          </a:xfrm>
          <a:prstGeom prst="rect">
            <a:avLst/>
          </a:prstGeom>
          <a:solidFill>
            <a:srgbClr val="556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17136" y="1947672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Synthetic supervision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304288"/>
            <a:ext cx="3209544" cy="2514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UVRD and MG-LVR rely on synthesized and caption-based signals; larger audits and finer temporal grounding are natural extensions.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5864" y="1847088"/>
            <a:ext cx="3630168" cy="306324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74152" y="1947672"/>
            <a:ext cx="82296" cy="2862072"/>
          </a:xfrm>
          <a:prstGeom prst="rect">
            <a:avLst/>
          </a:prstGeom>
          <a:solidFill>
            <a:srgbClr val="556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93608" y="1947672"/>
            <a:ext cx="3282696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Deployment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2304288"/>
            <a:ext cx="3209544" cy="2514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GMP-GR is validated in Baidu infrastructure; the algorithmic principles are general, but absolute throughput depends on hardware and traffic.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74920"/>
            <a:ext cx="11183112" cy="841248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21208" y="5175504"/>
            <a:ext cx="82296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" y="5212080"/>
            <a:ext cx="10762488" cy="60350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These boundaries define where structure-aware scaling should be extended next — the frontier, not weaknesses.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Future Work I: Retrieval-Native Multimodal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Retrieval should be built into the model, not extracted from generation states.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920240"/>
            <a:ext cx="3227832" cy="68580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Shared vision–language backbone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788920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88920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2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306324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Generative objective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(today's MLLM)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063240"/>
            <a:ext cx="3840480" cy="822960"/>
          </a:xfrm>
          <a:prstGeom prst="roundRect">
            <a:avLst>
              <a:gd name="adj" fmla="val 8000"/>
            </a:avLst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Retrieval objective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+ retrieval token / routing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51960"/>
            <a:ext cx="11183112" cy="155448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1208" y="4352544"/>
            <a:ext cx="82296" cy="135331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435254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Direction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4709160"/>
            <a:ext cx="10762488" cy="10058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MLLM hidden states are optimized for generation, not retrieval geometry. Native architectures with retrieval-specific objectives, tokens, and routing could align generative and retrieval representations from the start — extending semantic scaling into the model design itself.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566928" y="2103120"/>
            <a:ext cx="1975104" cy="96012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Streaming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observations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6352" y="2103120"/>
            <a:ext cx="1975104" cy="960120"/>
          </a:xfrm>
          <a:prstGeom prst="roundRect">
            <a:avLst>
              <a:gd name="adj" fmla="val 8000"/>
            </a:avLst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Indexed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visual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2103120"/>
            <a:ext cx="1975104" cy="96012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103120"/>
            <a:ext cx="1975104" cy="96012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Recalled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episode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64624" y="2103120"/>
            <a:ext cx="1975104" cy="96012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Future Work II: Video Retrieval as Agent Memory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Retrieval becomes the interface to an agent's long-horizon visual experience.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386584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2386584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2386584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386584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03320"/>
            <a:ext cx="11183112" cy="182880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21208" y="3803904"/>
            <a:ext cx="82296" cy="162763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380390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" y="4160520"/>
            <a:ext cx="10762488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Agents need memory that spans long visual histories. Casting retrieval as the memory interface — over past observations, object locations, and event context — turns the embedding and search machinery of this thesis into the substrate for embodied and multimodal agents.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566928" y="2148840"/>
            <a:ext cx="1975104" cy="91440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Evaluate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6352" y="2148840"/>
            <a:ext cx="1975104" cy="91440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Diagnose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2148840"/>
            <a:ext cx="1975104" cy="91440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Synthesize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148840"/>
            <a:ext cx="1975104" cy="91440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64624" y="2148840"/>
            <a:ext cx="1975104" cy="914400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2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Deploy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Future Work III: Self-Evolving Retrieval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thesis pipeline can become a self-improving 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2400299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400299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2400299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400299"/>
            <a:ext cx="402336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346704"/>
            <a:ext cx="630936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6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↺   re-evaluate on new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77639"/>
            <a:ext cx="11183112" cy="169164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1208" y="4078224"/>
            <a:ext cx="82296" cy="149047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" y="407822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Direction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" y="4434840"/>
            <a:ext cx="10762488" cy="11430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UVRB-style evaluation, V-SynFlow-style synthesis, curriculum scheduling, and model updating can form a closed loop: the system diagnoses its own weaknesses, generates targeted data, and retrains — reducing reliance on static benchmarks.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Structure-Aware Scaling Connects the Three Studies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Modern video retrieval is a pipeline-level scaling problem — solved stage by stage.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100584" cy="6035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0881360" cy="60350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rPr>
              <a:t>Semantic scaling  </a:t>
            </a:r>
            <a:r>
              <a:rPr sz="24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rPr>
              <a:t>needs capability diagnosis.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98064"/>
            <a:ext cx="100584" cy="6035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798064"/>
            <a:ext cx="10881360" cy="60350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rPr>
              <a:t>Observational scaling  </a:t>
            </a:r>
            <a:r>
              <a:rPr sz="24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rPr>
              <a:t>needs granularity-aware evidence acquisition.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84448"/>
            <a:ext cx="100584" cy="60350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584448"/>
            <a:ext cx="10881360" cy="60350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rPr>
              <a:t>Search scaling  </a:t>
            </a:r>
            <a:r>
              <a:rPr sz="24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rPr>
              <a:t>needs metric–graph–GPU compatibility.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54880"/>
            <a:ext cx="11183112" cy="493776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773168"/>
            <a:ext cx="1078992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rPr>
              <a:t>Takeaway   </a:t>
            </a:r>
            <a:r>
              <a:rPr sz="16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Scaling becomes effective only when aligned with the structure of the bottleneck it addresses.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04688"/>
            <a:ext cx="11183112" cy="6400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Scalable and generalizable video retrieval requires structure-aware scaling across semantic capability, visual observation, and search execution.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38374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Semantic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3828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Observational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9283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7432" dist="16459" dir="5400000" rotWithShape="0">
              <a:srgbClr val="9AA6B5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4737" y="210312"/>
            <a:ext cx="1962302" cy="23774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>
            <a:outerShdw blurRad="27432" dist="16459" dir="5400000" rotWithShape="0">
              <a:srgbClr val="9AA6B5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Publications and Research Outputs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three studies correspond to three papers and reusable public artifacts.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874519"/>
            <a:ext cx="363016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1874519"/>
            <a:ext cx="3630168" cy="60350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874519"/>
            <a:ext cx="3630168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1 · GVE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651760"/>
            <a:ext cx="3227832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Universal Video Retrieval via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General Video Embedding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" y="4069080"/>
            <a:ext cx="3227832" cy="50292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Submitted · ACM MM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1874519"/>
            <a:ext cx="363016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34256" y="1874519"/>
            <a:ext cx="3630168" cy="60350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34256" y="1874519"/>
            <a:ext cx="3630168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2 · MG-LVR &amp; VEterfall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651760"/>
            <a:ext cx="3227832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Multi-Granularity Long-Video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Retrieval &amp; Scaling Laws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5424" y="4069080"/>
            <a:ext cx="3227832" cy="50292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Submitted · ECCV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874519"/>
            <a:ext cx="3630168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65592" y="1874519"/>
            <a:ext cx="3630168" cy="603504"/>
          </a:xfrm>
          <a:prstGeom prst="roundRect">
            <a:avLst>
              <a:gd name="adj" fmla="val 8000"/>
            </a:avLst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65592" y="1874519"/>
            <a:ext cx="3630168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Study 3 · GMP-GR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651760"/>
            <a:ext cx="3227832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Searchable Learned Metrics for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Web-Scale Retrieval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4069080"/>
            <a:ext cx="3227832" cy="50292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Published · ACM WebConf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074920"/>
            <a:ext cx="11183112" cy="107899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21208" y="5175503"/>
            <a:ext cx="82296" cy="82911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0664" y="517550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Reusable artifacts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" y="5532120"/>
            <a:ext cx="10762488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UVRB, UVRD, and MG-LVR benchmarks/data; GVE, </a:t>
            </a:r>
            <a:r>
              <a:rPr dirty="0" err="1">
                <a:latin typeface="Times New Roman"/>
                <a:ea typeface="Times New Roman"/>
                <a:cs typeface="Times New Roman"/>
              </a:rPr>
              <a:t>VEterfall</a:t>
            </a:r>
            <a:r>
              <a:rPr dirty="0">
                <a:latin typeface="Times New Roman"/>
                <a:ea typeface="Times New Roman"/>
                <a:cs typeface="Times New Roman"/>
              </a:rPr>
              <a:t>, and GMP-GR methods — released to support reproducible video-retrieval research.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119104" y="5788152"/>
            <a:ext cx="566928" cy="5669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08792" cy="10972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54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908792" cy="548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2400" b="1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Thank you for your time and attention.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4023360"/>
            <a:ext cx="5056632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224528"/>
            <a:ext cx="10908792" cy="5486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r>
              <a:rPr sz="17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rPr>
              <a:t>Capability diagnosis   ·   granularity-aware evidence   ·   searchable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  ·   HKUST(GZ)   ·   July 29, 2026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32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331720"/>
            <a:ext cx="3611880" cy="13716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9600" b="1" i="0">
                <a:solidFill>
                  <a:srgbClr val="D4AF37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3895344"/>
            <a:ext cx="3383280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200" b="1" i="0">
                <a:solidFill>
                  <a:srgbClr val="C3D3E6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4297680"/>
            <a:ext cx="3383280" cy="10972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Backup &amp;</a:t>
            </a:r>
            <a:br/>
            <a:r>
              <a:rPr>
                <a:latin typeface="Times New Roman"/>
                <a:ea typeface="Times New Roman"/>
                <a:cs typeface="Times New Roman"/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2651760"/>
            <a:ext cx="6766560" cy="23774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2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Full tables, protocol details, related work, and prepared answers.</a:t>
            </a:r>
            <a:br/>
            <a:br/>
            <a:r>
              <a:rPr>
                <a:latin typeface="Times New Roman"/>
                <a:ea typeface="Times New Roman"/>
                <a:cs typeface="Times New Roman"/>
              </a:rPr>
              <a:t>Several slides here are optional material that can be promoted into the main deck.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144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74320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GVE — Full Ability-Level Results (excerpt)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By-ability averages; GVE-7B leads the overall ability average.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47088"/>
          <a:ext cx="11183111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4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5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58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5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8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58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58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058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AVG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TXT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CMP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VIS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CG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FG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LC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T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PR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VideoCLIP-XL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VLM2Vec-V2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0.538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0.587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0.263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0.613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0.498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0.502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0.762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0.809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0.348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0.348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UniME-7B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GME-7B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0.562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0.604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0.341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0.615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0.518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0.507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0.788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0.749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0.373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0.398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Unite-7B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0.254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GVE-3B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0.571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0.619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0.304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0.647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0.552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0.541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0.764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0.816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0.430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0.377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GVE-7B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0.600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0.657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0.312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0.657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0.587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0.570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0.814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0.821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0.469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0.419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532120"/>
            <a:ext cx="11183112" cy="4572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Source: Chapter 3, Table (by abilities). CLIP4Clip retains the best VIS (0.714) — the scaling paradox.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144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74320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UVRB Protocol and Model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Frozen embeddings, one protocol, 14 models across two families.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47088"/>
          <a:ext cx="1118311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8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7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Family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Representative models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Strengths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Key limitation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CLIP-based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CLIP4Clip, InternVideo2, VideoCLIP-XL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Fast; strong T2V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Modality gaps; limited reasoning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MLLM-based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GME, UNITE, VLM2Vec, B3, UniME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Unified reasoning; balanced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Gradient interference; data-hungry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GVE (ours)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Qwen2.5-VL variants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Targeted coverage; no gaps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Needs high-quality curricula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4069080"/>
            <a:ext cx="11183112" cy="141732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1208" y="4169664"/>
            <a:ext cx="82296" cy="121615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416966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526280"/>
            <a:ext cx="10762488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16 public datasets, identical preprocessing, frozen embeddings with cosine similarity, no task-specific fine-tuning. Capability gaps persist even at 8.3B parameters, motivating targeted synthesis rather than pure scale.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144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74320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480"/>
            <a:ext cx="11183112" cy="46897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 dirty="0">
                <a:latin typeface="Times New Roman"/>
                <a:ea typeface="Times New Roman"/>
                <a:cs typeface="Times New Roman"/>
              </a:rPr>
              <a:t>Targeted Data Scaling Follows a Logarithmic 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More data helps logarithmically; smaller models gain more per decade.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0" name="Picture 9" descr="scaling_a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7088"/>
            <a:ext cx="6583680" cy="32706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163486"/>
            <a:ext cx="658368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Average performance vs. training-data volume (log scale).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847088"/>
            <a:ext cx="4325112" cy="914400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 w="12700">
            <a:solidFill>
              <a:srgbClr val="D2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79208" y="1938528"/>
            <a:ext cx="82296" cy="731520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98664" y="1938528"/>
            <a:ext cx="395935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Data scaling 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8664" y="2249424"/>
            <a:ext cx="3849624" cy="42062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defRPr sz="2000" b="0" i="1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y  =  a · ln(x)  + 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926080"/>
            <a:ext cx="4325112" cy="128016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9AE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9208" y="3026664"/>
            <a:ext cx="82296" cy="1078992"/>
          </a:xfrm>
          <a:prstGeom prst="rect">
            <a:avLst/>
          </a:prstGeom>
          <a:solidFill>
            <a:srgbClr val="05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98664" y="3026664"/>
            <a:ext cx="3977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57A5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Efficiency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98664" y="3383280"/>
            <a:ext cx="3904488" cy="73151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GVE-3B gains +7.4% per 10× data vs. +5.4% for GVE-7B — smaller models scale more efficiently.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4343400"/>
            <a:ext cx="4325112" cy="123444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79208" y="4443984"/>
            <a:ext cx="82296" cy="103327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98664" y="4443984"/>
            <a:ext cx="3977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4800600"/>
            <a:ext cx="3904488" cy="6858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Gains diminish with scale, so capability-targeted data (UVRD) matters more than sheer volume.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144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74320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MG-LVR — Results at 128 Frames (excerpt)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Even with 16× more frames, the coarse–fine gap persists across 23 models.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47088"/>
          <a:ext cx="822960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Model  ·  128 frames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Overall R@1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Fine R@1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Coarse R@1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GVE-3B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0.243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Unite-7B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0.474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0.234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0.828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GVE-7B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0.266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Qwen3-VL-Emb-8B (best)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0.549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0.287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0.903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915400" y="1847088"/>
            <a:ext cx="2770632" cy="2377440"/>
          </a:xfrm>
          <a:prstGeom prst="roundRect">
            <a:avLst>
              <a:gd name="adj" fmla="val 8000"/>
            </a:avLst>
          </a:prstGeom>
          <a:solidFill>
            <a:srgbClr val="FBEFEF"/>
          </a:solidFill>
          <a:ln w="12700">
            <a:solidFill>
              <a:srgbClr val="E6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33688" y="1947672"/>
            <a:ext cx="82296" cy="2176272"/>
          </a:xfrm>
          <a:prstGeom prst="rect">
            <a:avLst/>
          </a:prstGeom>
          <a:solidFill>
            <a:srgbClr val="B2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53144" y="1947672"/>
            <a:ext cx="242316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B22A2A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Persistent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3144" y="2304288"/>
            <a:ext cx="2350008" cy="18288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Best fine R@1 is still 0.287 vs 0.903 coarse — the observation bottleneck is structural, not a capacity issue.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34840"/>
            <a:ext cx="11183112" cy="114300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1208" y="4535424"/>
            <a:ext cx="82296" cy="94183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453542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Frame-count anchoring (training-time)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892040"/>
            <a:ext cx="10762488" cy="5943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Temporal ability peaks when inference frames match training; a train-32 / test-4 mismatch measurably lowers fine-grained recall — see Chapter 4 scaling tables.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144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74320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VEterfall — Frame and Token Efficiency (excerpt)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Distillation gains hold under both frame and token compression.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47088"/>
          <a:ext cx="548640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Frame-eff. (T=200)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Overall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Fine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Coarse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8F  V⁰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0.148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8F  V¹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0.398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0.182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0.780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4F  V⁰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4F  V¹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0.319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0.138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0.706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99632" y="1847088"/>
          <a:ext cx="548640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Token-eff. (F=8)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Overall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Fine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Coarse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400T  V⁰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400T  V¹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0.412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0.191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0.800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100T  V⁰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0.158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100T  V¹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0.380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0.171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0.758</a:t>
                      </a:r>
                    </a:p>
                  </a:txBody>
                  <a:tcPr anchor="ctr"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526280"/>
            <a:ext cx="11183112" cy="105156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1208" y="4626864"/>
            <a:ext cx="82296" cy="85039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462686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4983480"/>
            <a:ext cx="10762488" cy="50291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Reducing frames or tokens with VEterfall beats the un-distilled model at the same budget; the advantage widens as budgets tighten (λ = 0.5, K = 2 rounds).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144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74320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GMP-GR — Full Offline Results (four datasets)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Coverage / Recall@10 across all evaluated datasets vs. the best baseline.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47088"/>
          <a:ext cx="11183111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78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Coverage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Video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MVideo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Explore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Fresh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NANN (best baseline)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0.503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GMP-GR (ours)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0.649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0.604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0.628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0.691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383280"/>
          <a:ext cx="11183111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78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Recall@10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Video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MVideo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Explore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Fresh</a:t>
                      </a:r>
                    </a:p>
                  </a:txBody>
                  <a:tcPr anchor="ctr">
                    <a:solidFill>
                      <a:srgbClr val="0033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C2739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NANN (best baseline)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0.604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GMP-GR (ours)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0.824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0.718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0.800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57A55"/>
                          </a:solidFill>
                          <a:latin typeface="Times New Roman"/>
                          <a:ea typeface="Times New Roman"/>
                          <a:cs typeface="Times New Roman"/>
                        </a:defRPr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</a:rPr>
                        <a:t>0.842</a:t>
                      </a:r>
                    </a:p>
                  </a:txBody>
                  <a:tcPr anchor="ctr">
                    <a:solidFill>
                      <a:srgbClr val="EAF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489204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1208" y="4992624"/>
            <a:ext cx="82296" cy="75895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499262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349240"/>
            <a:ext cx="10762488" cy="4114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GMP-GR retrieves 321K items/s on Video — fastest among DNN-based methods; C-NSW is faster only by dropping to a lightweight cosine metric with far lower accuracy.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144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74320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Q1 · GVE vs. GPT-4o / Gemini for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11183112" cy="182880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8" y="2066543"/>
            <a:ext cx="82296" cy="162763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066543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Generation vs. retrieval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423160"/>
            <a:ext cx="10762488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Foundation models optimize open-ended generation, not dense retrieval embeddings. GVE is trained with retrieval objectives and capability-targeted data, aligning query and video geometry rather than reusing generic hidden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11183112" cy="141732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1208" y="4078224"/>
            <a:ext cx="82296" cy="1216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" y="407822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Response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434840"/>
            <a:ext cx="10762488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Acknowledge the limit honestly, then redirect to the empirical evidence that answers the underlying concern.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144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74320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Q2 · Is a 100-sample validation enough?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11183112" cy="182880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8" y="2066543"/>
            <a:ext cx="82296" cy="162763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066543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Statistical limit vs. functional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423160"/>
            <a:ext cx="10762488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 100-sample audit has a wide confidence interval, which we acknowledge. The functional proof is downstream: consistent zero-shot gains across 16 UVRB datasets — systematic noise would not produce broad, cross-dataset improvements.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11183112" cy="141732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1208" y="4078224"/>
            <a:ext cx="82296" cy="1216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" y="407822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Response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434840"/>
            <a:ext cx="10762488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Acknowledge the limit honestly, then redirect to the empirical evidence that answers the underlying concern.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144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74320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Q3 · Is the granularity gap a benchmark artifact?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11183112" cy="182880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8" y="2066543"/>
            <a:ext cx="82296" cy="162763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066543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Universal across 23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423160"/>
            <a:ext cx="10762488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gap persists across all 23 evaluated models and both continuity types. Its cause is structural — sparse sampling misses brief frame-level evidence — and short-clip benchmarks simply mask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11183112" cy="141732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1208" y="4078224"/>
            <a:ext cx="82296" cy="1216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" y="407822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Response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434840"/>
            <a:ext cx="10762488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Acknowledge the limit honestly, then redirect to the empirical evidence that answers the underlying concern.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144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74320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Q4 · How would GVE + VEterfall combine?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11183112" cy="182880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8" y="2066543"/>
            <a:ext cx="82296" cy="162763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066543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Promising, not yet evaluated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423160"/>
            <a:ext cx="10762488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Open future work. Hypothesis: a stronger dense teacher (GVE) yields higher-quality sparse distillation signals for VEterfall, improving fine-grained efficiency — a concrete cross-model experiment.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11183112" cy="141732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1208" y="4078224"/>
            <a:ext cx="82296" cy="1216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" y="407822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Response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434840"/>
            <a:ext cx="10762488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Acknowledge the limit honestly, then redirect to the empirical evidence that answers the underlying concern.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144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74320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Q5 · Does SCL hurt DNN metric expressiveness?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11183112" cy="182880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8" y="2066543"/>
            <a:ext cx="82296" cy="162763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066543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Soft rank regularizer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423160"/>
            <a:ext cx="10762488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SCL constrains ranking order, not raw score magnitudes. It aligns output ranking with Euclidean distance to remove degenerate graph-navigation cases while preserving fine-grained relevance — regularizing relative order, not absolute expressiveness.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11183112" cy="141732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1208" y="4078224"/>
            <a:ext cx="82296" cy="1216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" y="407822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Response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434840"/>
            <a:ext cx="10762488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Acknowledge the limit honestly, then redirect to the empirical evidence that answers the underlying concern.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144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74320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Q6 · Can GMP-GR generalize beyond Baidu?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11183112" cy="1828800"/>
          </a:xfrm>
          <a:prstGeom prst="roundRect">
            <a:avLst>
              <a:gd name="adj" fmla="val 8000"/>
            </a:avLst>
          </a:prstGeom>
          <a:solidFill>
            <a:srgbClr val="ECF3FC"/>
          </a:solidFill>
          <a:ln w="12700">
            <a:solidFill>
              <a:srgbClr val="BED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8" y="2066543"/>
            <a:ext cx="82296" cy="1627632"/>
          </a:xfrm>
          <a:prstGeom prst="rect">
            <a:avLst/>
          </a:prstGeom>
          <a:solidFill>
            <a:srgbClr val="0033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066543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Algorithmic generality vs. platform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423160"/>
            <a:ext cx="10762488" cy="12801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The core logic is HNSW-compatible and architecture-agnostic, so accuracy gains transfer. Absolute throughput depends on hardware and traffic — we separate universal algorithmic value from platform-specific engineering numbers.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39"/>
            <a:ext cx="11183112" cy="1417320"/>
          </a:xfrm>
          <a:prstGeom prst="roundRect">
            <a:avLst>
              <a:gd name="adj" fmla="val 8000"/>
            </a:avLst>
          </a:prstGeom>
          <a:solidFill>
            <a:srgbClr val="FDF7E7"/>
          </a:solidFill>
          <a:ln w="12700">
            <a:solidFill>
              <a:srgbClr val="E8D5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1208" y="4078224"/>
            <a:ext cx="82296" cy="1216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" y="4078224"/>
            <a:ext cx="108356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1" i="0">
                <a:solidFill>
                  <a:srgbClr val="865F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Response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434840"/>
            <a:ext cx="10762488" cy="8686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600" b="0" i="0">
                <a:solidFill>
                  <a:srgbClr val="1C2739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Acknowledge the limit honestly, then redirect to the empirical evidence that answers the underlying concern.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1440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1100" b="1" i="0">
                <a:solidFill>
                  <a:srgbClr val="C0921C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APPENDIX 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274320"/>
            <a:ext cx="941832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11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B13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3112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2000"/>
              </a:lnSpc>
              <a:defRPr sz="3000" b="1" i="0">
                <a:solidFill>
                  <a:srgbClr val="003365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MG-LVR Controls Granularity Through Clip Relation Graphs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43584"/>
            <a:ext cx="19202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83112" cy="32918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2000" b="0" i="1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Clip Relation Graph makes query granularity measurable, not manually assumed.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83112" cy="10160"/>
          </a:xfrm>
          <a:prstGeom prst="rect">
            <a:avLst/>
          </a:prstGeom>
          <a:solidFill>
            <a:srgbClr val="D2D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83680"/>
            <a:ext cx="8229600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Towards Scalable and Generalizable Video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83680"/>
            <a:ext cx="2267712" cy="23774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r">
              <a:lnSpc>
                <a:spcPct val="102000"/>
              </a:lnSpc>
              <a:defRPr sz="9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Zhuoning Guo · HKUST(GZ)</a:t>
            </a:r>
          </a:p>
        </p:txBody>
      </p:sp>
      <p:pic>
        <p:nvPicPr>
          <p:cNvPr id="10" name="Picture 9" descr="mg-lv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1847088"/>
            <a:ext cx="10515600" cy="39449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6676" y="5837747"/>
            <a:ext cx="1051560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02000"/>
              </a:lnSpc>
              <a:defRPr sz="1300" b="0" i="0">
                <a:solidFill>
                  <a:srgbClr val="55667D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Isolated nodes → Fine queries (G)  ·  Louvain communities → Coarse queries (C)  ·  Granularity made measurable, not assumed.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9331</Words>
  <Application>Microsoft Macintosh PowerPoint</Application>
  <PresentationFormat>自定义</PresentationFormat>
  <Paragraphs>1592</Paragraphs>
  <Slides>72</Slides>
  <Notes>66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76" baseType="lpstr"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21</cp:revision>
  <dcterms:created xsi:type="dcterms:W3CDTF">2013-01-27T09:14:16Z</dcterms:created>
  <dcterms:modified xsi:type="dcterms:W3CDTF">2026-07-07T05:37:14Z</dcterms:modified>
  <cp:category/>
</cp:coreProperties>
</file>