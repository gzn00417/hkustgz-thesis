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5107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/>
          <a:ea typeface="Arial"/>
          <a:cs typeface="Arial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/>
          <a:ea typeface="Arial"/>
          <a:cs typeface="Arial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/>
          <a:ea typeface="Arial"/>
          <a:cs typeface="Arial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/>
          <a:ea typeface="Arial"/>
          <a:cs typeface="Arial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/>
          <a:ea typeface="Arial"/>
          <a:cs typeface="Arial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Arial"/>
          <a:cs typeface="Arial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Arial"/>
          <a:cs typeface="Arial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Arial"/>
          <a:cs typeface="Arial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58368" y="804672"/>
            <a:ext cx="2926080" cy="34747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200" b="1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PhD Thesis Defense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234440"/>
            <a:ext cx="9784080" cy="17830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46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</a:t>
            </a:r>
            <a:endParaRPr lang="en-US" sz="4200" dirty="0"/>
          </a:p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46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Generalizable Video Retrieval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685800" y="3364992"/>
            <a:ext cx="4343400" cy="0"/>
          </a:xfrm>
          <a:prstGeom prst="line">
            <a:avLst/>
          </a:prstGeom>
          <a:noFill/>
          <a:ln w="2540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685800" y="3822192"/>
            <a:ext cx="3474720" cy="43891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4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Zhuoning Guo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279392"/>
            <a:ext cx="5669280" cy="8686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6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Thrust of Artificial Intelligence, HKUST(GZ)</a:t>
            </a:r>
            <a:endParaRPr lang="en-US" sz="1650" dirty="0"/>
          </a:p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6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Advisors: Prof. Xiaowen Chu  &amp;  Prof. Renjing Xu</a:t>
            </a:r>
            <a:endParaRPr lang="en-US" sz="1650" dirty="0"/>
          </a:p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6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29, 2026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812280" y="3657600"/>
            <a:ext cx="4434840" cy="1417320"/>
          </a:xfrm>
          <a:prstGeom prst="roundRect">
            <a:avLst>
              <a:gd name="adj" fmla="val 5161"/>
            </a:avLst>
          </a:prstGeom>
          <a:solidFill>
            <a:srgbClr val="FFF7E6"/>
          </a:solidFill>
          <a:ln w="1524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7040880" y="3803904"/>
            <a:ext cx="3977640" cy="112471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200" b="1" i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can video retrieval generalize from controlled benchmarks to messy, large-scale production deployment?</a:t>
            </a:r>
            <a:endParaRPr lang="en-US" sz="1850" dirty="0"/>
          </a:p>
        </p:txBody>
      </p:sp>
      <p:sp>
        <p:nvSpPr>
          <p:cNvPr id="11" name="Text 9"/>
          <p:cNvSpPr txBox="1"/>
          <p:nvPr/>
        </p:nvSpPr>
        <p:spPr>
          <a:xfrm>
            <a:off x="9802368" y="6327648"/>
            <a:ext cx="1417320" cy="22860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HKUST(GZ)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A Pipeline View of Video Retrieval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1417320"/>
            <a:ext cx="457200" cy="32004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335024" y="1581912"/>
            <a:ext cx="493776" cy="0"/>
          </a:xfrm>
          <a:prstGeom prst="line">
            <a:avLst/>
          </a:prstGeom>
          <a:noFill/>
          <a:ln w="1524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1965960" y="1399032"/>
            <a:ext cx="3749040" cy="40233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&amp; Motivation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897880" y="1417320"/>
            <a:ext cx="5212080" cy="40233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video retrieval becomes a pipeline-level scaling problem.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2286000"/>
            <a:ext cx="457200" cy="32004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335024" y="2450592"/>
            <a:ext cx="493776" cy="0"/>
          </a:xfrm>
          <a:prstGeom prst="line">
            <a:avLst/>
          </a:prstGeom>
          <a:noFill/>
          <a:ln w="1524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1965960" y="2267712"/>
            <a:ext cx="3749040" cy="40233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1: Semantic Scaling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897880" y="2286000"/>
            <a:ext cx="5212080" cy="40233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GVE: diagnosis → synthesis → curriculum → universal embedding.</a:t>
            </a:r>
            <a:endParaRPr lang="en-US" sz="165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3154680"/>
            <a:ext cx="457200" cy="32004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335024" y="3319272"/>
            <a:ext cx="493776" cy="0"/>
          </a:xfrm>
          <a:prstGeom prst="line">
            <a:avLst/>
          </a:prstGeom>
          <a:noFill/>
          <a:ln w="1524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1965960" y="3136392"/>
            <a:ext cx="3749040" cy="40233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2: Observational Scaling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897880" y="3154680"/>
            <a:ext cx="5212080" cy="40233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MG-LVR + VEterfall: long videos, query granularity, sparse inference.</a:t>
            </a:r>
            <a:endParaRPr lang="en-US" sz="1650" dirty="0"/>
          </a:p>
        </p:txBody>
      </p:sp>
      <p:sp>
        <p:nvSpPr>
          <p:cNvPr id="21" name="Text 19"/>
          <p:cNvSpPr txBox="1"/>
          <p:nvPr/>
        </p:nvSpPr>
        <p:spPr>
          <a:xfrm>
            <a:off x="749808" y="4023360"/>
            <a:ext cx="457200" cy="32004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335024" y="4187952"/>
            <a:ext cx="493776" cy="0"/>
          </a:xfrm>
          <a:prstGeom prst="line">
            <a:avLst/>
          </a:prstGeom>
          <a:noFill/>
          <a:ln w="1524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1965960" y="4005072"/>
            <a:ext cx="3749040" cy="40233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3: Search Scaling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5897880" y="4023360"/>
            <a:ext cx="5212080" cy="40233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GMP-GR: metric–graph–GPU co-design for production retrieval.</a:t>
            </a:r>
            <a:endParaRPr lang="en-US" sz="1650" dirty="0"/>
          </a:p>
        </p:txBody>
      </p:sp>
      <p:sp>
        <p:nvSpPr>
          <p:cNvPr id="25" name="Text 23"/>
          <p:cNvSpPr txBox="1"/>
          <p:nvPr/>
        </p:nvSpPr>
        <p:spPr>
          <a:xfrm>
            <a:off x="749808" y="4892040"/>
            <a:ext cx="457200" cy="32004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1335024" y="5056632"/>
            <a:ext cx="493776" cy="0"/>
          </a:xfrm>
          <a:prstGeom prst="line">
            <a:avLst/>
          </a:prstGeom>
          <a:noFill/>
          <a:ln w="1524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 txBox="1"/>
          <p:nvPr/>
        </p:nvSpPr>
        <p:spPr>
          <a:xfrm>
            <a:off x="1965960" y="4873752"/>
            <a:ext cx="3749040" cy="40233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Work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5897880" y="4892040"/>
            <a:ext cx="5212080" cy="40233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Structure-aware scaling as the unifying principle.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talk follows the retrieval pipeline: representation → observation → billion-scale search.</a:t>
            </a:r>
            <a:endParaRPr lang="en-US" sz="1700" dirty="0"/>
          </a:p>
        </p:txBody>
      </p:sp>
      <p:sp>
        <p:nvSpPr>
          <p:cNvPr id="32" name="Rectangle 31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14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 NARRATIVE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Structure-Aware Scaling Is the Core Thesis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32588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FFF7E6"/>
          </a:solidFill>
          <a:ln w="1524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78408" y="1472184"/>
            <a:ext cx="10241280" cy="57607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retrieval is not a single benchmark task; it is a sequence of scaling bottlenecks along the retrieval pipeline.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30352" y="2514600"/>
            <a:ext cx="3575304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30352" y="2514600"/>
            <a:ext cx="73152" cy="2880360"/>
          </a:xfrm>
          <a:prstGeom prst="rect">
            <a:avLst/>
          </a:prstGeom>
          <a:solidFill>
            <a:srgbClr val="A94442"/>
          </a:solidFill>
          <a:ln w="12700">
            <a:solidFill>
              <a:srgbClr val="A9444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731520" y="2660904"/>
            <a:ext cx="3264408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capacity</a:t>
            </a:r>
            <a:endParaRPr lang="en-US" sz="172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3044952"/>
            <a:ext cx="3227832" cy="22402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Parameters, frames, data volume, and offline AUC can all increase.</a:t>
            </a:r>
            <a:endParaRPr lang="en-US" sz="152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But gains may not transfer beyond the optimized condition.</a:t>
            </a:r>
            <a:endParaRPr lang="en-US" sz="1520" dirty="0"/>
          </a:p>
        </p:txBody>
      </p:sp>
      <p:sp>
        <p:nvSpPr>
          <p:cNvPr id="15" name="Shape 13"/>
          <p:cNvSpPr/>
          <p:nvPr/>
        </p:nvSpPr>
        <p:spPr>
          <a:xfrm>
            <a:off x="4306824" y="2514600"/>
            <a:ext cx="3575304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306824" y="2514600"/>
            <a:ext cx="73152" cy="288036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4507992" y="2660904"/>
            <a:ext cx="3264408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bottleneck</a:t>
            </a:r>
            <a:endParaRPr lang="en-US" sz="172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3044952"/>
            <a:ext cx="3227832" cy="22402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Each pipeline stage fails for a different reason.</a:t>
            </a:r>
            <a:endParaRPr lang="en-US" sz="152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failure mode must be diagnosed before scaling.</a:t>
            </a:r>
            <a:endParaRPr lang="en-US" sz="1520" dirty="0"/>
          </a:p>
        </p:txBody>
      </p:sp>
      <p:sp>
        <p:nvSpPr>
          <p:cNvPr id="19" name="Shape 17"/>
          <p:cNvSpPr/>
          <p:nvPr/>
        </p:nvSpPr>
        <p:spPr>
          <a:xfrm>
            <a:off x="8083296" y="2514600"/>
            <a:ext cx="3575304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083296" y="2514600"/>
            <a:ext cx="73152" cy="2880360"/>
          </a:xfrm>
          <a:prstGeom prst="rect">
            <a:avLst/>
          </a:prstGeom>
          <a:solidFill>
            <a:srgbClr val="2F7D5C"/>
          </a:solidFill>
          <a:ln w="12700">
            <a:solidFill>
              <a:srgbClr val="2F7D5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8284464" y="2660904"/>
            <a:ext cx="3264408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Generalizability criterion</a:t>
            </a:r>
            <a:endParaRPr lang="en-US" sz="1720" dirty="0"/>
          </a:p>
        </p:txBody>
      </p:sp>
      <p:sp>
        <p:nvSpPr>
          <p:cNvPr id="22" name="Text 20"/>
          <p:cNvSpPr txBox="1"/>
          <p:nvPr/>
        </p:nvSpPr>
        <p:spPr>
          <a:xfrm>
            <a:off x="8302752" y="3044952"/>
            <a:ext cx="3227832" cy="22402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Scaling is meaningful only when it transfers across tasks, densities, and serving contexts.</a:t>
            </a:r>
            <a:endParaRPr lang="en-US" sz="152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This is the evaluation lens of the thesis.</a:t>
            </a:r>
            <a:endParaRPr lang="en-US" sz="1520" dirty="0"/>
          </a:p>
        </p:txBody>
      </p:sp>
      <p:sp>
        <p:nvSpPr>
          <p:cNvPr id="23" name="Shape 21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thesis contribution is a methodology: diagnose the structural bottleneck, then scale along the right axis.</a:t>
            </a:r>
            <a:endParaRPr lang="en-US" sz="1700" dirty="0"/>
          </a:p>
        </p:txBody>
      </p:sp>
      <p:sp>
        <p:nvSpPr>
          <p:cNvPr id="26" name="Rectangle 25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14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>
                <a:solidFill>
                  <a:srgbClr val="142642"/>
                </a:solidFill>
                <a:latin typeface="Arial"/>
              </a:rPr>
              <a:t>Video Retrieval Selects Relevant Videos from a Large Corpus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141732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85800" y="1417320"/>
            <a:ext cx="73152" cy="210312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886968" y="1563624"/>
            <a:ext cx="334670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retrieval objective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905256" y="1947672"/>
            <a:ext cx="3310128" cy="146304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Given query q and corpus V={v₁,…,vₙ}, retrieve videos relevant to q.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Embedding form: s(q,v)=cos(Eq(q), Ev(v)).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system returns a compact candidate set for ranking or user display.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4526280" y="1417320"/>
            <a:ext cx="3337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526280" y="1417320"/>
            <a:ext cx="73152" cy="2103120"/>
          </a:xfrm>
          <a:prstGeom prst="rect">
            <a:avLst/>
          </a:prstGeom>
          <a:solidFill>
            <a:srgbClr val="2F6DA5"/>
          </a:solidFill>
          <a:ln w="12700">
            <a:solidFill>
              <a:srgbClr val="2F6DA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4727448" y="1563624"/>
            <a:ext cx="302666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formats</a:t>
            </a:r>
            <a:endParaRPr lang="en-US" sz="1750" dirty="0"/>
          </a:p>
        </p:txBody>
      </p:sp>
      <p:sp>
        <p:nvSpPr>
          <p:cNvPr id="16" name="Text 14"/>
          <p:cNvSpPr txBox="1"/>
          <p:nvPr/>
        </p:nvSpPr>
        <p:spPr>
          <a:xfrm>
            <a:off x="4745736" y="1947672"/>
            <a:ext cx="2990088" cy="146304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Textual: text-to-video retrieval.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Visual: image-to-video or video-to-video retrieval.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Composed: text + image / text + video reference.</a:t>
            </a:r>
            <a:endParaRPr lang="en-US" sz="1580" dirty="0"/>
          </a:p>
        </p:txBody>
      </p:sp>
      <p:sp>
        <p:nvSpPr>
          <p:cNvPr id="17" name="Shape 15"/>
          <p:cNvSpPr/>
          <p:nvPr/>
        </p:nvSpPr>
        <p:spPr>
          <a:xfrm>
            <a:off x="8046720" y="1417320"/>
            <a:ext cx="3337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046720" y="1417320"/>
            <a:ext cx="73152" cy="2103120"/>
          </a:xfrm>
          <a:prstGeom prst="rect">
            <a:avLst/>
          </a:prstGeom>
          <a:solidFill>
            <a:srgbClr val="3D7D82"/>
          </a:solidFill>
          <a:ln w="12700">
            <a:solidFill>
              <a:srgbClr val="3D7D8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247888" y="1563624"/>
            <a:ext cx="302666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domains</a:t>
            </a:r>
            <a:endParaRPr lang="en-US" sz="1750" dirty="0"/>
          </a:p>
        </p:txBody>
      </p:sp>
      <p:sp>
        <p:nvSpPr>
          <p:cNvPr id="20" name="Text 18"/>
          <p:cNvSpPr txBox="1"/>
          <p:nvPr/>
        </p:nvSpPr>
        <p:spPr>
          <a:xfrm>
            <a:off x="8266176" y="1947672"/>
            <a:ext cx="2990088" cy="146304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Coarse-grained: overall themes and topics.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Fine-grained: spatial, temporal, partially relevant details.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Long-context: narrative-level or event-sequence matching.</a:t>
            </a:r>
            <a:endParaRPr lang="en-US" sz="1580" dirty="0"/>
          </a:p>
        </p:txBody>
      </p:sp>
      <p:sp>
        <p:nvSpPr>
          <p:cNvPr id="21" name="Shape 19"/>
          <p:cNvSpPr/>
          <p:nvPr/>
        </p:nvSpPr>
        <p:spPr>
          <a:xfrm>
            <a:off x="1600200" y="4434840"/>
            <a:ext cx="822960" cy="0"/>
          </a:xfrm>
          <a:prstGeom prst="line">
            <a:avLst/>
          </a:prstGeom>
          <a:noFill/>
          <a:ln w="19050">
            <a:solidFill>
              <a:srgbClr val="C89F53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3749040" y="4434840"/>
            <a:ext cx="822960" cy="0"/>
          </a:xfrm>
          <a:prstGeom prst="line">
            <a:avLst/>
          </a:prstGeom>
          <a:noFill/>
          <a:ln w="19050">
            <a:solidFill>
              <a:srgbClr val="C89F53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5897880" y="4434840"/>
            <a:ext cx="822960" cy="0"/>
          </a:xfrm>
          <a:prstGeom prst="line">
            <a:avLst/>
          </a:prstGeom>
          <a:noFill/>
          <a:ln w="19050">
            <a:solidFill>
              <a:srgbClr val="C89F53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8046720" y="4434840"/>
            <a:ext cx="822960" cy="0"/>
          </a:xfrm>
          <a:prstGeom prst="line">
            <a:avLst/>
          </a:prstGeom>
          <a:noFill/>
          <a:ln w="19050">
            <a:solidFill>
              <a:srgbClr val="C89F53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749808" y="397764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822960" y="4224528"/>
            <a:ext cx="1463040" cy="36576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2898648" y="397764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2971800" y="4224528"/>
            <a:ext cx="1463040" cy="36576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5047488" y="397764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5120640" y="4224528"/>
            <a:ext cx="1463040" cy="36576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ANNS Search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7196328" y="397764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7269480" y="4224528"/>
            <a:ext cx="1463040" cy="36576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9345168" y="397764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 txBox="1"/>
          <p:nvPr/>
        </p:nvSpPr>
        <p:spPr>
          <a:xfrm>
            <a:off x="9418320" y="4224528"/>
            <a:ext cx="1463040" cy="36576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video retrieval has evolved from short-clip matching into a multi-format, multi-scale retrieval-and-ranking system.</a:t>
            </a:r>
            <a:endParaRPr lang="en-US" sz="1700" dirty="0"/>
          </a:p>
        </p:txBody>
      </p:sp>
      <p:sp>
        <p:nvSpPr>
          <p:cNvPr id="38" name="Rectangle 37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14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Modern Video Retrieval Now Operates at Production Scale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298448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822960" y="1362456"/>
            <a:ext cx="2276856" cy="46177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0" i="0">
                <a:solidFill>
                  <a:srgbClr val="1F2937"/>
                </a:solidFill>
                <a:latin typeface="Arial"/>
              </a:rPr>
              <a:t>500 hrs/min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859536" y="2007108"/>
            <a:ext cx="2203704" cy="41605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142642"/>
                </a:solidFill>
                <a:latin typeface="Arial"/>
              </a:rPr>
              <a:t>YouTube upload scale</a:t>
            </a:r>
          </a:p>
        </p:txBody>
      </p:sp>
      <p:sp>
        <p:nvSpPr>
          <p:cNvPr id="12" name="Shape 10"/>
          <p:cNvSpPr/>
          <p:nvPr/>
        </p:nvSpPr>
        <p:spPr>
          <a:xfrm>
            <a:off x="3429000" y="1298448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3502152" y="1362456"/>
            <a:ext cx="2276856" cy="46177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0" i="0">
                <a:solidFill>
                  <a:srgbClr val="1F2937"/>
                </a:solidFill>
                <a:latin typeface="Arial"/>
              </a:rPr>
              <a:t>1B+</a:t>
            </a:r>
          </a:p>
        </p:txBody>
      </p:sp>
      <p:sp>
        <p:nvSpPr>
          <p:cNvPr id="14" name="Text 12"/>
          <p:cNvSpPr txBox="1"/>
          <p:nvPr/>
        </p:nvSpPr>
        <p:spPr>
          <a:xfrm>
            <a:off x="3538728" y="2007108"/>
            <a:ext cx="2203704" cy="41605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142642"/>
                </a:solidFill>
                <a:latin typeface="Arial"/>
              </a:rPr>
              <a:t>short-video users</a:t>
            </a:r>
          </a:p>
        </p:txBody>
      </p:sp>
      <p:sp>
        <p:nvSpPr>
          <p:cNvPr id="15" name="Shape 13"/>
          <p:cNvSpPr/>
          <p:nvPr/>
        </p:nvSpPr>
        <p:spPr>
          <a:xfrm>
            <a:off x="6108192" y="1298448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6181344" y="1362456"/>
            <a:ext cx="2276856" cy="46177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0" i="0">
                <a:solidFill>
                  <a:srgbClr val="1F2937"/>
                </a:solidFill>
                <a:latin typeface="Arial"/>
              </a:rPr>
              <a:t>Prod-scale</a:t>
            </a:r>
          </a:p>
        </p:txBody>
      </p:sp>
      <p:sp>
        <p:nvSpPr>
          <p:cNvPr id="17" name="Text 15"/>
          <p:cNvSpPr txBox="1"/>
          <p:nvPr/>
        </p:nvSpPr>
        <p:spPr>
          <a:xfrm>
            <a:off x="6217920" y="2007108"/>
            <a:ext cx="2203704" cy="41605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142642"/>
                </a:solidFill>
                <a:latin typeface="Arial"/>
              </a:rPr>
              <a:t>production-scale Baidu retrieval traffic</a:t>
            </a:r>
          </a:p>
        </p:txBody>
      </p:sp>
      <p:sp>
        <p:nvSpPr>
          <p:cNvPr id="18" name="Shape 16"/>
          <p:cNvSpPr/>
          <p:nvPr/>
        </p:nvSpPr>
        <p:spPr>
          <a:xfrm>
            <a:off x="8796528" y="1298448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869680" y="1362456"/>
            <a:ext cx="2276856" cy="46177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&lt;10 ms</a:t>
            </a:r>
            <a:endParaRPr lang="en-US" sz="2300" dirty="0"/>
          </a:p>
        </p:txBody>
      </p:sp>
      <p:sp>
        <p:nvSpPr>
          <p:cNvPr id="20" name="Text 18"/>
          <p:cNvSpPr txBox="1"/>
          <p:nvPr/>
        </p:nvSpPr>
        <p:spPr>
          <a:xfrm>
            <a:off x="8906256" y="2007108"/>
            <a:ext cx="2203704" cy="41605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budget for candidate retrieval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49808" y="2788920"/>
            <a:ext cx="51663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749808" y="2788920"/>
            <a:ext cx="73152" cy="228600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950976" y="2935224"/>
            <a:ext cx="485546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Field-level pressure</a:t>
            </a:r>
            <a:endParaRPr lang="en-US" sz="1750" dirty="0"/>
          </a:p>
        </p:txBody>
      </p:sp>
      <p:sp>
        <p:nvSpPr>
          <p:cNvPr id="24" name="Text 22"/>
          <p:cNvSpPr txBox="1"/>
          <p:nvPr/>
        </p:nvSpPr>
        <p:spPr>
          <a:xfrm>
            <a:off x="969264" y="3319272"/>
            <a:ext cx="4818888" cy="164592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Video collections grow in scale, duration, modality, and semantic complexity.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Short-clip datasets no longer represent real retrieval workloads.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dominant architecture is retrieval-and-ranking: billion-scale corpus → thousand-scale candidates.</a:t>
            </a:r>
            <a:endParaRPr lang="en-US" sz="1580" dirty="0"/>
          </a:p>
        </p:txBody>
      </p:sp>
      <p:sp>
        <p:nvSpPr>
          <p:cNvPr id="25" name="Shape 23"/>
          <p:cNvSpPr/>
          <p:nvPr/>
        </p:nvSpPr>
        <p:spPr>
          <a:xfrm>
            <a:off x="6217920" y="2788920"/>
            <a:ext cx="49834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6217920" y="2788920"/>
            <a:ext cx="73152" cy="2286000"/>
          </a:xfrm>
          <a:prstGeom prst="rect">
            <a:avLst/>
          </a:prstGeom>
          <a:solidFill>
            <a:srgbClr val="2F6DA5"/>
          </a:solidFill>
          <a:ln w="12700">
            <a:solidFill>
              <a:srgbClr val="2F6DA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 txBox="1"/>
          <p:nvPr/>
        </p:nvSpPr>
        <p:spPr>
          <a:xfrm>
            <a:off x="6419088" y="2935224"/>
            <a:ext cx="467258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Research-level gap</a:t>
            </a:r>
            <a:endParaRPr lang="en-US" sz="1750" dirty="0"/>
          </a:p>
        </p:txBody>
      </p:sp>
      <p:sp>
        <p:nvSpPr>
          <p:cNvPr id="28" name="Text 26"/>
          <p:cNvSpPr txBox="1"/>
          <p:nvPr/>
        </p:nvSpPr>
        <p:spPr>
          <a:xfrm>
            <a:off x="6437376" y="3319272"/>
            <a:ext cx="4636008" cy="164592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Benchmarks isolate one dimension at a time.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Leaderboard gains do not reveal whether models generalize across query formats and domains.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requires representation, observation, and search to work together.</a:t>
            </a:r>
            <a:endParaRPr lang="en-US" sz="1580" dirty="0"/>
          </a:p>
        </p:txBody>
      </p:sp>
      <p:sp>
        <p:nvSpPr>
          <p:cNvPr id="29" name="Shape 27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field needs to move from fixed benchmark matching to understanding how retrieval scales.</a:t>
            </a:r>
            <a:endParaRPr lang="en-US" sz="1700" dirty="0"/>
          </a:p>
        </p:txBody>
      </p:sp>
      <p:sp>
        <p:nvSpPr>
          <p:cNvPr id="32" name="Rectangle 31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14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Modern Retrieval Goes Beyond Short-Clip Matching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325880"/>
            <a:ext cx="36576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77240" y="1325880"/>
            <a:ext cx="73152" cy="3291840"/>
          </a:xfrm>
          <a:prstGeom prst="rect">
            <a:avLst/>
          </a:prstGeom>
          <a:solidFill>
            <a:srgbClr val="2F6DA5"/>
          </a:solidFill>
          <a:ln w="12700">
            <a:solidFill>
              <a:srgbClr val="2F6DA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978408" y="1472184"/>
            <a:ext cx="334670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world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996696" y="1856232"/>
            <a:ext cx="3310128" cy="265176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Short clips: usually 10–30 seconds.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Single query type, often text only.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Small corpora: 1K–10K videos.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One capability measured at a time.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7726680" y="1325880"/>
            <a:ext cx="36576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7726680" y="1325880"/>
            <a:ext cx="73152" cy="3291840"/>
          </a:xfrm>
          <a:prstGeom prst="rect">
            <a:avLst/>
          </a:prstGeom>
          <a:solidFill>
            <a:srgbClr val="A94442"/>
          </a:solidFill>
          <a:ln w="12700">
            <a:solidFill>
              <a:srgbClr val="A9444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7927848" y="1472184"/>
            <a:ext cx="334670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reality</a:t>
            </a:r>
            <a:endParaRPr lang="en-US" sz="1750" dirty="0"/>
          </a:p>
        </p:txBody>
      </p:sp>
      <p:sp>
        <p:nvSpPr>
          <p:cNvPr id="16" name="Text 14"/>
          <p:cNvSpPr txBox="1"/>
          <p:nvPr/>
        </p:nvSpPr>
        <p:spPr>
          <a:xfrm>
            <a:off x="7946136" y="1856232"/>
            <a:ext cx="3310128" cy="265176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Long videos: minutes to hours.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Heterogeneous queries: text, image, composed.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Billion-scale candidate pools.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Sub-10ms retrieval and strict serving budget.</a:t>
            </a:r>
            <a:endParaRPr lang="en-US" sz="1580" dirty="0"/>
          </a:p>
        </p:txBody>
      </p:sp>
      <p:sp>
        <p:nvSpPr>
          <p:cNvPr id="17" name="Shape 15"/>
          <p:cNvSpPr/>
          <p:nvPr/>
        </p:nvSpPr>
        <p:spPr>
          <a:xfrm>
            <a:off x="4526280" y="1920240"/>
            <a:ext cx="3063240" cy="1920240"/>
          </a:xfrm>
          <a:prstGeom prst="roundRect">
            <a:avLst>
              <a:gd name="adj" fmla="val 3810"/>
            </a:avLst>
          </a:prstGeom>
          <a:solidFill>
            <a:srgbClr val="FFF7E6"/>
          </a:solidFill>
          <a:ln w="1524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4754880" y="2066544"/>
            <a:ext cx="2606040" cy="162763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is structural: each downstream stage exposes a bottleneck invisible in controlled short-clip benchmarks.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optimized for a clean benchmark can still fail when query diversity, video length, and corpus scale increase together.</a:t>
            </a:r>
            <a:endParaRPr lang="en-US" sz="1700" dirty="0"/>
          </a:p>
        </p:txBody>
      </p:sp>
      <p:sp>
        <p:nvSpPr>
          <p:cNvPr id="22" name="Rectangle 21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14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Three Bottlenecks Structure the Thesis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234440"/>
            <a:ext cx="66294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0" name="Image 0" descr="/mnt/data/pres_assets/slide05_img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75508"/>
            <a:ext cx="6483096" cy="344414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543800" y="1234440"/>
            <a:ext cx="3657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7543800" y="1234440"/>
            <a:ext cx="73152" cy="123444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 txBox="1"/>
          <p:nvPr/>
        </p:nvSpPr>
        <p:spPr>
          <a:xfrm>
            <a:off x="7744968" y="1380744"/>
            <a:ext cx="334670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Semantic scaling</a:t>
            </a:r>
            <a:endParaRPr lang="en-US" sz="1650" dirty="0"/>
          </a:p>
        </p:txBody>
      </p:sp>
      <p:sp>
        <p:nvSpPr>
          <p:cNvPr id="14" name="Text 11"/>
          <p:cNvSpPr txBox="1"/>
          <p:nvPr/>
        </p:nvSpPr>
        <p:spPr>
          <a:xfrm>
            <a:off x="7763256" y="1764792"/>
            <a:ext cx="3310128" cy="59436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 capabilities must the model possess?</a:t>
            </a:r>
            <a:endParaRPr lang="en-US" sz="14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Fragmented evaluation hides capability gaps.</a:t>
            </a:r>
            <a:endParaRPr lang="en-US" sz="14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Solution requires diagnostic-guided synthesis.</a:t>
            </a:r>
            <a:endParaRPr lang="en-US" sz="1480" dirty="0"/>
          </a:p>
        </p:txBody>
      </p:sp>
      <p:sp>
        <p:nvSpPr>
          <p:cNvPr id="15" name="Shape 12"/>
          <p:cNvSpPr/>
          <p:nvPr/>
        </p:nvSpPr>
        <p:spPr>
          <a:xfrm>
            <a:off x="7543800" y="2633472"/>
            <a:ext cx="3657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7543800" y="2633472"/>
            <a:ext cx="73152" cy="1234440"/>
          </a:xfrm>
          <a:prstGeom prst="rect">
            <a:avLst/>
          </a:prstGeom>
          <a:solidFill>
            <a:srgbClr val="3D7D82"/>
          </a:solidFill>
          <a:ln w="12700">
            <a:solidFill>
              <a:srgbClr val="3D7D8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 txBox="1"/>
          <p:nvPr/>
        </p:nvSpPr>
        <p:spPr>
          <a:xfrm>
            <a:off x="7744968" y="2779776"/>
            <a:ext cx="334670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Observational scaling</a:t>
            </a:r>
            <a:endParaRPr lang="en-US" sz="1650" dirty="0"/>
          </a:p>
        </p:txBody>
      </p:sp>
      <p:sp>
        <p:nvSpPr>
          <p:cNvPr id="18" name="Text 15"/>
          <p:cNvSpPr txBox="1"/>
          <p:nvPr/>
        </p:nvSpPr>
        <p:spPr>
          <a:xfrm>
            <a:off x="7763256" y="3163824"/>
            <a:ext cx="3310128" cy="59436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How should visual evidence be acquired?</a:t>
            </a:r>
            <a:endParaRPr lang="en-US" sz="14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Long videos make frame sampling a structural decision.</a:t>
            </a:r>
            <a:endParaRPr lang="en-US" sz="14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Optimal density depends on query granularity.</a:t>
            </a:r>
            <a:endParaRPr lang="en-US" sz="1480" dirty="0"/>
          </a:p>
        </p:txBody>
      </p:sp>
      <p:sp>
        <p:nvSpPr>
          <p:cNvPr id="19" name="Shape 16"/>
          <p:cNvSpPr/>
          <p:nvPr/>
        </p:nvSpPr>
        <p:spPr>
          <a:xfrm>
            <a:off x="7543800" y="4041648"/>
            <a:ext cx="3657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7543800" y="4041648"/>
            <a:ext cx="73152" cy="1234440"/>
          </a:xfrm>
          <a:prstGeom prst="rect">
            <a:avLst/>
          </a:prstGeom>
          <a:solidFill>
            <a:srgbClr val="2F6DA5"/>
          </a:solidFill>
          <a:ln w="12700">
            <a:solidFill>
              <a:srgbClr val="2F6DA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 txBox="1"/>
          <p:nvPr/>
        </p:nvSpPr>
        <p:spPr>
          <a:xfrm>
            <a:off x="7744968" y="4187952"/>
            <a:ext cx="334670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Search scaling</a:t>
            </a:r>
            <a:endParaRPr lang="en-US" sz="1650" dirty="0"/>
          </a:p>
        </p:txBody>
      </p:sp>
      <p:sp>
        <p:nvSpPr>
          <p:cNvPr id="22" name="Text 19"/>
          <p:cNvSpPr txBox="1"/>
          <p:nvPr/>
        </p:nvSpPr>
        <p:spPr>
          <a:xfrm>
            <a:off x="7763256" y="4572000"/>
            <a:ext cx="3310128" cy="59436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How are learned signals searched at scale?</a:t>
            </a:r>
            <a:endParaRPr lang="en-US" sz="14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DNN metrics must remain compatible with graph traversal and GPU serving.</a:t>
            </a:r>
            <a:endParaRPr lang="en-US" sz="1480" dirty="0"/>
          </a:p>
        </p:txBody>
      </p:sp>
      <p:sp>
        <p:nvSpPr>
          <p:cNvPr id="23" name="Shape 20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challenges follow the information flow but remain independent bottlenecks.</a:t>
            </a:r>
            <a:endParaRPr lang="en-US" sz="1700" dirty="0"/>
          </a:p>
        </p:txBody>
      </p:sp>
      <p:sp>
        <p:nvSpPr>
          <p:cNvPr id="26" name="Rectangle 25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14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Naive Scaling Fails at Each Pipeline Stage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0352" y="1325880"/>
            <a:ext cx="3575304" cy="4434840"/>
          </a:xfrm>
          <a:prstGeom prst="roundRect">
            <a:avLst>
              <a:gd name="adj" fmla="val 2046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530352" y="1325880"/>
            <a:ext cx="73152" cy="443484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731520" y="1472184"/>
            <a:ext cx="3264408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bottleneck</a:t>
            </a:r>
            <a:endParaRPr lang="en-US" sz="172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1856232"/>
            <a:ext cx="3227832" cy="379476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Scaling model size/data alone does not ensure broader capability.</a:t>
            </a:r>
            <a:endParaRPr lang="en-US" sz="152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Conventional MSR-VTT performance correlates weakly with holistic retrieval (ρ≈0.58).</a:t>
            </a:r>
            <a:endParaRPr lang="en-US" sz="152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Models lack unified multi-task diagnosis.</a:t>
            </a:r>
            <a:endParaRPr lang="en-US" sz="1520" dirty="0"/>
          </a:p>
        </p:txBody>
      </p:sp>
      <p:sp>
        <p:nvSpPr>
          <p:cNvPr id="13" name="Shape 11"/>
          <p:cNvSpPr/>
          <p:nvPr/>
        </p:nvSpPr>
        <p:spPr>
          <a:xfrm>
            <a:off x="4306824" y="1325880"/>
            <a:ext cx="3575304" cy="4434840"/>
          </a:xfrm>
          <a:prstGeom prst="roundRect">
            <a:avLst>
              <a:gd name="adj" fmla="val 2046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306824" y="1325880"/>
            <a:ext cx="73152" cy="4434840"/>
          </a:xfrm>
          <a:prstGeom prst="rect">
            <a:avLst/>
          </a:prstGeom>
          <a:solidFill>
            <a:srgbClr val="3D7D82"/>
          </a:solidFill>
          <a:ln w="12700">
            <a:solidFill>
              <a:srgbClr val="3D7D8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4507992" y="1472184"/>
            <a:ext cx="3264408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 bottleneck</a:t>
            </a:r>
            <a:endParaRPr lang="en-US" sz="172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1856232"/>
            <a:ext cx="3227832" cy="379476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Short clips are too brief for sampling to matter.</a:t>
            </a:r>
            <a:endParaRPr lang="en-US" sz="152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Existing long-video benchmarks do not jointly test multiple query granularities.</a:t>
            </a:r>
            <a:endParaRPr lang="en-US" sz="152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Sampling × granularity interaction remains unknown.</a:t>
            </a:r>
            <a:endParaRPr lang="en-US" sz="1520" dirty="0"/>
          </a:p>
        </p:txBody>
      </p:sp>
      <p:sp>
        <p:nvSpPr>
          <p:cNvPr id="17" name="Shape 15"/>
          <p:cNvSpPr/>
          <p:nvPr/>
        </p:nvSpPr>
        <p:spPr>
          <a:xfrm>
            <a:off x="8083296" y="1325880"/>
            <a:ext cx="3575304" cy="4434840"/>
          </a:xfrm>
          <a:prstGeom prst="roundRect">
            <a:avLst>
              <a:gd name="adj" fmla="val 2046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083296" y="1325880"/>
            <a:ext cx="73152" cy="4434840"/>
          </a:xfrm>
          <a:prstGeom prst="rect">
            <a:avLst/>
          </a:prstGeom>
          <a:solidFill>
            <a:srgbClr val="2F6DA5"/>
          </a:solidFill>
          <a:ln w="12700">
            <a:solidFill>
              <a:srgbClr val="2F6DA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284464" y="1472184"/>
            <a:ext cx="3264408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bottleneck</a:t>
            </a:r>
            <a:endParaRPr lang="en-US" sz="1720" dirty="0"/>
          </a:p>
        </p:txBody>
      </p:sp>
      <p:sp>
        <p:nvSpPr>
          <p:cNvPr id="20" name="Text 18"/>
          <p:cNvSpPr txBox="1"/>
          <p:nvPr/>
        </p:nvSpPr>
        <p:spPr>
          <a:xfrm>
            <a:off x="8302752" y="1856232"/>
            <a:ext cx="3227832" cy="379476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Optimizing metric, graph traversal, or hardware in isolation fails.</a:t>
            </a:r>
            <a:endParaRPr lang="en-US" sz="152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Neural metrics violate triangle inequality.</a:t>
            </a:r>
            <a:endParaRPr lang="en-US" sz="152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 concurrency exposes GPU kernel-launch overhead.</a:t>
            </a:r>
            <a:endParaRPr lang="en-US" sz="1520" dirty="0"/>
          </a:p>
        </p:txBody>
      </p:sp>
      <p:sp>
        <p:nvSpPr>
          <p:cNvPr id="21" name="Shape 19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bottleneck requires a targeted solution, not a larger version of the same component.</a:t>
            </a:r>
            <a:endParaRPr lang="en-US" sz="1700" dirty="0"/>
          </a:p>
        </p:txBody>
      </p:sp>
      <p:sp>
        <p:nvSpPr>
          <p:cNvPr id="24" name="Rectangle 23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14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Three Studies Address Three Pipeline Bottlenecks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1280160"/>
            <a:ext cx="3474720" cy="42976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85800" y="1280160"/>
            <a:ext cx="73152" cy="429768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886968" y="1426464"/>
            <a:ext cx="316382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1 — Semantic Scaling: GVE</a:t>
            </a:r>
            <a:endParaRPr lang="en-US" sz="1720" dirty="0"/>
          </a:p>
        </p:txBody>
      </p:sp>
      <p:sp>
        <p:nvSpPr>
          <p:cNvPr id="12" name="Text 10"/>
          <p:cNvSpPr txBox="1"/>
          <p:nvPr/>
        </p:nvSpPr>
        <p:spPr>
          <a:xfrm>
            <a:off x="905256" y="1810512"/>
            <a:ext cx="3127248" cy="365760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UVRB: unified evaluation across 16 datasets and 14 models.</a:t>
            </a:r>
            <a:endParaRPr lang="en-US" sz="151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V-SynFlow: capability-guided synthesis → UVRD (1.55M pairs).</a:t>
            </a:r>
            <a:endParaRPr lang="en-US" sz="151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GVE-7B: SOTA zero-shot; +6.5% over Unite-7B.</a:t>
            </a:r>
            <a:endParaRPr lang="en-US" sz="1510" dirty="0"/>
          </a:p>
        </p:txBody>
      </p:sp>
      <p:sp>
        <p:nvSpPr>
          <p:cNvPr id="13" name="Shape 11"/>
          <p:cNvSpPr/>
          <p:nvPr/>
        </p:nvSpPr>
        <p:spPr>
          <a:xfrm>
            <a:off x="4352544" y="1280160"/>
            <a:ext cx="3474720" cy="42976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352544" y="1280160"/>
            <a:ext cx="73152" cy="4297680"/>
          </a:xfrm>
          <a:prstGeom prst="rect">
            <a:avLst/>
          </a:prstGeom>
          <a:solidFill>
            <a:srgbClr val="3D7D82"/>
          </a:solidFill>
          <a:ln w="12700">
            <a:solidFill>
              <a:srgbClr val="3D7D8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4553712" y="1426464"/>
            <a:ext cx="316382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2 — Observational Scaling: MG-LVR + VEterfall</a:t>
            </a:r>
            <a:endParaRPr lang="en-US" sz="172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1810512"/>
            <a:ext cx="3127248" cy="365760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MG-LVR: 9,971 queries, 4,844 long videos, avg 706s.</a:t>
            </a:r>
            <a:endParaRPr lang="en-US" sz="151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Scaling laws across 23 models reveal frame-count anchoring.</a:t>
            </a:r>
            <a:endParaRPr lang="en-US" sz="151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VEterfall: +20% fine-grained gain at 4–16× token efficiency.</a:t>
            </a:r>
            <a:endParaRPr lang="en-US" sz="1510" dirty="0"/>
          </a:p>
        </p:txBody>
      </p:sp>
      <p:sp>
        <p:nvSpPr>
          <p:cNvPr id="17" name="Shape 15"/>
          <p:cNvSpPr/>
          <p:nvPr/>
        </p:nvSpPr>
        <p:spPr>
          <a:xfrm>
            <a:off x="8019288" y="1280160"/>
            <a:ext cx="3474720" cy="42976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019288" y="1280160"/>
            <a:ext cx="73152" cy="4297680"/>
          </a:xfrm>
          <a:prstGeom prst="rect">
            <a:avLst/>
          </a:prstGeom>
          <a:solidFill>
            <a:srgbClr val="2F6DA5"/>
          </a:solidFill>
          <a:ln w="12700">
            <a:solidFill>
              <a:srgbClr val="2F6DA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220456" y="1426464"/>
            <a:ext cx="316382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3 — Search Scaling: GMP-GR</a:t>
            </a:r>
            <a:endParaRPr lang="en-US" sz="1720" dirty="0"/>
          </a:p>
        </p:txBody>
      </p:sp>
      <p:sp>
        <p:nvSpPr>
          <p:cNvPr id="20" name="Text 18"/>
          <p:cNvSpPr txBox="1"/>
          <p:nvPr/>
        </p:nvSpPr>
        <p:spPr>
          <a:xfrm>
            <a:off x="8238744" y="1810512"/>
            <a:ext cx="3127248" cy="365760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0" i="0">
                <a:solidFill>
                  <a:srgbClr val="1F2937"/>
                </a:solidFill>
                <a:latin typeface="Arial"/>
              </a:rPr>
              <a:t>• MUIRML: self-covariant metric regularization.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0" i="0">
                <a:solidFill>
                  <a:srgbClr val="1F2937"/>
                </a:solidFill>
                <a:latin typeface="Arial"/>
              </a:rPr>
              <a:t>• HiPANNS: candidate + query parallel graph search.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0" i="0">
                <a:solidFill>
                  <a:srgbClr val="1F2937"/>
                </a:solidFill>
                <a:latin typeface="Arial"/>
              </a:rPr>
              <a:t>• Deployed at Baidu: 20+ apps, production-scale traffic, +3% time-on-page.</a:t>
            </a:r>
          </a:p>
        </p:txBody>
      </p:sp>
      <p:sp>
        <p:nvSpPr>
          <p:cNvPr id="21" name="Shape 19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artifacts address successive retrieval stages under one principle: structure-aware scaling.</a:t>
            </a:r>
            <a:endParaRPr lang="en-US" sz="1700" dirty="0"/>
          </a:p>
        </p:txBody>
      </p:sp>
      <p:sp>
        <p:nvSpPr>
          <p:cNvPr id="24" name="Rectangle 23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14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WORK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Two Model Families Require Unified Diagnosis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325880"/>
            <a:ext cx="51663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49808" y="1325880"/>
            <a:ext cx="73152" cy="3931920"/>
          </a:xfrm>
          <a:prstGeom prst="rect">
            <a:avLst/>
          </a:prstGeom>
          <a:solidFill>
            <a:srgbClr val="2F6DA5"/>
          </a:solidFill>
          <a:ln w="12700">
            <a:solidFill>
              <a:srgbClr val="2F6DA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950976" y="1472184"/>
            <a:ext cx="485546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CLIP-based dual encoders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969264" y="1856232"/>
            <a:ext cx="4818888" cy="329184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Examples: CLIP4Clip, ViCLIP, VideoCLIP-XL, LanguageBind, InternVideo2.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Strength: fast retrieval and strong standard T2V performance.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Limitation: modality-specific encoders and weak language/composed-query handling.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6217920" y="1325880"/>
            <a:ext cx="49834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217920" y="1325880"/>
            <a:ext cx="73152" cy="393192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6419088" y="1472184"/>
            <a:ext cx="467258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MLLM-based unified encoders</a:t>
            </a:r>
            <a:endParaRPr lang="en-US" sz="1750" dirty="0"/>
          </a:p>
        </p:txBody>
      </p:sp>
      <p:sp>
        <p:nvSpPr>
          <p:cNvPr id="16" name="Text 14"/>
          <p:cNvSpPr txBox="1"/>
          <p:nvPr/>
        </p:nvSpPr>
        <p:spPr>
          <a:xfrm>
            <a:off x="6437376" y="1856232"/>
            <a:ext cx="4636008" cy="329184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Examples: LLaVE, UNITE, GME, BGE-VL, UniME, VLM2Vec-V2, Qwen3-VL-Embedding.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Strength: shared multimodal reasoning and more balanced learning.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Challenge: heterogeneous supervision causes gradient interference and task submergence.</a:t>
            </a:r>
            <a:endParaRPr lang="en-US" sz="1580" dirty="0"/>
          </a:p>
        </p:txBody>
      </p:sp>
      <p:sp>
        <p:nvSpPr>
          <p:cNvPr id="17" name="Shape 15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shapes capability development, but fair comparison requires a unified evaluation protocol.</a:t>
            </a:r>
            <a:endParaRPr lang="en-US" sz="1700" dirty="0"/>
          </a:p>
        </p:txBody>
      </p:sp>
      <p:sp>
        <p:nvSpPr>
          <p:cNvPr id="20" name="Rectangle 19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14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WORK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Benchmarks and Search Systems Each Miss One Dimension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280160"/>
            <a:ext cx="51663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49808" y="1280160"/>
            <a:ext cx="73152" cy="2194560"/>
          </a:xfrm>
          <a:prstGeom prst="rect">
            <a:avLst/>
          </a:prstGeom>
          <a:solidFill>
            <a:srgbClr val="3D7D82"/>
          </a:solidFill>
          <a:ln w="12700">
            <a:solidFill>
              <a:srgbClr val="3D7D8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950976" y="1426464"/>
            <a:ext cx="485546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evolution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969264" y="1810512"/>
            <a:ext cx="4818888" cy="15544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MSR-VTT / DiDeMo: short clips and text-to-video retrieval.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CaReBench: fine-grained retrieval.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LoVR: long-video retrieval.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CoVR: composed retrieval.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6217920" y="1280160"/>
            <a:ext cx="49834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217920" y="1280160"/>
            <a:ext cx="73152" cy="2194560"/>
          </a:xfrm>
          <a:prstGeom prst="rect">
            <a:avLst/>
          </a:prstGeom>
          <a:solidFill>
            <a:srgbClr val="A94442"/>
          </a:solidFill>
          <a:ln w="12700">
            <a:solidFill>
              <a:srgbClr val="A9444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6419088" y="1426464"/>
            <a:ext cx="467258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benchmark dimension</a:t>
            </a:r>
            <a:endParaRPr lang="en-US" sz="1750" dirty="0"/>
          </a:p>
        </p:txBody>
      </p:sp>
      <p:sp>
        <p:nvSpPr>
          <p:cNvPr id="16" name="Text 14"/>
          <p:cNvSpPr txBox="1"/>
          <p:nvPr/>
        </p:nvSpPr>
        <p:spPr>
          <a:xfrm>
            <a:off x="6437376" y="1810512"/>
            <a:ext cx="4636008" cy="15544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Each benchmark covers one dimension.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benchmark jointly tests long-form video + multi-granular queries.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controlled testbed for sampling density × query granularity.</a:t>
            </a:r>
            <a:endParaRPr lang="en-US" sz="1580" dirty="0"/>
          </a:p>
        </p:txBody>
      </p:sp>
      <p:sp>
        <p:nvSpPr>
          <p:cNvPr id="17" name="Shape 15"/>
          <p:cNvSpPr/>
          <p:nvPr/>
        </p:nvSpPr>
        <p:spPr>
          <a:xfrm>
            <a:off x="749808" y="3703320"/>
            <a:ext cx="1045159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49808" y="3703320"/>
            <a:ext cx="73152" cy="1417320"/>
          </a:xfrm>
          <a:prstGeom prst="rect">
            <a:avLst/>
          </a:prstGeom>
          <a:solidFill>
            <a:srgbClr val="2F6DA5"/>
          </a:solidFill>
          <a:ln w="12700">
            <a:solidFill>
              <a:srgbClr val="2F6DA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950976" y="3849624"/>
            <a:ext cx="10140696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ANNS infrastructure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69264" y="4233672"/>
            <a:ext cx="10104120" cy="77724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Tree-based search suffers in high dimension; hashing trades accuracy for speed.</a:t>
            </a:r>
            <a:endParaRPr lang="en-US" sz="162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Graph-based HNSW dominates industrial retrieval.</a:t>
            </a:r>
            <a:endParaRPr lang="en-US" sz="162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SL2G and NANN combine DNN metrics with graph search, but metric-search tension remains unresolved.</a:t>
            </a:r>
            <a:endParaRPr lang="en-US" sz="1620" dirty="0"/>
          </a:p>
        </p:txBody>
      </p:sp>
      <p:sp>
        <p:nvSpPr>
          <p:cNvPr id="21" name="Shape 19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retrieval and recommender systems share the same infrastructure: embeddings, graph indexes, and GPU serving.</a:t>
            </a:r>
            <a:endParaRPr lang="en-US" sz="1700" dirty="0"/>
          </a:p>
        </p:txBody>
      </p:sp>
      <p:sp>
        <p:nvSpPr>
          <p:cNvPr id="24" name="Rectangle 23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14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12365D"/>
          </a:solidFill>
          <a:ln w="12700">
            <a:solidFill>
              <a:srgbClr val="12365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3383280" y="0"/>
            <a:ext cx="880841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658368" y="1115568"/>
            <a:ext cx="2011680" cy="91440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148840"/>
            <a:ext cx="2331720" cy="100584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8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1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58368" y="3337560"/>
            <a:ext cx="2084832" cy="0"/>
          </a:xfrm>
          <a:prstGeom prst="line">
            <a:avLst/>
          </a:prstGeom>
          <a:noFill/>
          <a:ln w="2540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4069080" y="1143000"/>
            <a:ext cx="7223760" cy="105156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3800" b="1" i="0">
                <a:solidFill>
                  <a:srgbClr val="142642"/>
                </a:solidFill>
                <a:latin typeface="Arial"/>
              </a:rPr>
              <a:t>Semantic Scaling: General Video Embedder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2514600"/>
            <a:ext cx="6858000" cy="118872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1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Addressing what capabilities a video retrieval model should possess, and how to scale toward them.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5440680"/>
            <a:ext cx="3657600" cy="34747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2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PhD Thesis Defense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1 · SEMANTIC SCALING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Universal Video Retrieval Defines the Capability Target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325880"/>
            <a:ext cx="38404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49808" y="1325880"/>
            <a:ext cx="73152" cy="205740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950976" y="1472184"/>
            <a:ext cx="352958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969264" y="1856232"/>
            <a:ext cx="3493008" cy="141732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Learn an embedding model Eθ such that s(q→v)=cos(Eθ(q),Eθ(v)) is higher for relevant pairs.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same model should work across query formats, semantic domains, and relevance granularities.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4800600" y="1325880"/>
            <a:ext cx="31546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800600" y="1325880"/>
            <a:ext cx="73152" cy="2057400"/>
          </a:xfrm>
          <a:prstGeom prst="rect">
            <a:avLst/>
          </a:prstGeom>
          <a:solidFill>
            <a:srgbClr val="3D7D82"/>
          </a:solidFill>
          <a:ln w="12700">
            <a:solidFill>
              <a:srgbClr val="3D7D8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5001768" y="1472184"/>
            <a:ext cx="284378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axes of evaluation</a:t>
            </a:r>
            <a:endParaRPr lang="en-US" sz="1750" dirty="0"/>
          </a:p>
        </p:txBody>
      </p:sp>
      <p:sp>
        <p:nvSpPr>
          <p:cNvPr id="16" name="Text 14"/>
          <p:cNvSpPr txBox="1"/>
          <p:nvPr/>
        </p:nvSpPr>
        <p:spPr>
          <a:xfrm>
            <a:off x="5020056" y="1856232"/>
            <a:ext cx="2807208" cy="141732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Query format: TXT / CMP / VIS.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 domain: CG / FG / LC.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Fine-grained dimensions: spatial, temporal, partially relevant.</a:t>
            </a:r>
            <a:endParaRPr lang="en-US" sz="1580" dirty="0"/>
          </a:p>
        </p:txBody>
      </p:sp>
      <p:sp>
        <p:nvSpPr>
          <p:cNvPr id="17" name="Shape 15"/>
          <p:cNvSpPr/>
          <p:nvPr/>
        </p:nvSpPr>
        <p:spPr>
          <a:xfrm>
            <a:off x="8156448" y="1325880"/>
            <a:ext cx="30632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156448" y="1325880"/>
            <a:ext cx="73152" cy="2057400"/>
          </a:xfrm>
          <a:prstGeom prst="rect">
            <a:avLst/>
          </a:prstGeom>
          <a:solidFill>
            <a:srgbClr val="A94442"/>
          </a:solidFill>
          <a:ln w="12700">
            <a:solidFill>
              <a:srgbClr val="A9444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357616" y="1472184"/>
            <a:ext cx="275234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difficulty</a:t>
            </a:r>
            <a:endParaRPr lang="en-US" sz="1750" dirty="0"/>
          </a:p>
        </p:txBody>
      </p:sp>
      <p:sp>
        <p:nvSpPr>
          <p:cNvPr id="20" name="Text 18"/>
          <p:cNvSpPr txBox="1"/>
          <p:nvPr/>
        </p:nvSpPr>
        <p:spPr>
          <a:xfrm>
            <a:off x="8375904" y="1856232"/>
            <a:ext cx="2715768" cy="141732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Existing datasets report isolated leaderboard scores.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model can look strong on MSR-VTT but fail on composed, visual, temporal, or partially relevant retrieval.</a:t>
            </a:r>
            <a:endParaRPr lang="en-US" sz="1580" dirty="0"/>
          </a:p>
        </p:txBody>
      </p:sp>
      <p:sp>
        <p:nvSpPr>
          <p:cNvPr id="21" name="Shape 19"/>
          <p:cNvSpPr/>
          <p:nvPr/>
        </p:nvSpPr>
        <p:spPr>
          <a:xfrm>
            <a:off x="1234440" y="3977640"/>
            <a:ext cx="9784080" cy="1143000"/>
          </a:xfrm>
          <a:prstGeom prst="roundRect">
            <a:avLst>
              <a:gd name="adj" fmla="val 6400"/>
            </a:avLst>
          </a:prstGeom>
          <a:solidFill>
            <a:srgbClr val="FFF7E6"/>
          </a:solidFill>
          <a:ln w="1524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1463040" y="4123944"/>
            <a:ext cx="9326880" cy="8503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scaling means scaling toward capability coverage, not only more parameters or more generic pairs.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step is a diagnostic benchmark that measures where models actually fail.</a:t>
            </a:r>
            <a:endParaRPr lang="en-US" sz="1700" dirty="0"/>
          </a:p>
        </p:txBody>
      </p:sp>
      <p:sp>
        <p:nvSpPr>
          <p:cNvPr id="26" name="Rectangle 25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1 · UVRB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UVRB Organizes Retrieval into a Unified Capability Space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234440"/>
            <a:ext cx="69951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0" name="Image 0" descr="/mnt/data/pres_assets/slide10_img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91025"/>
            <a:ext cx="6848856" cy="152167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909560" y="1234440"/>
            <a:ext cx="331012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7909560" y="1234440"/>
            <a:ext cx="73152" cy="1417320"/>
          </a:xfrm>
          <a:prstGeom prst="rect">
            <a:avLst/>
          </a:prstGeom>
          <a:solidFill>
            <a:srgbClr val="2F6DA5"/>
          </a:solidFill>
          <a:ln w="12700">
            <a:solidFill>
              <a:srgbClr val="2F6DA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 txBox="1"/>
          <p:nvPr/>
        </p:nvSpPr>
        <p:spPr>
          <a:xfrm>
            <a:off x="8110728" y="1380744"/>
            <a:ext cx="2999232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query families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129016" y="1764792"/>
            <a:ext cx="2962656" cy="77724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Textual retrieval: text-to-video over 12 datasets.</a:t>
            </a:r>
            <a:endParaRPr lang="en-US" sz="142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Visual retrieval: image/video query to video target.</a:t>
            </a:r>
            <a:endParaRPr lang="en-US" sz="142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Composed retrieval: multimodal query combining text + visual input.</a:t>
            </a:r>
            <a:endParaRPr lang="en-US" sz="1420" dirty="0"/>
          </a:p>
        </p:txBody>
      </p:sp>
      <p:sp>
        <p:nvSpPr>
          <p:cNvPr id="15" name="Shape 12"/>
          <p:cNvSpPr/>
          <p:nvPr/>
        </p:nvSpPr>
        <p:spPr>
          <a:xfrm>
            <a:off x="7909560" y="2834640"/>
            <a:ext cx="331012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7909560" y="2834640"/>
            <a:ext cx="73152" cy="141732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 txBox="1"/>
          <p:nvPr/>
        </p:nvSpPr>
        <p:spPr>
          <a:xfrm>
            <a:off x="8110728" y="2980944"/>
            <a:ext cx="2999232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labels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129016" y="3364992"/>
            <a:ext cx="2962656" cy="77724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CG: coarse-grained theme matching.</a:t>
            </a:r>
            <a:endParaRPr lang="en-US" sz="142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FG: fine-grained spatial / temporal / partially relevant retrieval.</a:t>
            </a:r>
            <a:endParaRPr lang="en-US" sz="142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LC: long-context understanding.</a:t>
            </a:r>
            <a:endParaRPr lang="en-US" sz="1420" dirty="0"/>
          </a:p>
        </p:txBody>
      </p:sp>
      <p:sp>
        <p:nvSpPr>
          <p:cNvPr id="19" name="Shape 16"/>
          <p:cNvSpPr/>
          <p:nvPr/>
        </p:nvSpPr>
        <p:spPr>
          <a:xfrm>
            <a:off x="7909560" y="4434840"/>
            <a:ext cx="331012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7909560" y="4434840"/>
            <a:ext cx="73152" cy="868680"/>
          </a:xfrm>
          <a:prstGeom prst="rect">
            <a:avLst/>
          </a:prstGeom>
          <a:solidFill>
            <a:srgbClr val="2F7D5C"/>
          </a:solidFill>
          <a:ln w="12700">
            <a:solidFill>
              <a:srgbClr val="2F7D5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 txBox="1"/>
          <p:nvPr/>
        </p:nvSpPr>
        <p:spPr>
          <a:xfrm>
            <a:off x="8110728" y="4581144"/>
            <a:ext cx="2999232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129016" y="4965192"/>
            <a:ext cx="2962656" cy="30175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This taxonomy lets us diagnose not only which model wins, but which capability is missing.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UVRB turns video retrieval evaluation into a capability diagnosis.</a:t>
            </a:r>
            <a:endParaRPr lang="en-US" sz="1700" dirty="0"/>
          </a:p>
        </p:txBody>
      </p:sp>
      <p:sp>
        <p:nvSpPr>
          <p:cNvPr id="26" name="Rectangle 25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1 · UVRB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UVRB Evaluates Frozen Models Under One Protocol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32588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49808" y="1325880"/>
            <a:ext cx="73152" cy="201168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950976" y="1472184"/>
            <a:ext cx="307238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evaluation protocol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969264" y="1856232"/>
            <a:ext cx="3035808" cy="137160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16 public datasets under identical preprocessing.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Frozen embeddings + cosine similarity.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task-specific post-processing or in-domain adaptation.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4407408" y="132588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407408" y="1325880"/>
            <a:ext cx="73152" cy="2011680"/>
          </a:xfrm>
          <a:prstGeom prst="rect">
            <a:avLst/>
          </a:prstGeom>
          <a:solidFill>
            <a:srgbClr val="2F6DA5"/>
          </a:solidFill>
          <a:ln w="12700">
            <a:solidFill>
              <a:srgbClr val="2F6DA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4608576" y="1472184"/>
            <a:ext cx="325526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range</a:t>
            </a:r>
            <a:endParaRPr lang="en-US" sz="1750" dirty="0"/>
          </a:p>
        </p:txBody>
      </p:sp>
      <p:sp>
        <p:nvSpPr>
          <p:cNvPr id="16" name="Text 14"/>
          <p:cNvSpPr txBox="1"/>
          <p:nvPr/>
        </p:nvSpPr>
        <p:spPr>
          <a:xfrm>
            <a:off x="4626864" y="1856232"/>
            <a:ext cx="3218688" cy="137160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14 baselines from 87M to 8.3B parameters.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CLIP-based: CLIP4Clip, ViCLIP, VideoCLIP-XL, LanguageBind, InternVideo2.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MLLM-based: GME, Unite, VLM2Vec-V2, BGE-VL, UniME, B3.</a:t>
            </a:r>
            <a:endParaRPr lang="en-US" sz="1580" dirty="0"/>
          </a:p>
        </p:txBody>
      </p:sp>
      <p:sp>
        <p:nvSpPr>
          <p:cNvPr id="17" name="Shape 15"/>
          <p:cNvSpPr/>
          <p:nvPr/>
        </p:nvSpPr>
        <p:spPr>
          <a:xfrm>
            <a:off x="8247888" y="1325880"/>
            <a:ext cx="29718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247888" y="1325880"/>
            <a:ext cx="73152" cy="2011680"/>
          </a:xfrm>
          <a:prstGeom prst="rect">
            <a:avLst/>
          </a:prstGeom>
          <a:solidFill>
            <a:srgbClr val="A94442"/>
          </a:solidFill>
          <a:ln w="12700">
            <a:solidFill>
              <a:srgbClr val="A9444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449056" y="1472184"/>
            <a:ext cx="266090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UVRB reveals</a:t>
            </a:r>
            <a:endParaRPr lang="en-US" sz="1750" dirty="0"/>
          </a:p>
        </p:txBody>
      </p:sp>
      <p:sp>
        <p:nvSpPr>
          <p:cNvPr id="20" name="Text 18"/>
          <p:cNvSpPr txBox="1"/>
          <p:nvPr/>
        </p:nvSpPr>
        <p:spPr>
          <a:xfrm>
            <a:off x="8467344" y="1856232"/>
            <a:ext cx="2624328" cy="137160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Model families have structured weakness patterns.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Capability gaps persist even at larger parameter scale.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Fine-grained temporal, composed, and PR retrieval remain challenging.</a:t>
            </a:r>
            <a:endParaRPr lang="en-US" sz="1580" dirty="0"/>
          </a:p>
        </p:txBody>
      </p:sp>
      <p:sp>
        <p:nvSpPr>
          <p:cNvPr id="21" name="Shape 19"/>
          <p:cNvSpPr/>
          <p:nvPr/>
        </p:nvSpPr>
        <p:spPr>
          <a:xfrm>
            <a:off x="868680" y="3886200"/>
            <a:ext cx="146304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905256" y="3959352"/>
            <a:ext cx="138988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331720" y="3886200"/>
            <a:ext cx="292608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2368296" y="3959352"/>
            <a:ext cx="285292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Representative models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257800" y="3886200"/>
            <a:ext cx="283464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5294376" y="3959352"/>
            <a:ext cx="276148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strength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092440" y="3886200"/>
            <a:ext cx="310896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8129016" y="3959352"/>
            <a:ext cx="303580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limitation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68680" y="4233672"/>
            <a:ext cx="1463040" cy="34137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914400" y="4288536"/>
            <a:ext cx="1371600" cy="32308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CLIP-based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2331720" y="4233672"/>
            <a:ext cx="2926080" cy="34137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2377440" y="4288536"/>
            <a:ext cx="2834640" cy="32308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CLIP4Clip / InternVideo2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257800" y="4233672"/>
            <a:ext cx="2834640" cy="34137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 txBox="1"/>
          <p:nvPr/>
        </p:nvSpPr>
        <p:spPr>
          <a:xfrm>
            <a:off x="5303520" y="4288536"/>
            <a:ext cx="2743200" cy="32308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Fast; strong T2V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092440" y="4233672"/>
            <a:ext cx="3108960" cy="34137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8138160" y="4288536"/>
            <a:ext cx="3017520" cy="32308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Modality-specific gaps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68680" y="4575048"/>
            <a:ext cx="1463040" cy="341376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914400" y="4629912"/>
            <a:ext cx="1371600" cy="32308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MLLM-based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2331720" y="4575048"/>
            <a:ext cx="2926080" cy="341376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 txBox="1"/>
          <p:nvPr/>
        </p:nvSpPr>
        <p:spPr>
          <a:xfrm>
            <a:off x="2377440" y="4629912"/>
            <a:ext cx="2834640" cy="32308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GME / Unite / VLM2Vec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5257800" y="4575048"/>
            <a:ext cx="2834640" cy="341376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 txBox="1"/>
          <p:nvPr/>
        </p:nvSpPr>
        <p:spPr>
          <a:xfrm>
            <a:off x="5303520" y="4629912"/>
            <a:ext cx="2743200" cy="32308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reasoning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8092440" y="4575048"/>
            <a:ext cx="3108960" cy="341376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 txBox="1"/>
          <p:nvPr/>
        </p:nvSpPr>
        <p:spPr>
          <a:xfrm>
            <a:off x="8138160" y="4629912"/>
            <a:ext cx="3017520" cy="32308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interference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868680" y="4916424"/>
            <a:ext cx="1463040" cy="34137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 txBox="1"/>
          <p:nvPr/>
        </p:nvSpPr>
        <p:spPr>
          <a:xfrm>
            <a:off x="914400" y="4971288"/>
            <a:ext cx="1371600" cy="32308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GVE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2331720" y="4916424"/>
            <a:ext cx="2926080" cy="34137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2377440" y="4971288"/>
            <a:ext cx="2834640" cy="32308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Qwen2.5-VL based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5257800" y="4916424"/>
            <a:ext cx="2834640" cy="34137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 txBox="1"/>
          <p:nvPr/>
        </p:nvSpPr>
        <p:spPr>
          <a:xfrm>
            <a:off x="5303520" y="4971288"/>
            <a:ext cx="2743200" cy="32308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capability coverage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8092440" y="4916424"/>
            <a:ext cx="3108960" cy="34137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 txBox="1"/>
          <p:nvPr/>
        </p:nvSpPr>
        <p:spPr>
          <a:xfrm>
            <a:off x="8138160" y="4971288"/>
            <a:ext cx="3017520" cy="32308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synthesized curriculum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55" name="Text 53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protocol removes benchmark bias and exposes true capability coverage.</a:t>
            </a:r>
            <a:endParaRPr lang="en-US" sz="1700" dirty="0"/>
          </a:p>
        </p:txBody>
      </p:sp>
      <p:sp>
        <p:nvSpPr>
          <p:cNvPr id="56" name="Rectangle 55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1 · UVRB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Current Models Show Structured Capability Gaps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234440"/>
            <a:ext cx="72237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0" name="Image 0" descr="/mnt/data/pres_assets/slide11_img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15012"/>
            <a:ext cx="7077456" cy="356513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092440" y="123444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8092440" y="1234440"/>
            <a:ext cx="73152" cy="1234440"/>
          </a:xfrm>
          <a:prstGeom prst="rect">
            <a:avLst/>
          </a:prstGeom>
          <a:solidFill>
            <a:srgbClr val="2F6DA5"/>
          </a:solidFill>
          <a:ln w="12700">
            <a:solidFill>
              <a:srgbClr val="2F6DA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 txBox="1"/>
          <p:nvPr/>
        </p:nvSpPr>
        <p:spPr>
          <a:xfrm>
            <a:off x="8293608" y="1380744"/>
            <a:ext cx="279806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view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311896" y="1764792"/>
            <a:ext cx="2761488" cy="59436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Left radar: performance across 16 datasets.</a:t>
            </a:r>
            <a:endParaRPr lang="en-US" sz="145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GVE-7B covers the largest area overall.</a:t>
            </a:r>
            <a:endParaRPr lang="en-US" sz="145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Underperforming axes remain visible.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8092440" y="269748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8092440" y="2697480"/>
            <a:ext cx="73152" cy="123444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 txBox="1"/>
          <p:nvPr/>
        </p:nvSpPr>
        <p:spPr>
          <a:xfrm>
            <a:off x="8293608" y="2843784"/>
            <a:ext cx="279806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Ability view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311896" y="3227832"/>
            <a:ext cx="2761488" cy="59436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Right radar: 8 capability dimensions.</a:t>
            </a:r>
            <a:endParaRPr lang="en-US" sz="145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Temporal and fine-grained dimensions remain hard.</a:t>
            </a:r>
            <a:endParaRPr lang="en-US" sz="145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Composed queries show large headroom.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8092440" y="416052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8092440" y="4160520"/>
            <a:ext cx="73152" cy="914400"/>
          </a:xfrm>
          <a:prstGeom prst="rect">
            <a:avLst/>
          </a:prstGeom>
          <a:solidFill>
            <a:srgbClr val="A94442"/>
          </a:solidFill>
          <a:ln w="12700">
            <a:solidFill>
              <a:srgbClr val="A9444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 txBox="1"/>
          <p:nvPr/>
        </p:nvSpPr>
        <p:spPr>
          <a:xfrm>
            <a:off x="8293608" y="4306824"/>
            <a:ext cx="279806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311896" y="4690872"/>
            <a:ext cx="2761488" cy="34747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Capability gaps are structured, not random.</a:t>
            </a:r>
            <a:endParaRPr lang="en-US" sz="145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Models cluster around their training distribution.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GVE must be trained to fill specific missing capabilities, not merely to improve average retrieval.</a:t>
            </a:r>
            <a:endParaRPr lang="en-US" sz="1700" dirty="0"/>
          </a:p>
        </p:txBody>
      </p:sp>
      <p:sp>
        <p:nvSpPr>
          <p:cNvPr id="26" name="Rectangle 25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1 · FINDING 1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Partially Relevant Retrieval Predicts Universality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234440"/>
            <a:ext cx="690372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0" name="Image 0" descr="/mnt/data/pres_assets/slide12_img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26794"/>
            <a:ext cx="6757416" cy="1650133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818120" y="1234440"/>
            <a:ext cx="33832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7818120" y="1234440"/>
            <a:ext cx="73152" cy="160020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 txBox="1"/>
          <p:nvPr/>
        </p:nvSpPr>
        <p:spPr>
          <a:xfrm>
            <a:off x="8019288" y="1380744"/>
            <a:ext cx="307238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finding</a:t>
            </a:r>
            <a:endParaRPr lang="en-US" sz="1620" dirty="0"/>
          </a:p>
        </p:txBody>
      </p:sp>
      <p:sp>
        <p:nvSpPr>
          <p:cNvPr id="14" name="Text 11"/>
          <p:cNvSpPr txBox="1"/>
          <p:nvPr/>
        </p:nvSpPr>
        <p:spPr>
          <a:xfrm>
            <a:off x="8037576" y="1764792"/>
            <a:ext cx="3035808" cy="96012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 retrieval achieves the highest average correlation with overall UVR performance (ρ≈0.97).</a:t>
            </a:r>
            <a:endParaRPr lang="en-US" sz="14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Conventional MSR-VTT correlates poorly with holistic retrieval (ρ≈0.58).</a:t>
            </a:r>
            <a:endParaRPr lang="en-US" sz="1480" dirty="0"/>
          </a:p>
        </p:txBody>
      </p:sp>
      <p:sp>
        <p:nvSpPr>
          <p:cNvPr id="15" name="Shape 12"/>
          <p:cNvSpPr/>
          <p:nvPr/>
        </p:nvSpPr>
        <p:spPr>
          <a:xfrm>
            <a:off x="7818120" y="3063240"/>
            <a:ext cx="33832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7818120" y="3063240"/>
            <a:ext cx="73152" cy="1508760"/>
          </a:xfrm>
          <a:prstGeom prst="rect">
            <a:avLst/>
          </a:prstGeom>
          <a:solidFill>
            <a:srgbClr val="3D7D82"/>
          </a:solidFill>
          <a:ln w="12700">
            <a:solidFill>
              <a:srgbClr val="3D7D8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 txBox="1"/>
          <p:nvPr/>
        </p:nvSpPr>
        <p:spPr>
          <a:xfrm>
            <a:off x="8019288" y="3209544"/>
            <a:ext cx="307238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 is difficult</a:t>
            </a:r>
            <a:endParaRPr lang="en-US" sz="1620" dirty="0"/>
          </a:p>
        </p:txBody>
      </p:sp>
      <p:sp>
        <p:nvSpPr>
          <p:cNvPr id="18" name="Text 15"/>
          <p:cNvSpPr txBox="1"/>
          <p:nvPr/>
        </p:nvSpPr>
        <p:spPr>
          <a:xfrm>
            <a:off x="8037576" y="3593592"/>
            <a:ext cx="3035808" cy="8686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partially relevant video contains matching and non-matching content.</a:t>
            </a:r>
            <a:endParaRPr lang="en-US" sz="14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model must localize what is relevant and avoid collapsing the video to one gist.</a:t>
            </a:r>
            <a:endParaRPr lang="en-US" sz="1480" dirty="0"/>
          </a:p>
        </p:txBody>
      </p:sp>
      <p:sp>
        <p:nvSpPr>
          <p:cNvPr id="19" name="Shape 16"/>
          <p:cNvSpPr/>
          <p:nvPr/>
        </p:nvSpPr>
        <p:spPr>
          <a:xfrm>
            <a:off x="7818120" y="480060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7818120" y="4800600"/>
            <a:ext cx="73152" cy="685800"/>
          </a:xfrm>
          <a:prstGeom prst="rect">
            <a:avLst/>
          </a:prstGeom>
          <a:solidFill>
            <a:srgbClr val="2F7D5C"/>
          </a:solidFill>
          <a:ln w="12700">
            <a:solidFill>
              <a:srgbClr val="2F7D5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 txBox="1"/>
          <p:nvPr/>
        </p:nvSpPr>
        <p:spPr>
          <a:xfrm>
            <a:off x="8019288" y="4946904"/>
            <a:ext cx="3072384" cy="45720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642"/>
                </a:solidFill>
                <a:latin typeface="Arial"/>
              </a:rPr>
              <a:t>PR is a fast universality proxy</a:t>
            </a:r>
          </a:p>
        </p:txBody>
      </p:sp>
      <p:sp>
        <p:nvSpPr>
          <p:cNvPr id="22" name="Text 19"/>
          <p:cNvSpPr txBox="1"/>
          <p:nvPr/>
        </p:nvSpPr>
        <p:spPr>
          <a:xfrm>
            <a:off x="8037576" y="5330952"/>
            <a:ext cx="3035808" cy="292608"/>
          </a:xfrm>
          <a:prstGeom prst="rect">
            <a:avLst/>
          </a:prstGeom>
          <a:noFill/>
          <a:ln/>
        </p:spPr>
        <p:txBody>
          <a:bodyPr wrap="square" lIns="45720" tIns="27432" rIns="45720" bIns="27432" rtlCol="0" anchor="t">
            <a:noAutofit/>
          </a:bodyPr>
          <a:lstStyle/>
          <a:p>
            <a:endParaRPr/>
          </a:p>
        </p:txBody>
      </p:sp>
      <p:sp>
        <p:nvSpPr>
          <p:cNvPr id="23" name="Shape 20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that handles partial relevance tends to generalize better across the full retrieval space.</a:t>
            </a:r>
            <a:endParaRPr lang="en-US" sz="1700" dirty="0"/>
          </a:p>
        </p:txBody>
      </p:sp>
      <p:sp>
        <p:nvSpPr>
          <p:cNvPr id="26" name="Rectangle 25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1 · FINDING 2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Spatial and Temporal Capabilities Are Decoupled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234440"/>
            <a:ext cx="704088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0" name="Image 0" descr="/mnt/data/pres_assets/slide13_img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51768"/>
            <a:ext cx="6894576" cy="200018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955280" y="123444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7955280" y="1234440"/>
            <a:ext cx="73152" cy="150876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 txBox="1"/>
          <p:nvPr/>
        </p:nvSpPr>
        <p:spPr>
          <a:xfrm>
            <a:off x="8156448" y="1380744"/>
            <a:ext cx="293522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correlation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174736" y="1764792"/>
            <a:ext cx="2898648" cy="8686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Spatial–temporal correlation is only ρ≈0.12.</a:t>
            </a:r>
            <a:endParaRPr lang="en-US" sz="144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Temporal skills dominate fine-grained understanding: ρ(T,FG)≈0.98 vs ρ(S,FG)≈0.39.</a:t>
            </a:r>
            <a:endParaRPr lang="en-US" sz="1440" dirty="0"/>
          </a:p>
        </p:txBody>
      </p:sp>
      <p:sp>
        <p:nvSpPr>
          <p:cNvPr id="15" name="Shape 12"/>
          <p:cNvSpPr/>
          <p:nvPr/>
        </p:nvSpPr>
        <p:spPr>
          <a:xfrm>
            <a:off x="7955280" y="2944368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7955280" y="2944368"/>
            <a:ext cx="73152" cy="1325880"/>
          </a:xfrm>
          <a:prstGeom prst="rect">
            <a:avLst/>
          </a:prstGeom>
          <a:solidFill>
            <a:srgbClr val="3D7D82"/>
          </a:solidFill>
          <a:ln w="12700">
            <a:solidFill>
              <a:srgbClr val="3D7D8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 txBox="1"/>
          <p:nvPr/>
        </p:nvSpPr>
        <p:spPr>
          <a:xfrm>
            <a:off x="8156448" y="3090672"/>
            <a:ext cx="293522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174736" y="3474720"/>
            <a:ext cx="2898648" cy="68580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“Where” and “when” are not learned together automatically.</a:t>
            </a:r>
            <a:endParaRPr lang="en-US" sz="144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visually strong model may still fail temporal ordering and event localization.</a:t>
            </a:r>
            <a:endParaRPr lang="en-US" sz="1440" dirty="0"/>
          </a:p>
        </p:txBody>
      </p:sp>
      <p:sp>
        <p:nvSpPr>
          <p:cNvPr id="19" name="Shape 16"/>
          <p:cNvSpPr/>
          <p:nvPr/>
        </p:nvSpPr>
        <p:spPr>
          <a:xfrm>
            <a:off x="7955280" y="4462272"/>
            <a:ext cx="3246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7955280" y="4462272"/>
            <a:ext cx="73152" cy="868680"/>
          </a:xfrm>
          <a:prstGeom prst="rect">
            <a:avLst/>
          </a:prstGeom>
          <a:solidFill>
            <a:srgbClr val="A94442"/>
          </a:solidFill>
          <a:ln w="12700">
            <a:solidFill>
              <a:srgbClr val="A9444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 txBox="1"/>
          <p:nvPr/>
        </p:nvSpPr>
        <p:spPr>
          <a:xfrm>
            <a:off x="8156448" y="4608576"/>
            <a:ext cx="293522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implication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174736" y="4992624"/>
            <a:ext cx="2898648" cy="30175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Training data must explicitly supply temporal supervision, not only more spatial image-text pairs.</a:t>
            </a:r>
            <a:endParaRPr lang="en-US" sz="1440" dirty="0"/>
          </a:p>
        </p:txBody>
      </p:sp>
      <p:sp>
        <p:nvSpPr>
          <p:cNvPr id="23" name="Shape 20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temporal data is necessary because spatial strength does not imply temporal retrieval capability.</a:t>
            </a:r>
            <a:endParaRPr lang="en-US" sz="1700" dirty="0"/>
          </a:p>
        </p:txBody>
      </p:sp>
      <p:sp>
        <p:nvSpPr>
          <p:cNvPr id="26" name="Rectangle 25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1 · FINDING 3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Bigger Models Do Not Guarantee Visual Fidelity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32588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49808" y="1325880"/>
            <a:ext cx="73152" cy="1828800"/>
          </a:xfrm>
          <a:prstGeom prst="rect">
            <a:avLst/>
          </a:prstGeom>
          <a:solidFill>
            <a:srgbClr val="A94442"/>
          </a:solidFill>
          <a:ln w="12700">
            <a:solidFill>
              <a:srgbClr val="A9444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950976" y="1472184"/>
            <a:ext cx="485546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Counterintuitive observation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969264" y="1856232"/>
            <a:ext cx="4818888" cy="118872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87M CLIP4Clip can outperform 8B-class MLLM models on visual-only retrieval.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Visual capability is weakly correlated with overall success: ρ(AVG,VIS)≈0.26.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6217920" y="1325880"/>
            <a:ext cx="4983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217920" y="1325880"/>
            <a:ext cx="73152" cy="182880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6419088" y="1472184"/>
            <a:ext cx="467258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happens</a:t>
            </a:r>
            <a:endParaRPr lang="en-US" sz="1750" dirty="0"/>
          </a:p>
        </p:txBody>
      </p:sp>
      <p:sp>
        <p:nvSpPr>
          <p:cNvPr id="16" name="Text 14"/>
          <p:cNvSpPr txBox="1"/>
          <p:nvPr/>
        </p:nvSpPr>
        <p:spPr>
          <a:xfrm>
            <a:off x="6437376" y="1856232"/>
            <a:ext cx="4636008" cy="118872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MLLM pretraining is language-heavy.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Hidden states are optimized for generation and instruction following.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Visual matching without text can suffer from language-dominated representations.</a:t>
            </a:r>
            <a:endParaRPr lang="en-US" sz="1580" dirty="0"/>
          </a:p>
        </p:txBody>
      </p:sp>
      <p:sp>
        <p:nvSpPr>
          <p:cNvPr id="17" name="Shape 15"/>
          <p:cNvSpPr/>
          <p:nvPr/>
        </p:nvSpPr>
        <p:spPr>
          <a:xfrm>
            <a:off x="749808" y="3611880"/>
            <a:ext cx="10451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49808" y="3611880"/>
            <a:ext cx="73152" cy="1371600"/>
          </a:xfrm>
          <a:prstGeom prst="rect">
            <a:avLst/>
          </a:prstGeom>
          <a:solidFill>
            <a:srgbClr val="2F6DA5"/>
          </a:solidFill>
          <a:ln w="12700">
            <a:solidFill>
              <a:srgbClr val="2F6DA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950976" y="3758184"/>
            <a:ext cx="10140696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 vs. MLLM pattern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69264" y="4142232"/>
            <a:ext cx="10104120" cy="73152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CLIP models are spatially biased but temporally weak.</a:t>
            </a:r>
            <a:endParaRPr lang="en-US" sz="162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MLLMs show more balanced PR and coarse-grained learning.</a:t>
            </a:r>
            <a:endParaRPr lang="en-US" sz="162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Neither family covers the full capability space by default.</a:t>
            </a:r>
            <a:endParaRPr lang="en-US" sz="1620" dirty="0"/>
          </a:p>
        </p:txBody>
      </p:sp>
      <p:sp>
        <p:nvSpPr>
          <p:cNvPr id="21" name="Shape 19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alone cannot fix a mismatch between pretraining objective and retrieval capability.</a:t>
            </a:r>
            <a:endParaRPr lang="en-US" sz="1700" dirty="0"/>
          </a:p>
        </p:txBody>
      </p:sp>
      <p:sp>
        <p:nvSpPr>
          <p:cNvPr id="24" name="Rectangle 23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1 · V-SYNFLOW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V-SynFlow Generates Data for Missing Capabilities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234440"/>
            <a:ext cx="73152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0" name="Image 0" descr="/mnt/data/pres_assets/slide14_img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60029"/>
            <a:ext cx="7168896" cy="167510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183880" y="1234440"/>
            <a:ext cx="303580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8183880" y="1234440"/>
            <a:ext cx="73152" cy="182880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 txBox="1"/>
          <p:nvPr/>
        </p:nvSpPr>
        <p:spPr>
          <a:xfrm>
            <a:off x="8385048" y="1380744"/>
            <a:ext cx="2724912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principle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403336" y="1764792"/>
            <a:ext cx="2688336" cy="118872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V-SynFlow is guided by UVRB diagnostics.</a:t>
            </a:r>
            <a:endParaRPr lang="en-US" sz="145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 distribution is intentionally skewed toward missing capabilities.</a:t>
            </a:r>
            <a:endParaRPr lang="en-US" sz="145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goal is not maximum dataset size, but maximum capability coverage.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8183880" y="3337560"/>
            <a:ext cx="303580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8183880" y="3337560"/>
            <a:ext cx="73152" cy="1417320"/>
          </a:xfrm>
          <a:prstGeom prst="rect">
            <a:avLst/>
          </a:prstGeom>
          <a:solidFill>
            <a:srgbClr val="2F7D5C"/>
          </a:solidFill>
          <a:ln w="12700">
            <a:solidFill>
              <a:srgbClr val="2F7D5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 txBox="1"/>
          <p:nvPr/>
        </p:nvSpPr>
        <p:spPr>
          <a:xfrm>
            <a:off x="8385048" y="3483864"/>
            <a:ext cx="2724912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403336" y="3867912"/>
            <a:ext cx="2688336" cy="77724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UVRD = 1.55M unified training pairs.</a:t>
            </a:r>
            <a:endParaRPr lang="en-US" sz="145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Covers text-video, visual, and composed retrieval formats.</a:t>
            </a:r>
            <a:endParaRPr lang="en-US" sz="145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95% factual accuracy in human validation.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 becomes a controlled intervention: fill the measured holes in the capability map.</a:t>
            </a:r>
            <a:endParaRPr lang="en-US" sz="1700" dirty="0"/>
          </a:p>
        </p:txBody>
      </p:sp>
      <p:sp>
        <p:nvSpPr>
          <p:cNvPr id="22" name="Rectangle 21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1 · V-SYNFLOW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Quality Control Protects Retrieval Supervision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325880"/>
            <a:ext cx="516636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49808" y="1325880"/>
            <a:ext cx="73152" cy="2423160"/>
          </a:xfrm>
          <a:prstGeom prst="rect">
            <a:avLst/>
          </a:prstGeom>
          <a:solidFill>
            <a:srgbClr val="2F6DA5"/>
          </a:solidFill>
          <a:ln w="12700">
            <a:solidFill>
              <a:srgbClr val="2F6DA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950976" y="1472184"/>
            <a:ext cx="485546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 cascade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969264" y="1856232"/>
            <a:ext cx="4818888" cy="17830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Annotation rectification removes non-descriptive text and artifacts.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Cross-modal consistency filtering keeps pairs above similarity threshold 0.25.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Temporal dynamics filtering removes static or visually uninformative clips.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6217920" y="1325880"/>
            <a:ext cx="498348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217920" y="1325880"/>
            <a:ext cx="73152" cy="242316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6419088" y="1472184"/>
            <a:ext cx="467258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stage matters</a:t>
            </a:r>
            <a:endParaRPr lang="en-US" sz="1750" dirty="0"/>
          </a:p>
        </p:txBody>
      </p:sp>
      <p:sp>
        <p:nvSpPr>
          <p:cNvPr id="16" name="Text 14"/>
          <p:cNvSpPr txBox="1"/>
          <p:nvPr/>
        </p:nvSpPr>
        <p:spPr>
          <a:xfrm>
            <a:off x="6437376" y="1856232"/>
            <a:ext cx="4636008" cy="17830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Synthesized data can amplify noise if raw captions are wrong.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Retrieval training is sensitive to false positives and false negatives.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Quality control protects contrastive learning from corrupted alignment signals.</a:t>
            </a:r>
            <a:endParaRPr lang="en-US" sz="1580" dirty="0"/>
          </a:p>
        </p:txBody>
      </p:sp>
      <p:sp>
        <p:nvSpPr>
          <p:cNvPr id="17" name="Shape 15"/>
          <p:cNvSpPr/>
          <p:nvPr/>
        </p:nvSpPr>
        <p:spPr>
          <a:xfrm>
            <a:off x="749808" y="4251960"/>
            <a:ext cx="1045159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49808" y="4251960"/>
            <a:ext cx="73152" cy="960120"/>
          </a:xfrm>
          <a:prstGeom prst="rect">
            <a:avLst/>
          </a:prstGeom>
          <a:solidFill>
            <a:srgbClr val="2F7D5C"/>
          </a:solidFill>
          <a:ln w="12700">
            <a:solidFill>
              <a:srgbClr val="2F7D5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950976" y="4398264"/>
            <a:ext cx="10140696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asset pool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69264" y="4782312"/>
            <a:ext cx="10104120" cy="3931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Validated clips, key frames, motional clips, and coarse video-level material.</a:t>
            </a:r>
            <a:endParaRPr lang="en-US" sz="160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This pool supports both atomic and composed retrieval synthesis.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High-quality synthesis starts by removing unreliable alignment before asking MLLMs to enrich the data.</a:t>
            </a:r>
            <a:endParaRPr lang="en-US" sz="1700" dirty="0"/>
          </a:p>
        </p:txBody>
      </p:sp>
      <p:sp>
        <p:nvSpPr>
          <p:cNvPr id="24" name="Rectangle 23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1 · V-SYNFLOW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Enrichment Extends Data into Multi-Task Retrieval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325880"/>
            <a:ext cx="51663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49808" y="1325880"/>
            <a:ext cx="73152" cy="205740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950976" y="1472184"/>
            <a:ext cx="485546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enrichment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969264" y="1856232"/>
            <a:ext cx="4818888" cy="141732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Keye-VL-8B generates richer captions with spatial-temporal constraints.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Skewed distribution: 60% temporal, 30% spatial, 10% PR/abstract.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Constructs frame-to-video and clip-to-video pairs.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6217920" y="1325880"/>
            <a:ext cx="49834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217920" y="1325880"/>
            <a:ext cx="73152" cy="2057400"/>
          </a:xfrm>
          <a:prstGeom prst="rect">
            <a:avLst/>
          </a:prstGeom>
          <a:solidFill>
            <a:srgbClr val="2F6DA5"/>
          </a:solidFill>
          <a:ln w="12700">
            <a:solidFill>
              <a:srgbClr val="2F6DA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6419088" y="1472184"/>
            <a:ext cx="467258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extension</a:t>
            </a:r>
            <a:endParaRPr lang="en-US" sz="1750" dirty="0"/>
          </a:p>
        </p:txBody>
      </p:sp>
      <p:sp>
        <p:nvSpPr>
          <p:cNvPr id="16" name="Text 14"/>
          <p:cNvSpPr txBox="1"/>
          <p:nvPr/>
        </p:nvSpPr>
        <p:spPr>
          <a:xfrm>
            <a:off x="6437376" y="1856232"/>
            <a:ext cx="4636008" cy="141732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Text-to-video retrieval pairs.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Text-image composed video retrieval pairs.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Video-text composed retrieval pairs.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Text-image retrieval pairs for fundamental grounding.</a:t>
            </a:r>
            <a:endParaRPr lang="en-US" sz="1580" dirty="0"/>
          </a:p>
        </p:txBody>
      </p:sp>
      <p:sp>
        <p:nvSpPr>
          <p:cNvPr id="17" name="Shape 15"/>
          <p:cNvSpPr/>
          <p:nvPr/>
        </p:nvSpPr>
        <p:spPr>
          <a:xfrm>
            <a:off x="749808" y="3886200"/>
            <a:ext cx="1045159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49808" y="3886200"/>
            <a:ext cx="73152" cy="1188720"/>
          </a:xfrm>
          <a:prstGeom prst="rect">
            <a:avLst/>
          </a:prstGeom>
          <a:solidFill>
            <a:srgbClr val="2F7D5C"/>
          </a:solidFill>
          <a:ln w="12700">
            <a:solidFill>
              <a:srgbClr val="2F7D5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950976" y="4032504"/>
            <a:ext cx="10140696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validation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69264" y="4416552"/>
            <a:ext cx="10104120" cy="54864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100 randomly sampled examples show 95% factual accuracy.</a:t>
            </a:r>
            <a:endParaRPr lang="en-US" sz="162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Quality validation is combined with downstream zero-shot improvements across 16 datasets.</a:t>
            </a:r>
            <a:endParaRPr lang="en-US" sz="1620" dirty="0"/>
          </a:p>
        </p:txBody>
      </p:sp>
      <p:sp>
        <p:nvSpPr>
          <p:cNvPr id="21" name="Shape 19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UVRD is smaller than some web-scale datasets, but more precisely targeted to retrieval capabilities.</a:t>
            </a:r>
            <a:endParaRPr lang="en-US" sz="1700" dirty="0"/>
          </a:p>
        </p:txBody>
      </p:sp>
      <p:sp>
        <p:nvSpPr>
          <p:cNvPr id="24" name="Rectangle 23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1 · UVRD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UVRD Is Capability-Targeted, Not Merely Large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298448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822960" y="1362456"/>
            <a:ext cx="2002536" cy="43068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1.55M</a:t>
            </a:r>
            <a:endParaRPr lang="en-US" sz="2300" dirty="0"/>
          </a:p>
        </p:txBody>
      </p:sp>
      <p:sp>
        <p:nvSpPr>
          <p:cNvPr id="11" name="Text 9"/>
          <p:cNvSpPr txBox="1"/>
          <p:nvPr/>
        </p:nvSpPr>
        <p:spPr>
          <a:xfrm>
            <a:off x="859536" y="1950415"/>
            <a:ext cx="1929384" cy="38862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pairs in UVRD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154680" y="1298448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3227832" y="1362456"/>
            <a:ext cx="2002536" cy="43068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2300" dirty="0"/>
          </a:p>
        </p:txBody>
      </p:sp>
      <p:sp>
        <p:nvSpPr>
          <p:cNvPr id="14" name="Text 12"/>
          <p:cNvSpPr txBox="1"/>
          <p:nvPr/>
        </p:nvSpPr>
        <p:spPr>
          <a:xfrm>
            <a:off x="3264408" y="1950415"/>
            <a:ext cx="1929384" cy="38862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human-verified factual accuracy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559552" y="1298448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5632704" y="1362456"/>
            <a:ext cx="2002536" cy="43068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3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0" y="1950415"/>
            <a:ext cx="1929384" cy="38862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temporal-focused pairs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973568" y="1298448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046720" y="1362456"/>
            <a:ext cx="2002536" cy="35753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300" dirty="0"/>
          </a:p>
        </p:txBody>
      </p:sp>
      <p:sp>
        <p:nvSpPr>
          <p:cNvPr id="20" name="Text 18"/>
          <p:cNvSpPr txBox="1"/>
          <p:nvPr/>
        </p:nvSpPr>
        <p:spPr>
          <a:xfrm>
            <a:off x="8083296" y="1950415"/>
            <a:ext cx="1929384" cy="38862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families covered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60120" y="2880360"/>
            <a:ext cx="182880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996696" y="2953512"/>
            <a:ext cx="175564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88920" y="2880360"/>
            <a:ext cx="141732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2825496" y="2953512"/>
            <a:ext cx="134416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206240" y="2880360"/>
            <a:ext cx="182880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4242816" y="2953512"/>
            <a:ext cx="175564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types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035040" y="2880360"/>
            <a:ext cx="141732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6071616" y="2953512"/>
            <a:ext cx="134416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452360" y="2880360"/>
            <a:ext cx="192024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7488936" y="2953512"/>
            <a:ext cx="184708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skew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60120" y="3227832"/>
            <a:ext cx="18288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1005840" y="3282696"/>
            <a:ext cx="1737360" cy="33832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WebVid-2M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2788920" y="3227832"/>
            <a:ext cx="141732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 txBox="1"/>
          <p:nvPr/>
        </p:nvSpPr>
        <p:spPr>
          <a:xfrm>
            <a:off x="2834640" y="3282696"/>
            <a:ext cx="1325880" cy="33832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2.5M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4206240" y="3227832"/>
            <a:ext cx="18288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4251960" y="3282696"/>
            <a:ext cx="1737360" cy="33832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T2V only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6035040" y="3227832"/>
            <a:ext cx="141732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6080760" y="3282696"/>
            <a:ext cx="1325880" cy="33832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7452360" y="3227832"/>
            <a:ext cx="19202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 txBox="1"/>
          <p:nvPr/>
        </p:nvSpPr>
        <p:spPr>
          <a:xfrm>
            <a:off x="7498080" y="3282696"/>
            <a:ext cx="1828800" cy="33832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960120" y="3584448"/>
            <a:ext cx="1828800" cy="356616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 txBox="1"/>
          <p:nvPr/>
        </p:nvSpPr>
        <p:spPr>
          <a:xfrm>
            <a:off x="1005840" y="3639312"/>
            <a:ext cx="1737360" cy="33832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HD-VILA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2788920" y="3584448"/>
            <a:ext cx="1417320" cy="356616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 txBox="1"/>
          <p:nvPr/>
        </p:nvSpPr>
        <p:spPr>
          <a:xfrm>
            <a:off x="2834640" y="3639312"/>
            <a:ext cx="1325880" cy="33832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0.7M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4206240" y="3584448"/>
            <a:ext cx="1828800" cy="356616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 txBox="1"/>
          <p:nvPr/>
        </p:nvSpPr>
        <p:spPr>
          <a:xfrm>
            <a:off x="4251960" y="3639312"/>
            <a:ext cx="1737360" cy="33832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T2V only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6035040" y="3584448"/>
            <a:ext cx="1417320" cy="356616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6080760" y="3639312"/>
            <a:ext cx="1325880" cy="33832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7452360" y="3584448"/>
            <a:ext cx="1920240" cy="356616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 txBox="1"/>
          <p:nvPr/>
        </p:nvSpPr>
        <p:spPr>
          <a:xfrm>
            <a:off x="7498080" y="3639312"/>
            <a:ext cx="1828800" cy="33832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350" dirty="0"/>
          </a:p>
        </p:txBody>
      </p:sp>
      <p:sp>
        <p:nvSpPr>
          <p:cNvPr id="51" name="Shape 49"/>
          <p:cNvSpPr/>
          <p:nvPr/>
        </p:nvSpPr>
        <p:spPr>
          <a:xfrm>
            <a:off x="960120" y="3941064"/>
            <a:ext cx="18288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 txBox="1"/>
          <p:nvPr/>
        </p:nvSpPr>
        <p:spPr>
          <a:xfrm>
            <a:off x="1005840" y="3995928"/>
            <a:ext cx="1737360" cy="33832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UVRD ★</a:t>
            </a:r>
            <a:endParaRPr lang="en-US" sz="1350" dirty="0"/>
          </a:p>
        </p:txBody>
      </p:sp>
      <p:sp>
        <p:nvSpPr>
          <p:cNvPr id="53" name="Shape 51"/>
          <p:cNvSpPr/>
          <p:nvPr/>
        </p:nvSpPr>
        <p:spPr>
          <a:xfrm>
            <a:off x="2788920" y="3941064"/>
            <a:ext cx="141732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 txBox="1"/>
          <p:nvPr/>
        </p:nvSpPr>
        <p:spPr>
          <a:xfrm>
            <a:off x="2834640" y="3995928"/>
            <a:ext cx="1325880" cy="33832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1.55M</a:t>
            </a:r>
            <a:endParaRPr lang="en-US" sz="1350" dirty="0"/>
          </a:p>
        </p:txBody>
      </p:sp>
      <p:sp>
        <p:nvSpPr>
          <p:cNvPr id="55" name="Shape 53"/>
          <p:cNvSpPr/>
          <p:nvPr/>
        </p:nvSpPr>
        <p:spPr>
          <a:xfrm>
            <a:off x="4206240" y="3941064"/>
            <a:ext cx="18288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 txBox="1"/>
          <p:nvPr/>
        </p:nvSpPr>
        <p:spPr>
          <a:xfrm>
            <a:off x="4251960" y="3995928"/>
            <a:ext cx="1737360" cy="33832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types</a:t>
            </a:r>
            <a:endParaRPr lang="en-US" sz="1350" dirty="0"/>
          </a:p>
        </p:txBody>
      </p:sp>
      <p:sp>
        <p:nvSpPr>
          <p:cNvPr id="57" name="Shape 55"/>
          <p:cNvSpPr/>
          <p:nvPr/>
        </p:nvSpPr>
        <p:spPr>
          <a:xfrm>
            <a:off x="6035040" y="3941064"/>
            <a:ext cx="141732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 txBox="1"/>
          <p:nvPr/>
        </p:nvSpPr>
        <p:spPr>
          <a:xfrm>
            <a:off x="6080760" y="3995928"/>
            <a:ext cx="1325880" cy="33832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1350" dirty="0"/>
          </a:p>
        </p:txBody>
      </p:sp>
      <p:sp>
        <p:nvSpPr>
          <p:cNvPr id="59" name="Shape 57"/>
          <p:cNvSpPr/>
          <p:nvPr/>
        </p:nvSpPr>
        <p:spPr>
          <a:xfrm>
            <a:off x="7452360" y="3941064"/>
            <a:ext cx="19202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58"/>
          <p:cNvSpPr txBox="1"/>
          <p:nvPr/>
        </p:nvSpPr>
        <p:spPr>
          <a:xfrm>
            <a:off x="7498080" y="3995928"/>
            <a:ext cx="1828800" cy="33832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350" dirty="0"/>
          </a:p>
        </p:txBody>
      </p:sp>
      <p:sp>
        <p:nvSpPr>
          <p:cNvPr id="61" name="Shape 59"/>
          <p:cNvSpPr/>
          <p:nvPr/>
        </p:nvSpPr>
        <p:spPr>
          <a:xfrm>
            <a:off x="960120" y="4800600"/>
            <a:ext cx="10058400" cy="713232"/>
          </a:xfrm>
          <a:prstGeom prst="roundRect">
            <a:avLst>
              <a:gd name="adj" fmla="val 10256"/>
            </a:avLst>
          </a:prstGeom>
          <a:solidFill>
            <a:srgbClr val="FFF7E6"/>
          </a:solidFill>
          <a:ln w="1524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60"/>
          <p:cNvSpPr txBox="1"/>
          <p:nvPr/>
        </p:nvSpPr>
        <p:spPr>
          <a:xfrm>
            <a:off x="1188720" y="4946904"/>
            <a:ext cx="9601200" cy="49377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target is not the largest dataset; the target is the most diagnostic and capability-aligned dataset.</a:t>
            </a:r>
            <a:endParaRPr lang="en-US" sz="2000" dirty="0"/>
          </a:p>
        </p:txBody>
      </p:sp>
      <p:sp>
        <p:nvSpPr>
          <p:cNvPr id="63" name="Shape 61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62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65" name="Text 63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scale matters only when the additional data covers missing retrieval capabilities.</a:t>
            </a:r>
            <a:endParaRPr lang="en-US" sz="1700" dirty="0"/>
          </a:p>
        </p:txBody>
      </p:sp>
      <p:sp>
        <p:nvSpPr>
          <p:cNvPr id="66" name="Rectangle 65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1 · GVE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GVE Unifies Text, Image, and Video Embeddings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234440"/>
            <a:ext cx="69951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0" name="Image 0" descr="/mnt/data/pres_assets/slide16_img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31442"/>
            <a:ext cx="6848856" cy="224083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909560" y="1234440"/>
            <a:ext cx="331012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7909560" y="1234440"/>
            <a:ext cx="73152" cy="1417320"/>
          </a:xfrm>
          <a:prstGeom prst="rect">
            <a:avLst/>
          </a:prstGeom>
          <a:solidFill>
            <a:srgbClr val="2F6DA5"/>
          </a:solidFill>
          <a:ln w="12700">
            <a:solidFill>
              <a:srgbClr val="2F6DA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 txBox="1"/>
          <p:nvPr/>
        </p:nvSpPr>
        <p:spPr>
          <a:xfrm>
            <a:off x="8110728" y="1380744"/>
            <a:ext cx="2999232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Backbone and inputs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129016" y="1764792"/>
            <a:ext cx="2962656" cy="77724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Qwen2.5-VL multimodal backbone.</a:t>
            </a:r>
            <a:endParaRPr lang="en-US" sz="145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Input formats: text, image, video, and composed queries.</a:t>
            </a:r>
            <a:endParaRPr lang="en-US" sz="145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Prompt + text tokens fuse with projected visual tokens.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7909560" y="2880360"/>
            <a:ext cx="331012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7909560" y="2880360"/>
            <a:ext cx="73152" cy="114300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 txBox="1"/>
          <p:nvPr/>
        </p:nvSpPr>
        <p:spPr>
          <a:xfrm>
            <a:off x="8110728" y="3026664"/>
            <a:ext cx="2999232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extraction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129016" y="3410712"/>
            <a:ext cx="2962656" cy="50292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Last-token pooling followed by ℓ₂ normalization.</a:t>
            </a:r>
            <a:endParaRPr lang="en-US" sz="145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One embedding space for query and video.</a:t>
            </a:r>
            <a:endParaRPr lang="en-US" sz="145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task-specific retrieval heads.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7909560" y="4251960"/>
            <a:ext cx="331012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7909560" y="4251960"/>
            <a:ext cx="73152" cy="868680"/>
          </a:xfrm>
          <a:prstGeom prst="rect">
            <a:avLst/>
          </a:prstGeom>
          <a:solidFill>
            <a:srgbClr val="2F7D5C"/>
          </a:solidFill>
          <a:ln w="12700">
            <a:solidFill>
              <a:srgbClr val="2F7D5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 txBox="1"/>
          <p:nvPr/>
        </p:nvSpPr>
        <p:spPr>
          <a:xfrm>
            <a:off x="8110728" y="4398264"/>
            <a:ext cx="2999232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configuration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129016" y="4782312"/>
            <a:ext cx="2962656" cy="30175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Vision encoder frozen; LLM fine-tuned.</a:t>
            </a:r>
            <a:endParaRPr lang="en-US" sz="145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Two sizes: GVE-3B and GVE-7B.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GVE adapts a generative MLLM into a unified retrieval embedder.</a:t>
            </a:r>
            <a:endParaRPr lang="en-US" sz="1700" dirty="0"/>
          </a:p>
        </p:txBody>
      </p:sp>
      <p:sp>
        <p:nvSpPr>
          <p:cNvPr id="26" name="Rectangle 25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1 · MODALITY PYRAMID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The Modality Pyramid Stabilizes Heterogeneous Training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234440"/>
            <a:ext cx="61722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0" name="Image 0" descr="/mnt/data/pres_assets/slide17_img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190" y="1307592"/>
            <a:ext cx="4892555" cy="428853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086600" y="123444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7086600" y="1234440"/>
            <a:ext cx="73152" cy="1234440"/>
          </a:xfrm>
          <a:prstGeom prst="rect">
            <a:avLst/>
          </a:prstGeom>
          <a:solidFill>
            <a:srgbClr val="A94442"/>
          </a:solidFill>
          <a:ln w="12700">
            <a:solidFill>
              <a:srgbClr val="A9444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 txBox="1"/>
          <p:nvPr/>
        </p:nvSpPr>
        <p:spPr>
          <a:xfrm>
            <a:off x="7287768" y="1380744"/>
            <a:ext cx="380390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650" dirty="0"/>
          </a:p>
        </p:txBody>
      </p:sp>
      <p:sp>
        <p:nvSpPr>
          <p:cNvPr id="14" name="Text 11"/>
          <p:cNvSpPr txBox="1"/>
          <p:nvPr/>
        </p:nvSpPr>
        <p:spPr>
          <a:xfrm>
            <a:off x="7306056" y="1764792"/>
            <a:ext cx="3767328" cy="59436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Naive task mixing causes easy and abundant tasks to dominate gradients.</a:t>
            </a:r>
            <a:endParaRPr lang="en-US" sz="14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Complex composed video tasks are drowned by simpler text-image or text-video pairs.</a:t>
            </a:r>
            <a:endParaRPr lang="en-US" sz="1480" dirty="0"/>
          </a:p>
        </p:txBody>
      </p:sp>
      <p:sp>
        <p:nvSpPr>
          <p:cNvPr id="15" name="Shape 12"/>
          <p:cNvSpPr/>
          <p:nvPr/>
        </p:nvSpPr>
        <p:spPr>
          <a:xfrm>
            <a:off x="7086600" y="269748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7086600" y="2697480"/>
            <a:ext cx="73152" cy="109728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 txBox="1"/>
          <p:nvPr/>
        </p:nvSpPr>
        <p:spPr>
          <a:xfrm>
            <a:off x="7287768" y="2843784"/>
            <a:ext cx="380390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hierarchy</a:t>
            </a:r>
            <a:endParaRPr lang="en-US" sz="1650" dirty="0"/>
          </a:p>
        </p:txBody>
      </p:sp>
      <p:sp>
        <p:nvSpPr>
          <p:cNvPr id="18" name="Text 15"/>
          <p:cNvSpPr txBox="1"/>
          <p:nvPr/>
        </p:nvSpPr>
        <p:spPr>
          <a:xfrm>
            <a:off x="7306056" y="3227832"/>
            <a:ext cx="3767328" cy="53035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Text-image alignment ≈ 0.65 after 1 epoch.</a:t>
            </a:r>
            <a:endParaRPr lang="en-US" sz="150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Text-video ≈ 0.46.</a:t>
            </a:r>
            <a:endParaRPr lang="en-US" sz="150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Composed video ≈ 0.43.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7086600" y="4023360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7086600" y="4023360"/>
            <a:ext cx="73152" cy="1280160"/>
          </a:xfrm>
          <a:prstGeom prst="rect">
            <a:avLst/>
          </a:prstGeom>
          <a:solidFill>
            <a:srgbClr val="2F7D5C"/>
          </a:solidFill>
          <a:ln w="12700">
            <a:solidFill>
              <a:srgbClr val="2F7D5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 txBox="1"/>
          <p:nvPr/>
        </p:nvSpPr>
        <p:spPr>
          <a:xfrm>
            <a:off x="7287768" y="4169664"/>
            <a:ext cx="380390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 rule</a:t>
            </a:r>
            <a:endParaRPr lang="en-US" sz="1650" dirty="0"/>
          </a:p>
        </p:txBody>
      </p:sp>
      <p:sp>
        <p:nvSpPr>
          <p:cNvPr id="22" name="Text 19"/>
          <p:cNvSpPr txBox="1"/>
          <p:nvPr/>
        </p:nvSpPr>
        <p:spPr>
          <a:xfrm>
            <a:off x="7306056" y="4553712"/>
            <a:ext cx="3767328" cy="6400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At epoch t, a prober estimates task alignment Rk.</a:t>
            </a:r>
            <a:endParaRPr lang="en-US" sz="140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Sampling P(k) ∝ exp(Rk / σ(t)); σ grows from 0.1 to 1.0.</a:t>
            </a:r>
            <a:endParaRPr lang="en-US" sz="140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Training moves from atomic to composite tasks.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curriculum follows empirical task difficulty rather than a manually fixed order.</a:t>
            </a:r>
            <a:endParaRPr lang="en-US" sz="1700" dirty="0"/>
          </a:p>
        </p:txBody>
      </p:sp>
      <p:sp>
        <p:nvSpPr>
          <p:cNvPr id="26" name="Rectangle 25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1 · TRAINING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Hard Negatives Sharpen Fine-Grained Retrieval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325880"/>
            <a:ext cx="51663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49808" y="1325880"/>
            <a:ext cx="73152" cy="2057400"/>
          </a:xfrm>
          <a:prstGeom prst="rect">
            <a:avLst/>
          </a:prstGeom>
          <a:solidFill>
            <a:srgbClr val="2F6DA5"/>
          </a:solidFill>
          <a:ln w="12700">
            <a:solidFill>
              <a:srgbClr val="2F6DA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950976" y="1472184"/>
            <a:ext cx="485546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Symmetric InfoNCE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969264" y="1856232"/>
            <a:ext cx="4818888" cy="141732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Bidirectional contrastive training over query-video pairs.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Encourages relevant pairs to be close and irrelevant pairs to be separated.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Works uniformly across text, image, video, and composed queries.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6217920" y="1325880"/>
            <a:ext cx="49834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217920" y="1325880"/>
            <a:ext cx="73152" cy="205740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6419088" y="1472184"/>
            <a:ext cx="467258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negatives</a:t>
            </a:r>
            <a:endParaRPr lang="en-US" sz="1750" dirty="0"/>
          </a:p>
        </p:txBody>
      </p:sp>
      <p:sp>
        <p:nvSpPr>
          <p:cNvPr id="16" name="Text 14"/>
          <p:cNvSpPr txBox="1"/>
          <p:nvPr/>
        </p:nvSpPr>
        <p:spPr>
          <a:xfrm>
            <a:off x="6437376" y="1856232"/>
            <a:ext cx="4636008" cy="141732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Mined from external corpus to improve discrimination.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Similarity threshold 0.90 avoids false negatives.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Particularly important for fine-grained and partially relevant retrieval.</a:t>
            </a:r>
            <a:endParaRPr lang="en-US" sz="1580" dirty="0"/>
          </a:p>
        </p:txBody>
      </p:sp>
      <p:sp>
        <p:nvSpPr>
          <p:cNvPr id="17" name="Shape 15"/>
          <p:cNvSpPr/>
          <p:nvPr/>
        </p:nvSpPr>
        <p:spPr>
          <a:xfrm>
            <a:off x="749808" y="3886200"/>
            <a:ext cx="1045159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49808" y="3886200"/>
            <a:ext cx="73152" cy="1188720"/>
          </a:xfrm>
          <a:prstGeom prst="rect">
            <a:avLst/>
          </a:prstGeom>
          <a:solidFill>
            <a:srgbClr val="2F7D5C"/>
          </a:solidFill>
          <a:ln w="12700">
            <a:solidFill>
              <a:srgbClr val="2F7D5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950976" y="4032504"/>
            <a:ext cx="10140696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is retrieval-specific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69264" y="4416552"/>
            <a:ext cx="10104120" cy="54864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Generative MLLMs optimize next-token likelihood; retrieval requires compact discriminative geometry.</a:t>
            </a:r>
            <a:endParaRPr lang="en-US" sz="162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GVE explicitly shapes the embedding space while preserving multimodal reasoning.</a:t>
            </a:r>
            <a:endParaRPr lang="en-US" sz="1620" dirty="0"/>
          </a:p>
        </p:txBody>
      </p:sp>
      <p:sp>
        <p:nvSpPr>
          <p:cNvPr id="21" name="Shape 19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GVE turns a generative multimodal backbone into a retrieval-first embedding model.</a:t>
            </a:r>
            <a:endParaRPr lang="en-US" sz="1700" dirty="0"/>
          </a:p>
        </p:txBody>
      </p:sp>
      <p:sp>
        <p:nvSpPr>
          <p:cNvPr id="24" name="Rectangle 23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1 · RESULTS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GVE Improves Zero-Shot Retrieval Generalization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1325880"/>
            <a:ext cx="164592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722376" y="1399032"/>
            <a:ext cx="157276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331720" y="1325880"/>
            <a:ext cx="91440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2368296" y="1399032"/>
            <a:ext cx="84124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46120" y="1325880"/>
            <a:ext cx="82296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3282696" y="1399032"/>
            <a:ext cx="74980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Arial"/>
              </a:rPr>
              <a:t>Ability</a:t>
            </a:r>
            <a:endParaRPr lang="en-US" sz="1250" dirty="0"/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AVG</a:t>
            </a:r>
          </a:p>
        </p:txBody>
      </p:sp>
      <p:sp>
        <p:nvSpPr>
          <p:cNvPr id="15" name="Shape 13"/>
          <p:cNvSpPr/>
          <p:nvPr/>
        </p:nvSpPr>
        <p:spPr>
          <a:xfrm>
            <a:off x="4069080" y="1325880"/>
            <a:ext cx="82296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4105656" y="1399032"/>
            <a:ext cx="74980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TXT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892040" y="1325880"/>
            <a:ext cx="82296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4928616" y="1399032"/>
            <a:ext cx="74980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CMP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715000" y="1325880"/>
            <a:ext cx="82296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5751576" y="1399032"/>
            <a:ext cx="74980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37960" y="1325880"/>
            <a:ext cx="82296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574536" y="1399032"/>
            <a:ext cx="74980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360920" y="1325880"/>
            <a:ext cx="86868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7397496" y="1399032"/>
            <a:ext cx="79552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85800" y="1673352"/>
            <a:ext cx="1645920" cy="52486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731520" y="1728216"/>
            <a:ext cx="1554480" cy="50657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CLIP4Clip</a:t>
            </a:r>
            <a:endParaRPr lang="en-US" sz="1280" dirty="0"/>
          </a:p>
        </p:txBody>
      </p:sp>
      <p:sp>
        <p:nvSpPr>
          <p:cNvPr id="27" name="Shape 25"/>
          <p:cNvSpPr/>
          <p:nvPr/>
        </p:nvSpPr>
        <p:spPr>
          <a:xfrm>
            <a:off x="2331720" y="1673352"/>
            <a:ext cx="914400" cy="52486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2377440" y="1728216"/>
            <a:ext cx="822960" cy="50657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87M</a:t>
            </a:r>
            <a:endParaRPr lang="en-US" sz="1280" dirty="0"/>
          </a:p>
        </p:txBody>
      </p:sp>
      <p:sp>
        <p:nvSpPr>
          <p:cNvPr id="29" name="Shape 27"/>
          <p:cNvSpPr/>
          <p:nvPr/>
        </p:nvSpPr>
        <p:spPr>
          <a:xfrm>
            <a:off x="3246120" y="1673352"/>
            <a:ext cx="822960" cy="52486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3291840" y="1728216"/>
            <a:ext cx="731520" cy="50657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0.441</a:t>
            </a:r>
            <a:endParaRPr lang="en-US" sz="1280" dirty="0"/>
          </a:p>
        </p:txBody>
      </p:sp>
      <p:sp>
        <p:nvSpPr>
          <p:cNvPr id="31" name="Shape 29"/>
          <p:cNvSpPr/>
          <p:nvPr/>
        </p:nvSpPr>
        <p:spPr>
          <a:xfrm>
            <a:off x="4069080" y="1673352"/>
            <a:ext cx="822960" cy="52486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4114800" y="1728216"/>
            <a:ext cx="731520" cy="50657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0.497</a:t>
            </a:r>
            <a:endParaRPr lang="en-US" sz="1280" dirty="0"/>
          </a:p>
        </p:txBody>
      </p:sp>
      <p:sp>
        <p:nvSpPr>
          <p:cNvPr id="33" name="Shape 31"/>
          <p:cNvSpPr/>
          <p:nvPr/>
        </p:nvSpPr>
        <p:spPr>
          <a:xfrm>
            <a:off x="4892040" y="1673352"/>
            <a:ext cx="822960" cy="52486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 txBox="1"/>
          <p:nvPr/>
        </p:nvSpPr>
        <p:spPr>
          <a:xfrm>
            <a:off x="4937760" y="1728216"/>
            <a:ext cx="731520" cy="50657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0.162</a:t>
            </a:r>
            <a:endParaRPr lang="en-US" sz="1280" dirty="0"/>
          </a:p>
        </p:txBody>
      </p:sp>
      <p:sp>
        <p:nvSpPr>
          <p:cNvPr id="35" name="Shape 33"/>
          <p:cNvSpPr/>
          <p:nvPr/>
        </p:nvSpPr>
        <p:spPr>
          <a:xfrm>
            <a:off x="5715000" y="1673352"/>
            <a:ext cx="822960" cy="52486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5760720" y="1728216"/>
            <a:ext cx="731520" cy="50657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0.438</a:t>
            </a:r>
            <a:endParaRPr lang="en-US" sz="1280" dirty="0"/>
          </a:p>
        </p:txBody>
      </p:sp>
      <p:sp>
        <p:nvSpPr>
          <p:cNvPr id="37" name="Shape 35"/>
          <p:cNvSpPr/>
          <p:nvPr/>
        </p:nvSpPr>
        <p:spPr>
          <a:xfrm>
            <a:off x="6537960" y="1673352"/>
            <a:ext cx="822960" cy="52486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6583680" y="1728216"/>
            <a:ext cx="731520" cy="50657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0.321</a:t>
            </a:r>
            <a:endParaRPr lang="en-US" sz="1280" dirty="0"/>
          </a:p>
        </p:txBody>
      </p:sp>
      <p:sp>
        <p:nvSpPr>
          <p:cNvPr id="39" name="Shape 37"/>
          <p:cNvSpPr/>
          <p:nvPr/>
        </p:nvSpPr>
        <p:spPr>
          <a:xfrm>
            <a:off x="7360920" y="1673352"/>
            <a:ext cx="868680" cy="52486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 txBox="1"/>
          <p:nvPr/>
        </p:nvSpPr>
        <p:spPr>
          <a:xfrm>
            <a:off x="7406640" y="1728216"/>
            <a:ext cx="777240" cy="50657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0.702</a:t>
            </a:r>
            <a:endParaRPr lang="en-US" sz="1280" dirty="0"/>
          </a:p>
        </p:txBody>
      </p:sp>
      <p:sp>
        <p:nvSpPr>
          <p:cNvPr id="41" name="Shape 39"/>
          <p:cNvSpPr/>
          <p:nvPr/>
        </p:nvSpPr>
        <p:spPr>
          <a:xfrm>
            <a:off x="685800" y="2198218"/>
            <a:ext cx="1645920" cy="524866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 txBox="1"/>
          <p:nvPr/>
        </p:nvSpPr>
        <p:spPr>
          <a:xfrm>
            <a:off x="731520" y="2253082"/>
            <a:ext cx="1554480" cy="50657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InternVideo2</a:t>
            </a:r>
            <a:endParaRPr lang="en-US" sz="1280" dirty="0"/>
          </a:p>
        </p:txBody>
      </p:sp>
      <p:sp>
        <p:nvSpPr>
          <p:cNvPr id="43" name="Shape 41"/>
          <p:cNvSpPr/>
          <p:nvPr/>
        </p:nvSpPr>
        <p:spPr>
          <a:xfrm>
            <a:off x="2331720" y="2198218"/>
            <a:ext cx="914400" cy="524866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 txBox="1"/>
          <p:nvPr/>
        </p:nvSpPr>
        <p:spPr>
          <a:xfrm>
            <a:off x="2377440" y="2253082"/>
            <a:ext cx="822960" cy="50657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6B</a:t>
            </a:r>
            <a:endParaRPr lang="en-US" sz="1280" dirty="0"/>
          </a:p>
        </p:txBody>
      </p:sp>
      <p:sp>
        <p:nvSpPr>
          <p:cNvPr id="45" name="Shape 43"/>
          <p:cNvSpPr/>
          <p:nvPr/>
        </p:nvSpPr>
        <p:spPr>
          <a:xfrm>
            <a:off x="3246120" y="2198218"/>
            <a:ext cx="822960" cy="524866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 txBox="1"/>
          <p:nvPr/>
        </p:nvSpPr>
        <p:spPr>
          <a:xfrm>
            <a:off x="3291840" y="2253082"/>
            <a:ext cx="731520" cy="50657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0.502</a:t>
            </a:r>
            <a:endParaRPr lang="en-US" sz="1280" dirty="0"/>
          </a:p>
        </p:txBody>
      </p:sp>
      <p:sp>
        <p:nvSpPr>
          <p:cNvPr id="47" name="Shape 45"/>
          <p:cNvSpPr/>
          <p:nvPr/>
        </p:nvSpPr>
        <p:spPr>
          <a:xfrm>
            <a:off x="4069080" y="2198218"/>
            <a:ext cx="822960" cy="524866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4114800" y="2253082"/>
            <a:ext cx="731520" cy="50657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0.562</a:t>
            </a:r>
            <a:endParaRPr lang="en-US" sz="1280" dirty="0"/>
          </a:p>
        </p:txBody>
      </p:sp>
      <p:sp>
        <p:nvSpPr>
          <p:cNvPr id="49" name="Shape 47"/>
          <p:cNvSpPr/>
          <p:nvPr/>
        </p:nvSpPr>
        <p:spPr>
          <a:xfrm>
            <a:off x="4892040" y="2198218"/>
            <a:ext cx="822960" cy="524866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 txBox="1"/>
          <p:nvPr/>
        </p:nvSpPr>
        <p:spPr>
          <a:xfrm>
            <a:off x="4937760" y="2253082"/>
            <a:ext cx="731520" cy="50657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0.198</a:t>
            </a:r>
            <a:endParaRPr lang="en-US" sz="1280" dirty="0"/>
          </a:p>
        </p:txBody>
      </p:sp>
      <p:sp>
        <p:nvSpPr>
          <p:cNvPr id="51" name="Shape 49"/>
          <p:cNvSpPr/>
          <p:nvPr/>
        </p:nvSpPr>
        <p:spPr>
          <a:xfrm>
            <a:off x="5715000" y="2198218"/>
            <a:ext cx="822960" cy="524866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 txBox="1"/>
          <p:nvPr/>
        </p:nvSpPr>
        <p:spPr>
          <a:xfrm>
            <a:off x="5760720" y="2253082"/>
            <a:ext cx="731520" cy="50657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0.479</a:t>
            </a:r>
            <a:endParaRPr lang="en-US" sz="1280" dirty="0"/>
          </a:p>
        </p:txBody>
      </p:sp>
      <p:sp>
        <p:nvSpPr>
          <p:cNvPr id="53" name="Shape 51"/>
          <p:cNvSpPr/>
          <p:nvPr/>
        </p:nvSpPr>
        <p:spPr>
          <a:xfrm>
            <a:off x="6537960" y="2198218"/>
            <a:ext cx="822960" cy="524866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 txBox="1"/>
          <p:nvPr/>
        </p:nvSpPr>
        <p:spPr>
          <a:xfrm>
            <a:off x="6583680" y="2253082"/>
            <a:ext cx="731520" cy="50657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0.381</a:t>
            </a:r>
            <a:endParaRPr lang="en-US" sz="1280" dirty="0"/>
          </a:p>
        </p:txBody>
      </p:sp>
      <p:sp>
        <p:nvSpPr>
          <p:cNvPr id="55" name="Shape 53"/>
          <p:cNvSpPr/>
          <p:nvPr/>
        </p:nvSpPr>
        <p:spPr>
          <a:xfrm>
            <a:off x="7360920" y="2198218"/>
            <a:ext cx="868680" cy="524866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 txBox="1"/>
          <p:nvPr/>
        </p:nvSpPr>
        <p:spPr>
          <a:xfrm>
            <a:off x="7406640" y="2253082"/>
            <a:ext cx="777240" cy="50657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0.726</a:t>
            </a:r>
            <a:endParaRPr lang="en-US" sz="1280" dirty="0"/>
          </a:p>
        </p:txBody>
      </p:sp>
      <p:sp>
        <p:nvSpPr>
          <p:cNvPr id="57" name="Shape 55"/>
          <p:cNvSpPr/>
          <p:nvPr/>
        </p:nvSpPr>
        <p:spPr>
          <a:xfrm>
            <a:off x="685800" y="2723083"/>
            <a:ext cx="1645920" cy="52486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 txBox="1"/>
          <p:nvPr/>
        </p:nvSpPr>
        <p:spPr>
          <a:xfrm>
            <a:off x="731520" y="2777947"/>
            <a:ext cx="1554480" cy="50657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Unite-7B</a:t>
            </a:r>
            <a:endParaRPr lang="en-US" sz="1280" dirty="0"/>
          </a:p>
        </p:txBody>
      </p:sp>
      <p:sp>
        <p:nvSpPr>
          <p:cNvPr id="59" name="Shape 57"/>
          <p:cNvSpPr/>
          <p:nvPr/>
        </p:nvSpPr>
        <p:spPr>
          <a:xfrm>
            <a:off x="2331720" y="2723083"/>
            <a:ext cx="914400" cy="52486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58"/>
          <p:cNvSpPr txBox="1"/>
          <p:nvPr/>
        </p:nvSpPr>
        <p:spPr>
          <a:xfrm>
            <a:off x="2377440" y="2777947"/>
            <a:ext cx="822960" cy="50657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7B+</a:t>
            </a:r>
            <a:endParaRPr lang="en-US" sz="1280" dirty="0"/>
          </a:p>
        </p:txBody>
      </p:sp>
      <p:sp>
        <p:nvSpPr>
          <p:cNvPr id="61" name="Shape 59"/>
          <p:cNvSpPr/>
          <p:nvPr/>
        </p:nvSpPr>
        <p:spPr>
          <a:xfrm>
            <a:off x="3246120" y="2723083"/>
            <a:ext cx="822960" cy="52486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60"/>
          <p:cNvSpPr txBox="1"/>
          <p:nvPr/>
        </p:nvSpPr>
        <p:spPr>
          <a:xfrm>
            <a:off x="3291840" y="2777947"/>
            <a:ext cx="731520" cy="50657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0.559</a:t>
            </a:r>
            <a:endParaRPr lang="en-US" sz="1280" dirty="0"/>
          </a:p>
        </p:txBody>
      </p:sp>
      <p:sp>
        <p:nvSpPr>
          <p:cNvPr id="63" name="Shape 61"/>
          <p:cNvSpPr/>
          <p:nvPr/>
        </p:nvSpPr>
        <p:spPr>
          <a:xfrm>
            <a:off x="4069080" y="2723083"/>
            <a:ext cx="822960" cy="52486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62"/>
          <p:cNvSpPr txBox="1"/>
          <p:nvPr/>
        </p:nvSpPr>
        <p:spPr>
          <a:xfrm>
            <a:off x="4114800" y="2777947"/>
            <a:ext cx="731520" cy="50657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0.609</a:t>
            </a:r>
            <a:endParaRPr lang="en-US" sz="1280" dirty="0"/>
          </a:p>
        </p:txBody>
      </p:sp>
      <p:sp>
        <p:nvSpPr>
          <p:cNvPr id="65" name="Shape 63"/>
          <p:cNvSpPr/>
          <p:nvPr/>
        </p:nvSpPr>
        <p:spPr>
          <a:xfrm>
            <a:off x="4892040" y="2723083"/>
            <a:ext cx="822960" cy="52486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Text 64"/>
          <p:cNvSpPr txBox="1"/>
          <p:nvPr/>
        </p:nvSpPr>
        <p:spPr>
          <a:xfrm>
            <a:off x="4937760" y="2777947"/>
            <a:ext cx="731520" cy="50657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0.254</a:t>
            </a:r>
            <a:endParaRPr lang="en-US" sz="1280" dirty="0"/>
          </a:p>
        </p:txBody>
      </p:sp>
      <p:sp>
        <p:nvSpPr>
          <p:cNvPr id="67" name="Shape 65"/>
          <p:cNvSpPr/>
          <p:nvPr/>
        </p:nvSpPr>
        <p:spPr>
          <a:xfrm>
            <a:off x="5715000" y="2723083"/>
            <a:ext cx="822960" cy="52486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Text 66"/>
          <p:cNvSpPr txBox="1"/>
          <p:nvPr/>
        </p:nvSpPr>
        <p:spPr>
          <a:xfrm>
            <a:off x="5760720" y="2777947"/>
            <a:ext cx="731520" cy="50657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0.539</a:t>
            </a:r>
            <a:endParaRPr lang="en-US" sz="1280" dirty="0"/>
          </a:p>
        </p:txBody>
      </p:sp>
      <p:sp>
        <p:nvSpPr>
          <p:cNvPr id="69" name="Shape 67"/>
          <p:cNvSpPr/>
          <p:nvPr/>
        </p:nvSpPr>
        <p:spPr>
          <a:xfrm>
            <a:off x="6537960" y="2723083"/>
            <a:ext cx="822960" cy="52486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Text 68"/>
          <p:cNvSpPr txBox="1"/>
          <p:nvPr/>
        </p:nvSpPr>
        <p:spPr>
          <a:xfrm>
            <a:off x="6583680" y="2777947"/>
            <a:ext cx="731520" cy="50657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0.412</a:t>
            </a:r>
            <a:endParaRPr lang="en-US" sz="1280" dirty="0"/>
          </a:p>
        </p:txBody>
      </p:sp>
      <p:sp>
        <p:nvSpPr>
          <p:cNvPr id="71" name="Shape 69"/>
          <p:cNvSpPr/>
          <p:nvPr/>
        </p:nvSpPr>
        <p:spPr>
          <a:xfrm>
            <a:off x="7360920" y="2723083"/>
            <a:ext cx="868680" cy="52486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Text 70"/>
          <p:cNvSpPr txBox="1"/>
          <p:nvPr/>
        </p:nvSpPr>
        <p:spPr>
          <a:xfrm>
            <a:off x="7406640" y="2777947"/>
            <a:ext cx="777240" cy="50657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0.746</a:t>
            </a:r>
            <a:endParaRPr lang="en-US" sz="1280" dirty="0"/>
          </a:p>
        </p:txBody>
      </p:sp>
      <p:sp>
        <p:nvSpPr>
          <p:cNvPr id="73" name="Shape 71"/>
          <p:cNvSpPr/>
          <p:nvPr/>
        </p:nvSpPr>
        <p:spPr>
          <a:xfrm>
            <a:off x="685800" y="3247949"/>
            <a:ext cx="1645920" cy="524866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Text 72"/>
          <p:cNvSpPr txBox="1"/>
          <p:nvPr/>
        </p:nvSpPr>
        <p:spPr>
          <a:xfrm>
            <a:off x="731520" y="3302813"/>
            <a:ext cx="1554480" cy="50657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GVE-3B</a:t>
            </a:r>
            <a:endParaRPr lang="en-US" sz="1280" dirty="0"/>
          </a:p>
        </p:txBody>
      </p:sp>
      <p:sp>
        <p:nvSpPr>
          <p:cNvPr id="75" name="Shape 73"/>
          <p:cNvSpPr/>
          <p:nvPr/>
        </p:nvSpPr>
        <p:spPr>
          <a:xfrm>
            <a:off x="2331720" y="3247949"/>
            <a:ext cx="914400" cy="524866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Text 74"/>
          <p:cNvSpPr txBox="1"/>
          <p:nvPr/>
        </p:nvSpPr>
        <p:spPr>
          <a:xfrm>
            <a:off x="2377440" y="3302813"/>
            <a:ext cx="822960" cy="50657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3.8B</a:t>
            </a:r>
            <a:endParaRPr lang="en-US" sz="1280" dirty="0"/>
          </a:p>
        </p:txBody>
      </p:sp>
      <p:sp>
        <p:nvSpPr>
          <p:cNvPr id="77" name="Shape 75"/>
          <p:cNvSpPr/>
          <p:nvPr/>
        </p:nvSpPr>
        <p:spPr>
          <a:xfrm>
            <a:off x="3246120" y="3247949"/>
            <a:ext cx="822960" cy="524866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Text 76"/>
          <p:cNvSpPr txBox="1"/>
          <p:nvPr/>
        </p:nvSpPr>
        <p:spPr>
          <a:xfrm>
            <a:off x="3291840" y="3302813"/>
            <a:ext cx="731520" cy="50657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0.571</a:t>
            </a:r>
            <a:endParaRPr lang="en-US" sz="1280" dirty="0"/>
          </a:p>
        </p:txBody>
      </p:sp>
      <p:sp>
        <p:nvSpPr>
          <p:cNvPr id="79" name="Shape 77"/>
          <p:cNvSpPr/>
          <p:nvPr/>
        </p:nvSpPr>
        <p:spPr>
          <a:xfrm>
            <a:off x="4069080" y="3247949"/>
            <a:ext cx="822960" cy="524866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Text 78"/>
          <p:cNvSpPr txBox="1"/>
          <p:nvPr/>
        </p:nvSpPr>
        <p:spPr>
          <a:xfrm>
            <a:off x="4114800" y="3302813"/>
            <a:ext cx="731520" cy="50657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0.619</a:t>
            </a:r>
            <a:endParaRPr lang="en-US" sz="1280" dirty="0"/>
          </a:p>
        </p:txBody>
      </p:sp>
      <p:sp>
        <p:nvSpPr>
          <p:cNvPr id="81" name="Shape 79"/>
          <p:cNvSpPr/>
          <p:nvPr/>
        </p:nvSpPr>
        <p:spPr>
          <a:xfrm>
            <a:off x="4892040" y="3247949"/>
            <a:ext cx="822960" cy="524866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Text 80"/>
          <p:cNvSpPr txBox="1"/>
          <p:nvPr/>
        </p:nvSpPr>
        <p:spPr>
          <a:xfrm>
            <a:off x="4937760" y="3302813"/>
            <a:ext cx="731520" cy="50657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0.304</a:t>
            </a:r>
            <a:endParaRPr lang="en-US" sz="1280" dirty="0"/>
          </a:p>
        </p:txBody>
      </p:sp>
      <p:sp>
        <p:nvSpPr>
          <p:cNvPr id="83" name="Shape 81"/>
          <p:cNvSpPr/>
          <p:nvPr/>
        </p:nvSpPr>
        <p:spPr>
          <a:xfrm>
            <a:off x="5715000" y="3247949"/>
            <a:ext cx="822960" cy="524866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Text 82"/>
          <p:cNvSpPr txBox="1"/>
          <p:nvPr/>
        </p:nvSpPr>
        <p:spPr>
          <a:xfrm>
            <a:off x="5760720" y="3302813"/>
            <a:ext cx="731520" cy="50657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0.541</a:t>
            </a:r>
            <a:endParaRPr lang="en-US" sz="1280" dirty="0"/>
          </a:p>
        </p:txBody>
      </p:sp>
      <p:sp>
        <p:nvSpPr>
          <p:cNvPr id="85" name="Shape 83"/>
          <p:cNvSpPr/>
          <p:nvPr/>
        </p:nvSpPr>
        <p:spPr>
          <a:xfrm>
            <a:off x="6537960" y="3247949"/>
            <a:ext cx="822960" cy="524866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" name="Text 84"/>
          <p:cNvSpPr txBox="1"/>
          <p:nvPr/>
        </p:nvSpPr>
        <p:spPr>
          <a:xfrm>
            <a:off x="6583680" y="3302813"/>
            <a:ext cx="731520" cy="50657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0.430</a:t>
            </a:r>
            <a:endParaRPr lang="en-US" sz="1280" dirty="0"/>
          </a:p>
        </p:txBody>
      </p:sp>
      <p:sp>
        <p:nvSpPr>
          <p:cNvPr id="87" name="Shape 85"/>
          <p:cNvSpPr/>
          <p:nvPr/>
        </p:nvSpPr>
        <p:spPr>
          <a:xfrm>
            <a:off x="7360920" y="3247949"/>
            <a:ext cx="868680" cy="524866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" name="Text 86"/>
          <p:cNvSpPr txBox="1"/>
          <p:nvPr/>
        </p:nvSpPr>
        <p:spPr>
          <a:xfrm>
            <a:off x="7406640" y="3302813"/>
            <a:ext cx="777240" cy="50657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0.764</a:t>
            </a:r>
            <a:endParaRPr lang="en-US" sz="1280" dirty="0"/>
          </a:p>
        </p:txBody>
      </p:sp>
      <p:sp>
        <p:nvSpPr>
          <p:cNvPr id="89" name="Shape 87"/>
          <p:cNvSpPr/>
          <p:nvPr/>
        </p:nvSpPr>
        <p:spPr>
          <a:xfrm>
            <a:off x="685800" y="3772814"/>
            <a:ext cx="1645920" cy="52486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" name="Text 88"/>
          <p:cNvSpPr txBox="1"/>
          <p:nvPr/>
        </p:nvSpPr>
        <p:spPr>
          <a:xfrm>
            <a:off x="731520" y="3827678"/>
            <a:ext cx="1554480" cy="50657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GVE-7B ★</a:t>
            </a:r>
            <a:endParaRPr lang="en-US" sz="1280" dirty="0"/>
          </a:p>
        </p:txBody>
      </p:sp>
      <p:sp>
        <p:nvSpPr>
          <p:cNvPr id="91" name="Shape 89"/>
          <p:cNvSpPr/>
          <p:nvPr/>
        </p:nvSpPr>
        <p:spPr>
          <a:xfrm>
            <a:off x="2331720" y="3772814"/>
            <a:ext cx="914400" cy="52486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Text 90"/>
          <p:cNvSpPr txBox="1"/>
          <p:nvPr/>
        </p:nvSpPr>
        <p:spPr>
          <a:xfrm>
            <a:off x="2377440" y="3827678"/>
            <a:ext cx="822960" cy="50657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8.3B</a:t>
            </a:r>
            <a:endParaRPr lang="en-US" sz="1280" dirty="0"/>
          </a:p>
        </p:txBody>
      </p:sp>
      <p:sp>
        <p:nvSpPr>
          <p:cNvPr id="93" name="Shape 91"/>
          <p:cNvSpPr/>
          <p:nvPr/>
        </p:nvSpPr>
        <p:spPr>
          <a:xfrm>
            <a:off x="3246120" y="3772814"/>
            <a:ext cx="822960" cy="52486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" name="Text 92"/>
          <p:cNvSpPr txBox="1"/>
          <p:nvPr/>
        </p:nvSpPr>
        <p:spPr>
          <a:xfrm>
            <a:off x="3291840" y="3827678"/>
            <a:ext cx="731520" cy="50657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0.600</a:t>
            </a:r>
            <a:endParaRPr lang="en-US" sz="1280" dirty="0"/>
          </a:p>
        </p:txBody>
      </p:sp>
      <p:sp>
        <p:nvSpPr>
          <p:cNvPr id="95" name="Shape 93"/>
          <p:cNvSpPr/>
          <p:nvPr/>
        </p:nvSpPr>
        <p:spPr>
          <a:xfrm>
            <a:off x="4069080" y="3772814"/>
            <a:ext cx="822960" cy="52486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" name="Text 94"/>
          <p:cNvSpPr txBox="1"/>
          <p:nvPr/>
        </p:nvSpPr>
        <p:spPr>
          <a:xfrm>
            <a:off x="4114800" y="3827678"/>
            <a:ext cx="731520" cy="50657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0.657</a:t>
            </a:r>
            <a:endParaRPr lang="en-US" sz="1280" dirty="0"/>
          </a:p>
        </p:txBody>
      </p:sp>
      <p:sp>
        <p:nvSpPr>
          <p:cNvPr id="97" name="Shape 95"/>
          <p:cNvSpPr/>
          <p:nvPr/>
        </p:nvSpPr>
        <p:spPr>
          <a:xfrm>
            <a:off x="4892040" y="3772814"/>
            <a:ext cx="822960" cy="52486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" name="Text 96"/>
          <p:cNvSpPr txBox="1"/>
          <p:nvPr/>
        </p:nvSpPr>
        <p:spPr>
          <a:xfrm>
            <a:off x="4937760" y="3827678"/>
            <a:ext cx="731520" cy="50657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0.312</a:t>
            </a:r>
            <a:endParaRPr lang="en-US" sz="1280" dirty="0"/>
          </a:p>
        </p:txBody>
      </p:sp>
      <p:sp>
        <p:nvSpPr>
          <p:cNvPr id="99" name="Shape 97"/>
          <p:cNvSpPr/>
          <p:nvPr/>
        </p:nvSpPr>
        <p:spPr>
          <a:xfrm>
            <a:off x="5715000" y="3772814"/>
            <a:ext cx="822960" cy="52486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" name="Text 98"/>
          <p:cNvSpPr txBox="1"/>
          <p:nvPr/>
        </p:nvSpPr>
        <p:spPr>
          <a:xfrm>
            <a:off x="5760720" y="3827678"/>
            <a:ext cx="731520" cy="50657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0.570</a:t>
            </a:r>
            <a:endParaRPr lang="en-US" sz="1280" dirty="0"/>
          </a:p>
        </p:txBody>
      </p:sp>
      <p:sp>
        <p:nvSpPr>
          <p:cNvPr id="101" name="Shape 99"/>
          <p:cNvSpPr/>
          <p:nvPr/>
        </p:nvSpPr>
        <p:spPr>
          <a:xfrm>
            <a:off x="6537960" y="3772814"/>
            <a:ext cx="822960" cy="52486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2" name="Text 100"/>
          <p:cNvSpPr txBox="1"/>
          <p:nvPr/>
        </p:nvSpPr>
        <p:spPr>
          <a:xfrm>
            <a:off x="6583680" y="3827678"/>
            <a:ext cx="731520" cy="50657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0.469</a:t>
            </a:r>
            <a:endParaRPr lang="en-US" sz="1280" dirty="0"/>
          </a:p>
        </p:txBody>
      </p:sp>
      <p:sp>
        <p:nvSpPr>
          <p:cNvPr id="103" name="Shape 101"/>
          <p:cNvSpPr/>
          <p:nvPr/>
        </p:nvSpPr>
        <p:spPr>
          <a:xfrm>
            <a:off x="7360920" y="3772814"/>
            <a:ext cx="868680" cy="52486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4" name="Text 102"/>
          <p:cNvSpPr txBox="1"/>
          <p:nvPr/>
        </p:nvSpPr>
        <p:spPr>
          <a:xfrm>
            <a:off x="7406640" y="3827678"/>
            <a:ext cx="777240" cy="50657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0.814</a:t>
            </a:r>
            <a:endParaRPr lang="en-US" sz="1280" dirty="0"/>
          </a:p>
        </p:txBody>
      </p:sp>
      <p:sp>
        <p:nvSpPr>
          <p:cNvPr id="105" name="Shape 103"/>
          <p:cNvSpPr/>
          <p:nvPr/>
        </p:nvSpPr>
        <p:spPr>
          <a:xfrm>
            <a:off x="8458200" y="132588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6" name="Shape 104"/>
          <p:cNvSpPr/>
          <p:nvPr/>
        </p:nvSpPr>
        <p:spPr>
          <a:xfrm>
            <a:off x="8458200" y="1325880"/>
            <a:ext cx="73152" cy="182880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7" name="Text 105"/>
          <p:cNvSpPr txBox="1"/>
          <p:nvPr/>
        </p:nvSpPr>
        <p:spPr>
          <a:xfrm>
            <a:off x="8659368" y="1472184"/>
            <a:ext cx="243230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642"/>
                </a:solidFill>
                <a:latin typeface="Arial"/>
              </a:rPr>
              <a:t>Key results</a:t>
            </a:r>
          </a:p>
        </p:txBody>
      </p:sp>
      <p:sp>
        <p:nvSpPr>
          <p:cNvPr id="108" name="Text 106"/>
          <p:cNvSpPr txBox="1"/>
          <p:nvPr/>
        </p:nvSpPr>
        <p:spPr>
          <a:xfrm>
            <a:off x="8677656" y="1856232"/>
            <a:ext cx="2395728" cy="118872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0" i="0">
                <a:solidFill>
                  <a:srgbClr val="1F2937"/>
                </a:solidFill>
                <a:latin typeface="Arial"/>
              </a:rPr>
              <a:t>• Dataset AVG: 0.573 vs Unite-7B 0.538 (+6.5%).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0" i="0">
                <a:solidFill>
                  <a:srgbClr val="1F2937"/>
                </a:solidFill>
                <a:latin typeface="Arial"/>
              </a:rPr>
              <a:t>• Ability AVG: 0.600 vs Unite-7B 0.559 (+7.3%).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0" i="0">
                <a:solidFill>
                  <a:srgbClr val="1F2937"/>
                </a:solidFill>
                <a:latin typeface="Arial"/>
              </a:rPr>
              <a:t>• GVE-3B beats Unite-7B with fewer parameters.</a:t>
            </a:r>
          </a:p>
        </p:txBody>
      </p:sp>
      <p:sp>
        <p:nvSpPr>
          <p:cNvPr id="109" name="Shape 107"/>
          <p:cNvSpPr/>
          <p:nvPr/>
        </p:nvSpPr>
        <p:spPr>
          <a:xfrm>
            <a:off x="8458200" y="342900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0" name="Shape 108"/>
          <p:cNvSpPr/>
          <p:nvPr/>
        </p:nvSpPr>
        <p:spPr>
          <a:xfrm>
            <a:off x="8458200" y="3429000"/>
            <a:ext cx="73152" cy="868680"/>
          </a:xfrm>
          <a:prstGeom prst="rect">
            <a:avLst/>
          </a:prstGeom>
          <a:solidFill>
            <a:srgbClr val="2F7D5C"/>
          </a:solidFill>
          <a:ln w="12700">
            <a:solidFill>
              <a:srgbClr val="2F7D5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1" name="Text 109"/>
          <p:cNvSpPr txBox="1"/>
          <p:nvPr/>
        </p:nvSpPr>
        <p:spPr>
          <a:xfrm>
            <a:off x="8659368" y="3575304"/>
            <a:ext cx="2432304" cy="68580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642"/>
                </a:solidFill>
                <a:latin typeface="Arial"/>
              </a:rPr>
              <a:t>Data + curriculum,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642"/>
                </a:solidFill>
                <a:latin typeface="Arial"/>
              </a:rPr>
              <a:t>not parameter scale</a:t>
            </a:r>
          </a:p>
        </p:txBody>
      </p:sp>
      <p:sp>
        <p:nvSpPr>
          <p:cNvPr id="112" name="Text 110"/>
          <p:cNvSpPr txBox="1"/>
          <p:nvPr/>
        </p:nvSpPr>
        <p:spPr>
          <a:xfrm>
            <a:off x="8677656" y="3959352"/>
            <a:ext cx="2395728" cy="384048"/>
          </a:xfrm>
          <a:prstGeom prst="rect">
            <a:avLst/>
          </a:prstGeom>
          <a:noFill/>
          <a:ln/>
        </p:spPr>
        <p:txBody>
          <a:bodyPr wrap="square" lIns="45720" tIns="27432" rIns="45720" bIns="27432" rtlCol="0" anchor="t">
            <a:noAutofit/>
          </a:bodyPr>
          <a:lstStyle/>
          <a:p>
            <a:endParaRPr/>
          </a:p>
        </p:txBody>
      </p:sp>
      <p:sp>
        <p:nvSpPr>
          <p:cNvPr id="113" name="Shape 111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4" name="Text 112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115" name="Text 113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Capability-targeted scaling beats parameter-naive scaling.</a:t>
            </a:r>
            <a:endParaRPr lang="en-US" sz="1700" dirty="0"/>
          </a:p>
        </p:txBody>
      </p:sp>
      <p:sp>
        <p:nvSpPr>
          <p:cNvPr id="116" name="Rectangle 115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1 · ABLATION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UVRD and Curriculum Provide Complementary Gains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325880"/>
            <a:ext cx="246888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813816" y="1399032"/>
            <a:ext cx="239572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82296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3282696" y="1399032"/>
            <a:ext cx="74980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Arial"/>
              </a:rPr>
              <a:t>Ability</a:t>
            </a:r>
            <a:endParaRPr lang="en-US" sz="1280" dirty="0"/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AVG</a:t>
            </a:r>
          </a:p>
        </p:txBody>
      </p:sp>
      <p:sp>
        <p:nvSpPr>
          <p:cNvPr id="13" name="Shape 11"/>
          <p:cNvSpPr/>
          <p:nvPr/>
        </p:nvSpPr>
        <p:spPr>
          <a:xfrm>
            <a:off x="4069080" y="1325880"/>
            <a:ext cx="82296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4105656" y="1399032"/>
            <a:ext cx="74980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CMP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4892040" y="1325880"/>
            <a:ext cx="82296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4928616" y="1399032"/>
            <a:ext cx="74980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5715000" y="1325880"/>
            <a:ext cx="82296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5751576" y="1399032"/>
            <a:ext cx="74980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6537960" y="1325880"/>
            <a:ext cx="82296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6574536" y="1399032"/>
            <a:ext cx="74980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ΔAbility</a:t>
            </a:r>
            <a:endParaRPr lang="en-US" sz="1280" dirty="0"/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AVG</a:t>
            </a:r>
          </a:p>
        </p:txBody>
      </p:sp>
      <p:sp>
        <p:nvSpPr>
          <p:cNvPr id="21" name="Shape 19"/>
          <p:cNvSpPr/>
          <p:nvPr/>
        </p:nvSpPr>
        <p:spPr>
          <a:xfrm>
            <a:off x="777240" y="1673352"/>
            <a:ext cx="2468880" cy="450342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822960" y="1728216"/>
            <a:ext cx="2377440" cy="43205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3246120" y="1673352"/>
            <a:ext cx="822960" cy="450342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3291840" y="1728216"/>
            <a:ext cx="731520" cy="43205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0.541</a:t>
            </a:r>
            <a:endParaRPr lang="en-US" sz="1320" dirty="0"/>
          </a:p>
        </p:txBody>
      </p:sp>
      <p:sp>
        <p:nvSpPr>
          <p:cNvPr id="25" name="Shape 23"/>
          <p:cNvSpPr/>
          <p:nvPr/>
        </p:nvSpPr>
        <p:spPr>
          <a:xfrm>
            <a:off x="4069080" y="1673352"/>
            <a:ext cx="822960" cy="450342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4114800" y="1728216"/>
            <a:ext cx="731520" cy="43205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0.231</a:t>
            </a:r>
            <a:endParaRPr lang="en-US" sz="1320" dirty="0"/>
          </a:p>
        </p:txBody>
      </p:sp>
      <p:sp>
        <p:nvSpPr>
          <p:cNvPr id="27" name="Shape 25"/>
          <p:cNvSpPr/>
          <p:nvPr/>
        </p:nvSpPr>
        <p:spPr>
          <a:xfrm>
            <a:off x="4892040" y="1673352"/>
            <a:ext cx="822960" cy="450342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4937760" y="1728216"/>
            <a:ext cx="731520" cy="43205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0.521</a:t>
            </a:r>
            <a:endParaRPr lang="en-US" sz="1320" dirty="0"/>
          </a:p>
        </p:txBody>
      </p:sp>
      <p:sp>
        <p:nvSpPr>
          <p:cNvPr id="29" name="Shape 27"/>
          <p:cNvSpPr/>
          <p:nvPr/>
        </p:nvSpPr>
        <p:spPr>
          <a:xfrm>
            <a:off x="5715000" y="1673352"/>
            <a:ext cx="822960" cy="450342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5760720" y="1728216"/>
            <a:ext cx="731520" cy="43205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0.398</a:t>
            </a:r>
            <a:endParaRPr lang="en-US" sz="1320" dirty="0"/>
          </a:p>
        </p:txBody>
      </p:sp>
      <p:sp>
        <p:nvSpPr>
          <p:cNvPr id="31" name="Shape 29"/>
          <p:cNvSpPr/>
          <p:nvPr/>
        </p:nvSpPr>
        <p:spPr>
          <a:xfrm>
            <a:off x="6537960" y="1673352"/>
            <a:ext cx="822960" cy="450342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6583680" y="1728216"/>
            <a:ext cx="731520" cy="43205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20" dirty="0"/>
          </a:p>
        </p:txBody>
      </p:sp>
      <p:sp>
        <p:nvSpPr>
          <p:cNvPr id="33" name="Shape 31"/>
          <p:cNvSpPr/>
          <p:nvPr/>
        </p:nvSpPr>
        <p:spPr>
          <a:xfrm>
            <a:off x="777240" y="2123694"/>
            <a:ext cx="2468880" cy="450342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 txBox="1"/>
          <p:nvPr/>
        </p:nvSpPr>
        <p:spPr>
          <a:xfrm>
            <a:off x="822960" y="2178558"/>
            <a:ext cx="2377440" cy="43205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UVRD data</a:t>
            </a:r>
            <a:endParaRPr lang="en-US" sz="1320" dirty="0"/>
          </a:p>
        </p:txBody>
      </p:sp>
      <p:sp>
        <p:nvSpPr>
          <p:cNvPr id="35" name="Shape 33"/>
          <p:cNvSpPr/>
          <p:nvPr/>
        </p:nvSpPr>
        <p:spPr>
          <a:xfrm>
            <a:off x="3246120" y="2123694"/>
            <a:ext cx="822960" cy="450342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3291840" y="2178558"/>
            <a:ext cx="731520" cy="43205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0.564</a:t>
            </a:r>
            <a:endParaRPr lang="en-US" sz="1320" dirty="0"/>
          </a:p>
        </p:txBody>
      </p:sp>
      <p:sp>
        <p:nvSpPr>
          <p:cNvPr id="37" name="Shape 35"/>
          <p:cNvSpPr/>
          <p:nvPr/>
        </p:nvSpPr>
        <p:spPr>
          <a:xfrm>
            <a:off x="4069080" y="2123694"/>
            <a:ext cx="822960" cy="450342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4114800" y="2178558"/>
            <a:ext cx="731520" cy="43205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0.292</a:t>
            </a:r>
            <a:endParaRPr lang="en-US" sz="1320" dirty="0"/>
          </a:p>
        </p:txBody>
      </p:sp>
      <p:sp>
        <p:nvSpPr>
          <p:cNvPr id="39" name="Shape 37"/>
          <p:cNvSpPr/>
          <p:nvPr/>
        </p:nvSpPr>
        <p:spPr>
          <a:xfrm>
            <a:off x="4892040" y="2123694"/>
            <a:ext cx="822960" cy="450342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 txBox="1"/>
          <p:nvPr/>
        </p:nvSpPr>
        <p:spPr>
          <a:xfrm>
            <a:off x="4937760" y="2178558"/>
            <a:ext cx="731520" cy="43205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0.548</a:t>
            </a:r>
            <a:endParaRPr lang="en-US" sz="1320" dirty="0"/>
          </a:p>
        </p:txBody>
      </p:sp>
      <p:sp>
        <p:nvSpPr>
          <p:cNvPr id="41" name="Shape 39"/>
          <p:cNvSpPr/>
          <p:nvPr/>
        </p:nvSpPr>
        <p:spPr>
          <a:xfrm>
            <a:off x="5715000" y="2123694"/>
            <a:ext cx="822960" cy="450342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 txBox="1"/>
          <p:nvPr/>
        </p:nvSpPr>
        <p:spPr>
          <a:xfrm>
            <a:off x="5760720" y="2178558"/>
            <a:ext cx="731520" cy="43205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0.426</a:t>
            </a:r>
            <a:endParaRPr lang="en-US" sz="1320" dirty="0"/>
          </a:p>
        </p:txBody>
      </p:sp>
      <p:sp>
        <p:nvSpPr>
          <p:cNvPr id="43" name="Shape 41"/>
          <p:cNvSpPr/>
          <p:nvPr/>
        </p:nvSpPr>
        <p:spPr>
          <a:xfrm>
            <a:off x="6537960" y="2123694"/>
            <a:ext cx="822960" cy="450342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 txBox="1"/>
          <p:nvPr/>
        </p:nvSpPr>
        <p:spPr>
          <a:xfrm>
            <a:off x="6583680" y="2178558"/>
            <a:ext cx="731520" cy="43205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+2.3%</a:t>
            </a:r>
            <a:endParaRPr lang="en-US" sz="1320" dirty="0"/>
          </a:p>
        </p:txBody>
      </p:sp>
      <p:sp>
        <p:nvSpPr>
          <p:cNvPr id="45" name="Shape 43"/>
          <p:cNvSpPr/>
          <p:nvPr/>
        </p:nvSpPr>
        <p:spPr>
          <a:xfrm>
            <a:off x="777240" y="2574036"/>
            <a:ext cx="2468880" cy="450342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 txBox="1"/>
          <p:nvPr/>
        </p:nvSpPr>
        <p:spPr>
          <a:xfrm>
            <a:off x="822960" y="2628900"/>
            <a:ext cx="2377440" cy="43205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Pyramid</a:t>
            </a:r>
            <a:endParaRPr lang="en-US" sz="1320" dirty="0"/>
          </a:p>
        </p:txBody>
      </p:sp>
      <p:sp>
        <p:nvSpPr>
          <p:cNvPr id="47" name="Shape 45"/>
          <p:cNvSpPr/>
          <p:nvPr/>
        </p:nvSpPr>
        <p:spPr>
          <a:xfrm>
            <a:off x="3246120" y="2574036"/>
            <a:ext cx="822960" cy="450342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3291840" y="2628900"/>
            <a:ext cx="731520" cy="43205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0.571</a:t>
            </a:r>
            <a:endParaRPr lang="en-US" sz="1320" dirty="0"/>
          </a:p>
        </p:txBody>
      </p:sp>
      <p:sp>
        <p:nvSpPr>
          <p:cNvPr id="49" name="Shape 47"/>
          <p:cNvSpPr/>
          <p:nvPr/>
        </p:nvSpPr>
        <p:spPr>
          <a:xfrm>
            <a:off x="4069080" y="2574036"/>
            <a:ext cx="822960" cy="450342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 txBox="1"/>
          <p:nvPr/>
        </p:nvSpPr>
        <p:spPr>
          <a:xfrm>
            <a:off x="4114800" y="2628900"/>
            <a:ext cx="731520" cy="43205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0.258</a:t>
            </a:r>
            <a:endParaRPr lang="en-US" sz="1320" dirty="0"/>
          </a:p>
        </p:txBody>
      </p:sp>
      <p:sp>
        <p:nvSpPr>
          <p:cNvPr id="51" name="Shape 49"/>
          <p:cNvSpPr/>
          <p:nvPr/>
        </p:nvSpPr>
        <p:spPr>
          <a:xfrm>
            <a:off x="4892040" y="2574036"/>
            <a:ext cx="822960" cy="450342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 txBox="1"/>
          <p:nvPr/>
        </p:nvSpPr>
        <p:spPr>
          <a:xfrm>
            <a:off x="4937760" y="2628900"/>
            <a:ext cx="731520" cy="43205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0.551</a:t>
            </a:r>
            <a:endParaRPr lang="en-US" sz="1320" dirty="0"/>
          </a:p>
        </p:txBody>
      </p:sp>
      <p:sp>
        <p:nvSpPr>
          <p:cNvPr id="53" name="Shape 51"/>
          <p:cNvSpPr/>
          <p:nvPr/>
        </p:nvSpPr>
        <p:spPr>
          <a:xfrm>
            <a:off x="5715000" y="2574036"/>
            <a:ext cx="822960" cy="450342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 txBox="1"/>
          <p:nvPr/>
        </p:nvSpPr>
        <p:spPr>
          <a:xfrm>
            <a:off x="5760720" y="2628900"/>
            <a:ext cx="731520" cy="43205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0.441</a:t>
            </a:r>
            <a:endParaRPr lang="en-US" sz="1320" dirty="0"/>
          </a:p>
        </p:txBody>
      </p:sp>
      <p:sp>
        <p:nvSpPr>
          <p:cNvPr id="55" name="Shape 53"/>
          <p:cNvSpPr/>
          <p:nvPr/>
        </p:nvSpPr>
        <p:spPr>
          <a:xfrm>
            <a:off x="6537960" y="2574036"/>
            <a:ext cx="822960" cy="450342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 txBox="1"/>
          <p:nvPr/>
        </p:nvSpPr>
        <p:spPr>
          <a:xfrm>
            <a:off x="6583680" y="2628900"/>
            <a:ext cx="731520" cy="43205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+3.0%</a:t>
            </a:r>
            <a:endParaRPr lang="en-US" sz="1320" dirty="0"/>
          </a:p>
        </p:txBody>
      </p:sp>
      <p:sp>
        <p:nvSpPr>
          <p:cNvPr id="57" name="Shape 55"/>
          <p:cNvSpPr/>
          <p:nvPr/>
        </p:nvSpPr>
        <p:spPr>
          <a:xfrm>
            <a:off x="777240" y="3024378"/>
            <a:ext cx="2468880" cy="450342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 txBox="1"/>
          <p:nvPr/>
        </p:nvSpPr>
        <p:spPr>
          <a:xfrm>
            <a:off x="822960" y="3079242"/>
            <a:ext cx="2377440" cy="43205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GVE-7B ★</a:t>
            </a:r>
            <a:endParaRPr lang="en-US" sz="1320" dirty="0"/>
          </a:p>
        </p:txBody>
      </p:sp>
      <p:sp>
        <p:nvSpPr>
          <p:cNvPr id="59" name="Shape 57"/>
          <p:cNvSpPr/>
          <p:nvPr/>
        </p:nvSpPr>
        <p:spPr>
          <a:xfrm>
            <a:off x="3246120" y="3024378"/>
            <a:ext cx="822960" cy="450342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58"/>
          <p:cNvSpPr txBox="1"/>
          <p:nvPr/>
        </p:nvSpPr>
        <p:spPr>
          <a:xfrm>
            <a:off x="3291840" y="3079242"/>
            <a:ext cx="731520" cy="43205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0.600</a:t>
            </a:r>
            <a:endParaRPr lang="en-US" sz="1320" dirty="0"/>
          </a:p>
        </p:txBody>
      </p:sp>
      <p:sp>
        <p:nvSpPr>
          <p:cNvPr id="61" name="Shape 59"/>
          <p:cNvSpPr/>
          <p:nvPr/>
        </p:nvSpPr>
        <p:spPr>
          <a:xfrm>
            <a:off x="4069080" y="3024378"/>
            <a:ext cx="822960" cy="450342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60"/>
          <p:cNvSpPr txBox="1"/>
          <p:nvPr/>
        </p:nvSpPr>
        <p:spPr>
          <a:xfrm>
            <a:off x="4114800" y="3079242"/>
            <a:ext cx="731520" cy="43205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0.312</a:t>
            </a:r>
            <a:endParaRPr lang="en-US" sz="1320" dirty="0"/>
          </a:p>
        </p:txBody>
      </p:sp>
      <p:sp>
        <p:nvSpPr>
          <p:cNvPr id="63" name="Shape 61"/>
          <p:cNvSpPr/>
          <p:nvPr/>
        </p:nvSpPr>
        <p:spPr>
          <a:xfrm>
            <a:off x="4892040" y="3024378"/>
            <a:ext cx="822960" cy="450342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62"/>
          <p:cNvSpPr txBox="1"/>
          <p:nvPr/>
        </p:nvSpPr>
        <p:spPr>
          <a:xfrm>
            <a:off x="4937760" y="3079242"/>
            <a:ext cx="731520" cy="43205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0.570</a:t>
            </a:r>
            <a:endParaRPr lang="en-US" sz="1320" dirty="0"/>
          </a:p>
        </p:txBody>
      </p:sp>
      <p:sp>
        <p:nvSpPr>
          <p:cNvPr id="65" name="Shape 63"/>
          <p:cNvSpPr/>
          <p:nvPr/>
        </p:nvSpPr>
        <p:spPr>
          <a:xfrm>
            <a:off x="5715000" y="3024378"/>
            <a:ext cx="822960" cy="450342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Text 64"/>
          <p:cNvSpPr txBox="1"/>
          <p:nvPr/>
        </p:nvSpPr>
        <p:spPr>
          <a:xfrm>
            <a:off x="5760720" y="3079242"/>
            <a:ext cx="731520" cy="43205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0.469</a:t>
            </a:r>
            <a:endParaRPr lang="en-US" sz="1320" dirty="0"/>
          </a:p>
        </p:txBody>
      </p:sp>
      <p:sp>
        <p:nvSpPr>
          <p:cNvPr id="67" name="Shape 65"/>
          <p:cNvSpPr/>
          <p:nvPr/>
        </p:nvSpPr>
        <p:spPr>
          <a:xfrm>
            <a:off x="6537960" y="3024378"/>
            <a:ext cx="822960" cy="450342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Text 66"/>
          <p:cNvSpPr txBox="1"/>
          <p:nvPr/>
        </p:nvSpPr>
        <p:spPr>
          <a:xfrm>
            <a:off x="6583680" y="3079242"/>
            <a:ext cx="731520" cy="43205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+5.9%</a:t>
            </a:r>
            <a:endParaRPr lang="en-US" sz="1320" dirty="0"/>
          </a:p>
        </p:txBody>
      </p:sp>
      <p:sp>
        <p:nvSpPr>
          <p:cNvPr id="69" name="Shape 67"/>
          <p:cNvSpPr/>
          <p:nvPr/>
        </p:nvSpPr>
        <p:spPr>
          <a:xfrm>
            <a:off x="7589520" y="1325880"/>
            <a:ext cx="36118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Shape 68"/>
          <p:cNvSpPr/>
          <p:nvPr/>
        </p:nvSpPr>
        <p:spPr>
          <a:xfrm>
            <a:off x="7589520" y="1325880"/>
            <a:ext cx="73152" cy="1325880"/>
          </a:xfrm>
          <a:prstGeom prst="rect">
            <a:avLst/>
          </a:prstGeom>
          <a:solidFill>
            <a:srgbClr val="2F6DA5"/>
          </a:solidFill>
          <a:ln w="12700">
            <a:solidFill>
              <a:srgbClr val="2F6DA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Text 69"/>
          <p:cNvSpPr txBox="1"/>
          <p:nvPr/>
        </p:nvSpPr>
        <p:spPr>
          <a:xfrm>
            <a:off x="7790688" y="1472184"/>
            <a:ext cx="330098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642"/>
                </a:solidFill>
                <a:latin typeface="Arial"/>
              </a:rPr>
              <a:t>Data effect</a:t>
            </a:r>
          </a:p>
        </p:txBody>
      </p:sp>
      <p:sp>
        <p:nvSpPr>
          <p:cNvPr id="72" name="Text 70"/>
          <p:cNvSpPr txBox="1"/>
          <p:nvPr/>
        </p:nvSpPr>
        <p:spPr>
          <a:xfrm>
            <a:off x="7808976" y="1856232"/>
            <a:ext cx="3264408" cy="68580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UVRD improves average performance and strongly improves composed retrieval.</a:t>
            </a:r>
            <a:endParaRPr lang="en-US" sz="14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Targeted examples fill missing task types.</a:t>
            </a:r>
            <a:endParaRPr lang="en-US" sz="1480" dirty="0"/>
          </a:p>
        </p:txBody>
      </p:sp>
      <p:sp>
        <p:nvSpPr>
          <p:cNvPr id="73" name="Shape 71"/>
          <p:cNvSpPr/>
          <p:nvPr/>
        </p:nvSpPr>
        <p:spPr>
          <a:xfrm>
            <a:off x="7589520" y="2852928"/>
            <a:ext cx="36118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Shape 72"/>
          <p:cNvSpPr/>
          <p:nvPr/>
        </p:nvSpPr>
        <p:spPr>
          <a:xfrm>
            <a:off x="7589520" y="2852928"/>
            <a:ext cx="73152" cy="132588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" name="Text 73"/>
          <p:cNvSpPr txBox="1"/>
          <p:nvPr/>
        </p:nvSpPr>
        <p:spPr>
          <a:xfrm>
            <a:off x="7790688" y="2999232"/>
            <a:ext cx="330098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642"/>
                </a:solidFill>
                <a:latin typeface="Arial"/>
              </a:rPr>
              <a:t>Curriculum effect</a:t>
            </a:r>
          </a:p>
        </p:txBody>
      </p:sp>
      <p:sp>
        <p:nvSpPr>
          <p:cNvPr id="76" name="Text 74"/>
          <p:cNvSpPr txBox="1"/>
          <p:nvPr/>
        </p:nvSpPr>
        <p:spPr>
          <a:xfrm>
            <a:off x="7808976" y="3383280"/>
            <a:ext cx="3264408" cy="68580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Pyramid scheduling improves temporal and fine-grained dimensions.</a:t>
            </a:r>
            <a:endParaRPr lang="en-US" sz="14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 stabilizes learning under heterogeneous supervision.</a:t>
            </a:r>
            <a:endParaRPr lang="en-US" sz="1480" dirty="0"/>
          </a:p>
        </p:txBody>
      </p:sp>
      <p:sp>
        <p:nvSpPr>
          <p:cNvPr id="77" name="Shape 75"/>
          <p:cNvSpPr/>
          <p:nvPr/>
        </p:nvSpPr>
        <p:spPr>
          <a:xfrm>
            <a:off x="777240" y="4251960"/>
            <a:ext cx="104241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Shape 76"/>
          <p:cNvSpPr/>
          <p:nvPr/>
        </p:nvSpPr>
        <p:spPr>
          <a:xfrm>
            <a:off x="777240" y="4251960"/>
            <a:ext cx="73152" cy="868680"/>
          </a:xfrm>
          <a:prstGeom prst="rect">
            <a:avLst/>
          </a:prstGeom>
          <a:solidFill>
            <a:srgbClr val="2F7D5C"/>
          </a:solidFill>
          <a:ln w="12700">
            <a:solidFill>
              <a:srgbClr val="2F7D5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9" name="Text 77"/>
          <p:cNvSpPr txBox="1"/>
          <p:nvPr/>
        </p:nvSpPr>
        <p:spPr>
          <a:xfrm>
            <a:off x="978408" y="4398264"/>
            <a:ext cx="1011326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642"/>
                </a:solidFill>
                <a:latin typeface="Arial"/>
              </a:rPr>
              <a:t>Complementarity</a:t>
            </a:r>
          </a:p>
        </p:txBody>
      </p:sp>
      <p:sp>
        <p:nvSpPr>
          <p:cNvPr id="80" name="Text 78"/>
          <p:cNvSpPr txBox="1"/>
          <p:nvPr/>
        </p:nvSpPr>
        <p:spPr>
          <a:xfrm>
            <a:off x="996696" y="4782312"/>
            <a:ext cx="10076688" cy="30175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142642"/>
                </a:solidFill>
                <a:latin typeface="Arial"/>
              </a:rPr>
              <a:t>• UVRD fixes task coverage; the Pyramid fixes learning dynamics.</a:t>
            </a:r>
          </a:p>
        </p:txBody>
      </p:sp>
      <p:sp>
        <p:nvSpPr>
          <p:cNvPr id="81" name="Shape 79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Text 80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83" name="Text 81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the data source and the training schedule are necessary for broad retrieval capability.</a:t>
            </a:r>
            <a:endParaRPr lang="en-US" sz="1700" dirty="0"/>
          </a:p>
        </p:txBody>
      </p:sp>
      <p:sp>
        <p:nvSpPr>
          <p:cNvPr id="84" name="Rectangle 83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1 · SCALING LAW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Targeted Data Scaling Remains Log-Linear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234440"/>
            <a:ext cx="70866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0" name="Image 0" descr="/mnt/data/pres_assets/slide18_img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29111"/>
            <a:ext cx="6940296" cy="344549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001000" y="1234440"/>
            <a:ext cx="32004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8001000" y="1234440"/>
            <a:ext cx="73152" cy="150876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 txBox="1"/>
          <p:nvPr/>
        </p:nvSpPr>
        <p:spPr>
          <a:xfrm>
            <a:off x="8202168" y="1380744"/>
            <a:ext cx="288950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trend</a:t>
            </a:r>
            <a:endParaRPr lang="en-US" sz="1630" dirty="0"/>
          </a:p>
        </p:txBody>
      </p:sp>
      <p:sp>
        <p:nvSpPr>
          <p:cNvPr id="14" name="Text 11"/>
          <p:cNvSpPr txBox="1"/>
          <p:nvPr/>
        </p:nvSpPr>
        <p:spPr>
          <a:xfrm>
            <a:off x="8220456" y="1764792"/>
            <a:ext cx="2852928" cy="8686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improves log-linearly from 10⁵ to 10⁷ pairs.</a:t>
            </a:r>
            <a:endParaRPr lang="en-US" sz="14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GVE-7B starts higher and stays higher.</a:t>
            </a:r>
            <a:endParaRPr lang="en-US" sz="14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saturation is observed at 10M pairs.</a:t>
            </a:r>
            <a:endParaRPr lang="en-US" sz="1480" dirty="0"/>
          </a:p>
        </p:txBody>
      </p:sp>
      <p:sp>
        <p:nvSpPr>
          <p:cNvPr id="15" name="Shape 12"/>
          <p:cNvSpPr/>
          <p:nvPr/>
        </p:nvSpPr>
        <p:spPr>
          <a:xfrm>
            <a:off x="8001000" y="297180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8001000" y="2971800"/>
            <a:ext cx="73152" cy="1417320"/>
          </a:xfrm>
          <a:prstGeom prst="rect">
            <a:avLst/>
          </a:prstGeom>
          <a:solidFill>
            <a:srgbClr val="2F6DA5"/>
          </a:solidFill>
          <a:ln w="12700">
            <a:solidFill>
              <a:srgbClr val="2F6DA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 txBox="1"/>
          <p:nvPr/>
        </p:nvSpPr>
        <p:spPr>
          <a:xfrm>
            <a:off x="8202168" y="3118104"/>
            <a:ext cx="288950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rate</a:t>
            </a:r>
            <a:endParaRPr lang="en-US" sz="1630" dirty="0"/>
          </a:p>
        </p:txBody>
      </p:sp>
      <p:sp>
        <p:nvSpPr>
          <p:cNvPr id="18" name="Text 15"/>
          <p:cNvSpPr txBox="1"/>
          <p:nvPr/>
        </p:nvSpPr>
        <p:spPr>
          <a:xfrm>
            <a:off x="8220456" y="3502152"/>
            <a:ext cx="2852928" cy="77724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GVE-3B: +7.4% per 10× data.</a:t>
            </a:r>
            <a:endParaRPr lang="en-US" sz="14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GVE-7B: +5.4% per 10× data.</a:t>
            </a:r>
            <a:endParaRPr lang="en-US" sz="14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Smaller model benefits more from added targeted supervision.</a:t>
            </a:r>
            <a:endParaRPr lang="en-US" sz="1480" dirty="0"/>
          </a:p>
        </p:txBody>
      </p:sp>
      <p:sp>
        <p:nvSpPr>
          <p:cNvPr id="19" name="Shape 16"/>
          <p:cNvSpPr/>
          <p:nvPr/>
        </p:nvSpPr>
        <p:spPr>
          <a:xfrm>
            <a:off x="8001000" y="4617720"/>
            <a:ext cx="32004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8001000" y="4617720"/>
            <a:ext cx="73152" cy="685800"/>
          </a:xfrm>
          <a:prstGeom prst="rect">
            <a:avLst/>
          </a:prstGeom>
          <a:solidFill>
            <a:srgbClr val="2F7D5C"/>
          </a:solidFill>
          <a:ln w="12700">
            <a:solidFill>
              <a:srgbClr val="2F7D5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 txBox="1"/>
          <p:nvPr/>
        </p:nvSpPr>
        <p:spPr>
          <a:xfrm>
            <a:off x="8202168" y="4764024"/>
            <a:ext cx="2889504" cy="45720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642"/>
                </a:solidFill>
                <a:latin typeface="Arial"/>
              </a:rPr>
              <a:t>Study 1 takeaway: diagnosis → synthesis → curriculum</a:t>
            </a:r>
          </a:p>
        </p:txBody>
      </p:sp>
      <p:sp>
        <p:nvSpPr>
          <p:cNvPr id="22" name="Text 19"/>
          <p:cNvSpPr txBox="1"/>
          <p:nvPr/>
        </p:nvSpPr>
        <p:spPr>
          <a:xfrm>
            <a:off x="8220456" y="5148072"/>
            <a:ext cx="2852928" cy="292608"/>
          </a:xfrm>
          <a:prstGeom prst="rect">
            <a:avLst/>
          </a:prstGeom>
          <a:noFill/>
          <a:ln/>
        </p:spPr>
        <p:txBody>
          <a:bodyPr wrap="square" lIns="45720" tIns="27432" rIns="45720" bIns="27432" rtlCol="0" anchor="t">
            <a:noAutofit/>
          </a:bodyPr>
          <a:lstStyle/>
          <a:p>
            <a:endParaRPr/>
          </a:p>
        </p:txBody>
      </p:sp>
      <p:sp>
        <p:nvSpPr>
          <p:cNvPr id="23" name="Shape 20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scaling is effective when additional data is aligned with diagnosed capability gaps.</a:t>
            </a:r>
            <a:endParaRPr lang="en-US" sz="1700" dirty="0"/>
          </a:p>
        </p:txBody>
      </p:sp>
      <p:sp>
        <p:nvSpPr>
          <p:cNvPr id="26" name="Rectangle 25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12365D"/>
          </a:solidFill>
          <a:ln w="12700">
            <a:solidFill>
              <a:srgbClr val="12365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3383280" y="0"/>
            <a:ext cx="880841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658368" y="1115568"/>
            <a:ext cx="2011680" cy="91440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148840"/>
            <a:ext cx="2331720" cy="100584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8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2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58368" y="3337560"/>
            <a:ext cx="2084832" cy="0"/>
          </a:xfrm>
          <a:prstGeom prst="line">
            <a:avLst/>
          </a:prstGeom>
          <a:noFill/>
          <a:ln w="2540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4069080" y="1143000"/>
            <a:ext cx="7223760" cy="105156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3800" b="1" i="0">
                <a:solidFill>
                  <a:srgbClr val="142642"/>
                </a:solidFill>
                <a:latin typeface="Arial"/>
              </a:rPr>
              <a:t>Observational Scaling: MG-LVR + VEterfall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2514600"/>
            <a:ext cx="6858000" cy="118872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1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Addressing how visual observation should adapt to video length and query granularity.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5440680"/>
            <a:ext cx="3657600" cy="34747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2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PhD Thesis Defense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2 · MOTIVATION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Observation Determines What the Embedding Can Know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325880"/>
            <a:ext cx="51663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49808" y="1325880"/>
            <a:ext cx="73152" cy="2103120"/>
          </a:xfrm>
          <a:prstGeom prst="rect">
            <a:avLst/>
          </a:prstGeom>
          <a:solidFill>
            <a:srgbClr val="3D7D82"/>
          </a:solidFill>
          <a:ln w="12700">
            <a:solidFill>
              <a:srgbClr val="3D7D8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950976" y="1472184"/>
            <a:ext cx="485546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observation matters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969264" y="1856232"/>
            <a:ext cx="4818888" cy="146304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video embedding can only represent what the model observes.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 long videos, processing every frame is infeasible.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Frame sampling determines whether the relevant evidence is visible at all.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6217920" y="1325880"/>
            <a:ext cx="49834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217920" y="1325880"/>
            <a:ext cx="73152" cy="210312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6419088" y="1472184"/>
            <a:ext cx="467258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question</a:t>
            </a:r>
            <a:endParaRPr lang="en-US" sz="1750" dirty="0"/>
          </a:p>
        </p:txBody>
      </p:sp>
      <p:sp>
        <p:nvSpPr>
          <p:cNvPr id="16" name="Text 14"/>
          <p:cNvSpPr txBox="1"/>
          <p:nvPr/>
        </p:nvSpPr>
        <p:spPr>
          <a:xfrm>
            <a:off x="6437376" y="1856232"/>
            <a:ext cx="4636008" cy="146304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How many frames should a model sample?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How many spatial tokens per frame are needed?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Does the answer depend on query granularity?</a:t>
            </a:r>
            <a:endParaRPr lang="en-US" sz="1580" dirty="0"/>
          </a:p>
        </p:txBody>
      </p:sp>
      <p:sp>
        <p:nvSpPr>
          <p:cNvPr id="17" name="Shape 15"/>
          <p:cNvSpPr/>
          <p:nvPr/>
        </p:nvSpPr>
        <p:spPr>
          <a:xfrm>
            <a:off x="1005840" y="3977640"/>
            <a:ext cx="10149840" cy="914400"/>
          </a:xfrm>
          <a:prstGeom prst="roundRect">
            <a:avLst>
              <a:gd name="adj" fmla="val 8000"/>
            </a:avLst>
          </a:prstGeom>
          <a:solidFill>
            <a:srgbClr val="FFF7E6"/>
          </a:solidFill>
          <a:ln w="1524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1234440" y="4123944"/>
            <a:ext cx="969264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Fine-grained retrieval is a needle-in-a-video problem: more frames help only if the needle is actually observed.</a:t>
            </a:r>
            <a:endParaRPr lang="en-US" sz="2300" dirty="0"/>
          </a:p>
        </p:txBody>
      </p:sp>
      <p:sp>
        <p:nvSpPr>
          <p:cNvPr id="19" name="Shape 17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2 builds the benchmark and scaling analysis needed to answer this question.</a:t>
            </a:r>
            <a:endParaRPr lang="en-US" sz="1700" dirty="0"/>
          </a:p>
        </p:txBody>
      </p:sp>
      <p:sp>
        <p:nvSpPr>
          <p:cNvPr id="22" name="Rectangle 21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2 · MG-LVR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Granularity Measures How Much Video the Query Covers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325880"/>
            <a:ext cx="51663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49808" y="1325880"/>
            <a:ext cx="73152" cy="214884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950976" y="1472184"/>
            <a:ext cx="485546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granularity G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969264" y="1856232"/>
            <a:ext cx="4818888" cy="150876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 = |S(v*,q)| / d_video.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Measures the fraction of the target video covered by relevant moments.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Fine: [0.001, 0.01]; Medium: [0.1, 0.3]; Coarse: overall theme.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6217920" y="1325880"/>
            <a:ext cx="4983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217920" y="1325880"/>
            <a:ext cx="73152" cy="2148840"/>
          </a:xfrm>
          <a:prstGeom prst="rect">
            <a:avLst/>
          </a:prstGeom>
          <a:solidFill>
            <a:srgbClr val="3D7D82"/>
          </a:solidFill>
          <a:ln w="12700">
            <a:solidFill>
              <a:srgbClr val="3D7D8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6419088" y="1472184"/>
            <a:ext cx="467258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continuity C</a:t>
            </a:r>
            <a:endParaRPr lang="en-US" sz="1750" dirty="0"/>
          </a:p>
        </p:txBody>
      </p:sp>
      <p:sp>
        <p:nvSpPr>
          <p:cNvPr id="16" name="Text 14"/>
          <p:cNvSpPr txBox="1"/>
          <p:nvPr/>
        </p:nvSpPr>
        <p:spPr>
          <a:xfrm>
            <a:off x="6437376" y="1856232"/>
            <a:ext cx="4636008" cy="150876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 = Σ(eᵢ−sᵢ) / (eₖ−s₁).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C=1 means one contiguous event.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C&lt;1 means relevant evidence is fragmented across segments.</a:t>
            </a:r>
            <a:endParaRPr lang="en-US" sz="1580" dirty="0"/>
          </a:p>
        </p:txBody>
      </p:sp>
      <p:sp>
        <p:nvSpPr>
          <p:cNvPr id="17" name="Shape 15"/>
          <p:cNvSpPr/>
          <p:nvPr/>
        </p:nvSpPr>
        <p:spPr>
          <a:xfrm>
            <a:off x="749808" y="3931920"/>
            <a:ext cx="1045159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49808" y="3931920"/>
            <a:ext cx="73152" cy="1143000"/>
          </a:xfrm>
          <a:prstGeom prst="rect">
            <a:avLst/>
          </a:prstGeom>
          <a:solidFill>
            <a:srgbClr val="2F7D5C"/>
          </a:solidFill>
          <a:ln w="12700">
            <a:solidFill>
              <a:srgbClr val="2F7D5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950976" y="4078224"/>
            <a:ext cx="10140696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these definitions matter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69264" y="4462272"/>
            <a:ext cx="10104120" cy="50292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They convert query difficulty into measurable temporal structure.</a:t>
            </a:r>
            <a:endParaRPr lang="en-US" sz="162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They separate “brief evidence” from “fragmented evidence”.</a:t>
            </a:r>
            <a:endParaRPr lang="en-US" sz="162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They enable controlled evaluation of sampling strategies.</a:t>
            </a:r>
            <a:endParaRPr lang="en-US" sz="1620" dirty="0"/>
          </a:p>
        </p:txBody>
      </p:sp>
      <p:sp>
        <p:nvSpPr>
          <p:cNvPr id="21" name="Shape 19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MG-LVR makes the observation problem measurable rather than anecdotal.</a:t>
            </a:r>
            <a:endParaRPr lang="en-US" sz="1700" dirty="0"/>
          </a:p>
        </p:txBody>
      </p:sp>
      <p:sp>
        <p:nvSpPr>
          <p:cNvPr id="24" name="Rectangle 23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2 · MG-LVR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MG-LVR Builds Queries from Sparse-to-Dense Evidence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234440"/>
            <a:ext cx="726948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0" name="Image 0" descr="/mnt/data/pres_assets/slide23_img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61723"/>
            <a:ext cx="7123176" cy="267171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138160" y="1234440"/>
            <a:ext cx="3063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8138160" y="1234440"/>
            <a:ext cx="73152" cy="1737360"/>
          </a:xfrm>
          <a:prstGeom prst="rect">
            <a:avLst/>
          </a:prstGeom>
          <a:solidFill>
            <a:srgbClr val="3D7D82"/>
          </a:solidFill>
          <a:ln w="12700">
            <a:solidFill>
              <a:srgbClr val="3D7D8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 txBox="1"/>
          <p:nvPr/>
        </p:nvSpPr>
        <p:spPr>
          <a:xfrm>
            <a:off x="8339328" y="1380744"/>
            <a:ext cx="275234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357616" y="1764792"/>
            <a:ext cx="2715768" cy="10972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Material curation from long Vript videos (&gt;120s).</a:t>
            </a:r>
            <a:endParaRPr lang="en-US" sz="140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Clip Relation Graph: nodes=clips, edges=caption-embedding similarity.</a:t>
            </a:r>
            <a:endParaRPr lang="en-US" sz="140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Unit discovery: isolated nodes and Louvain communities.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138160" y="3246120"/>
            <a:ext cx="3063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8138160" y="3246120"/>
            <a:ext cx="73152" cy="118872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 txBox="1"/>
          <p:nvPr/>
        </p:nvSpPr>
        <p:spPr>
          <a:xfrm>
            <a:off x="8339328" y="3392424"/>
            <a:ext cx="275234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synthesis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357616" y="3776472"/>
            <a:ext cx="2715768" cy="54864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Qwen3-32B generates three candidate queries per unit.</a:t>
            </a:r>
            <a:endParaRPr lang="en-US" sz="140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Queries are filtered for ambiguity and categorized by computed G.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8138160" y="4709160"/>
            <a:ext cx="30632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8138160" y="4709160"/>
            <a:ext cx="73152" cy="594360"/>
          </a:xfrm>
          <a:prstGeom prst="rect">
            <a:avLst/>
          </a:prstGeom>
          <a:solidFill>
            <a:srgbClr val="2F7D5C"/>
          </a:solidFill>
          <a:ln w="12700">
            <a:solidFill>
              <a:srgbClr val="2F7D5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 txBox="1"/>
          <p:nvPr/>
        </p:nvSpPr>
        <p:spPr>
          <a:xfrm>
            <a:off x="8339328" y="4855464"/>
            <a:ext cx="2752344" cy="45720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642"/>
                </a:solidFill>
                <a:latin typeface="Arial"/>
              </a:rPr>
              <a:t>Validation: 96% accuracy (50 pairs)</a:t>
            </a:r>
          </a:p>
        </p:txBody>
      </p:sp>
      <p:sp>
        <p:nvSpPr>
          <p:cNvPr id="22" name="Text 19"/>
          <p:cNvSpPr txBox="1"/>
          <p:nvPr/>
        </p:nvSpPr>
        <p:spPr>
          <a:xfrm>
            <a:off x="8357616" y="5239512"/>
            <a:ext cx="2715768" cy="292608"/>
          </a:xfrm>
          <a:prstGeom prst="rect">
            <a:avLst/>
          </a:prstGeom>
          <a:noFill/>
          <a:ln/>
        </p:spPr>
        <p:txBody>
          <a:bodyPr wrap="square" lIns="45720" tIns="27432" rIns="45720" bIns="27432" rtlCol="0" anchor="t">
            <a:noAutofit/>
          </a:bodyPr>
          <a:lstStyle/>
          <a:p>
            <a:endParaRPr/>
          </a:p>
        </p:txBody>
      </p:sp>
      <p:sp>
        <p:nvSpPr>
          <p:cNvPr id="23" name="Shape 20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construction links semantic units to temporal coverage, enabling granularity-aware evaluation.</a:t>
            </a:r>
            <a:endParaRPr lang="en-US" sz="1700" dirty="0"/>
          </a:p>
        </p:txBody>
      </p:sp>
      <p:sp>
        <p:nvSpPr>
          <p:cNvPr id="26" name="Rectangle 25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2 · MG-LVR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MG-LVR Makes Observation Bottlenecks Measurable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234440"/>
            <a:ext cx="69951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0" name="Image 0" descr="/mnt/data/pres_assets/slide22_img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97203"/>
            <a:ext cx="6848856" cy="410931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909560" y="1234440"/>
            <a:ext cx="331012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 txBox="1"/>
          <p:nvPr/>
        </p:nvSpPr>
        <p:spPr>
          <a:xfrm>
            <a:off x="7982712" y="1298448"/>
            <a:ext cx="3163824" cy="368503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9,971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8019288" y="1773022"/>
            <a:ext cx="3090672" cy="33375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queries: 4,706 FN + 4,142 MD + 1,123 CR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7909560" y="2331720"/>
            <a:ext cx="331012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 txBox="1"/>
          <p:nvPr/>
        </p:nvSpPr>
        <p:spPr>
          <a:xfrm>
            <a:off x="7982712" y="2395728"/>
            <a:ext cx="3163824" cy="368503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4,844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8019288" y="2870302"/>
            <a:ext cx="3090672" cy="33375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videos, average duration 705.9 seconds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7909560" y="3429000"/>
            <a:ext cx="331012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/>
          <p:cNvSpPr txBox="1"/>
          <p:nvPr/>
        </p:nvSpPr>
        <p:spPr>
          <a:xfrm>
            <a:off x="7982712" y="3493008"/>
            <a:ext cx="3163824" cy="295351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8019288" y="3967582"/>
            <a:ext cx="3090672" cy="33375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state-of-the-art models evaluated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7909560" y="4526280"/>
            <a:ext cx="331012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 txBox="1"/>
          <p:nvPr/>
        </p:nvSpPr>
        <p:spPr>
          <a:xfrm>
            <a:off x="7982712" y="4590288"/>
            <a:ext cx="3163824" cy="295351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8019288" y="5064862"/>
            <a:ext cx="3090672" cy="33375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categories with diverse domains</a:t>
            </a:r>
            <a:endParaRPr lang="en-US" sz="1080" dirty="0"/>
          </a:p>
        </p:txBody>
      </p:sp>
      <p:sp>
        <p:nvSpPr>
          <p:cNvPr id="23" name="Shape 20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MG-LVR is the first benchmark jointly covering long videos and multi-granular retrieval queries.</a:t>
            </a:r>
            <a:endParaRPr lang="en-US" sz="1700" dirty="0"/>
          </a:p>
        </p:txBody>
      </p:sp>
      <p:sp>
        <p:nvSpPr>
          <p:cNvPr id="26" name="Rectangle 25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2 · RESULTS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Fine-Grained Retrieval Suffers the Largest Drop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1325880"/>
            <a:ext cx="214884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722376" y="1399032"/>
            <a:ext cx="207568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834640" y="1325880"/>
            <a:ext cx="91440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2871216" y="1399032"/>
            <a:ext cx="84124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749040" y="1325880"/>
            <a:ext cx="96012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3785616" y="1399032"/>
            <a:ext cx="88696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709160" y="1325880"/>
            <a:ext cx="96012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4745736" y="1399032"/>
            <a:ext cx="88696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 ↓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0" y="1325880"/>
            <a:ext cx="96012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5705856" y="1399032"/>
            <a:ext cx="88696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629400" y="1325880"/>
            <a:ext cx="96012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6665976" y="1399032"/>
            <a:ext cx="88696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Coarse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5800" y="1673352"/>
            <a:ext cx="2148840" cy="488290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731520" y="1728216"/>
            <a:ext cx="2057400" cy="47000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LanguageBind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834640" y="1673352"/>
            <a:ext cx="914400" cy="488290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2880360" y="1728216"/>
            <a:ext cx="822960" cy="47000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8F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749040" y="1673352"/>
            <a:ext cx="960120" cy="488290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3794760" y="1728216"/>
            <a:ext cx="868680" cy="47000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0.419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09160" y="1673352"/>
            <a:ext cx="960120" cy="488290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4754880" y="1728216"/>
            <a:ext cx="868680" cy="47000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0.200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669280" y="1673352"/>
            <a:ext cx="960120" cy="488290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5715000" y="1728216"/>
            <a:ext cx="868680" cy="47000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0.553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629400" y="1673352"/>
            <a:ext cx="960120" cy="488290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6675120" y="1728216"/>
            <a:ext cx="868680" cy="47000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0.752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85800" y="2161642"/>
            <a:ext cx="2148840" cy="488290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 txBox="1"/>
          <p:nvPr/>
        </p:nvSpPr>
        <p:spPr>
          <a:xfrm>
            <a:off x="731520" y="2216506"/>
            <a:ext cx="2057400" cy="47000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InternVideo2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834640" y="2161642"/>
            <a:ext cx="914400" cy="488290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2880360" y="2216506"/>
            <a:ext cx="822960" cy="47000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8F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749040" y="2161642"/>
            <a:ext cx="960120" cy="488290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3794760" y="2216506"/>
            <a:ext cx="868680" cy="47000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0.431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709160" y="2161642"/>
            <a:ext cx="960120" cy="488290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 txBox="1"/>
          <p:nvPr/>
        </p:nvSpPr>
        <p:spPr>
          <a:xfrm>
            <a:off x="4754880" y="2216506"/>
            <a:ext cx="868680" cy="47000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0.204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669280" y="2161642"/>
            <a:ext cx="960120" cy="488290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 txBox="1"/>
          <p:nvPr/>
        </p:nvSpPr>
        <p:spPr>
          <a:xfrm>
            <a:off x="5715000" y="2216506"/>
            <a:ext cx="868680" cy="47000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0.576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629400" y="2161642"/>
            <a:ext cx="960120" cy="488290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 txBox="1"/>
          <p:nvPr/>
        </p:nvSpPr>
        <p:spPr>
          <a:xfrm>
            <a:off x="6675120" y="2216506"/>
            <a:ext cx="868680" cy="47000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0.783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85800" y="2649931"/>
            <a:ext cx="2148840" cy="488290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 txBox="1"/>
          <p:nvPr/>
        </p:nvSpPr>
        <p:spPr>
          <a:xfrm>
            <a:off x="731520" y="2704795"/>
            <a:ext cx="2057400" cy="47000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Qwen3-VL-Emb-8B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2834640" y="2649931"/>
            <a:ext cx="914400" cy="488290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2880360" y="2704795"/>
            <a:ext cx="822960" cy="47000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8F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3749040" y="2649931"/>
            <a:ext cx="960120" cy="488290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 txBox="1"/>
          <p:nvPr/>
        </p:nvSpPr>
        <p:spPr>
          <a:xfrm>
            <a:off x="3794760" y="2704795"/>
            <a:ext cx="868680" cy="47000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0.449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4709160" y="2649931"/>
            <a:ext cx="960120" cy="488290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 txBox="1"/>
          <p:nvPr/>
        </p:nvSpPr>
        <p:spPr>
          <a:xfrm>
            <a:off x="4754880" y="2704795"/>
            <a:ext cx="868680" cy="47000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0.210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5669280" y="2649931"/>
            <a:ext cx="960120" cy="488290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 txBox="1"/>
          <p:nvPr/>
        </p:nvSpPr>
        <p:spPr>
          <a:xfrm>
            <a:off x="5715000" y="2704795"/>
            <a:ext cx="868680" cy="47000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0.589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6629400" y="2649931"/>
            <a:ext cx="960120" cy="488290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 txBox="1"/>
          <p:nvPr/>
        </p:nvSpPr>
        <p:spPr>
          <a:xfrm>
            <a:off x="6675120" y="2704795"/>
            <a:ext cx="868680" cy="47000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0.856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685800" y="3138221"/>
            <a:ext cx="2148840" cy="488290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 txBox="1"/>
          <p:nvPr/>
        </p:nvSpPr>
        <p:spPr>
          <a:xfrm>
            <a:off x="731520" y="3193085"/>
            <a:ext cx="2057400" cy="47000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GVE-7B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2834640" y="3138221"/>
            <a:ext cx="914400" cy="488290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58"/>
          <p:cNvSpPr txBox="1"/>
          <p:nvPr/>
        </p:nvSpPr>
        <p:spPr>
          <a:xfrm>
            <a:off x="2880360" y="3193085"/>
            <a:ext cx="822960" cy="47000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128F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3749040" y="3138221"/>
            <a:ext cx="960120" cy="488290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60"/>
          <p:cNvSpPr txBox="1"/>
          <p:nvPr/>
        </p:nvSpPr>
        <p:spPr>
          <a:xfrm>
            <a:off x="3794760" y="3193085"/>
            <a:ext cx="868680" cy="47000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0.508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4709160" y="3138221"/>
            <a:ext cx="960120" cy="488290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62"/>
          <p:cNvSpPr txBox="1"/>
          <p:nvPr/>
        </p:nvSpPr>
        <p:spPr>
          <a:xfrm>
            <a:off x="4754880" y="3193085"/>
            <a:ext cx="868680" cy="47000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0.266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5669280" y="3138221"/>
            <a:ext cx="960120" cy="488290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Text 64"/>
          <p:cNvSpPr txBox="1"/>
          <p:nvPr/>
        </p:nvSpPr>
        <p:spPr>
          <a:xfrm>
            <a:off x="5715000" y="3193085"/>
            <a:ext cx="868680" cy="47000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0.647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6629400" y="3138221"/>
            <a:ext cx="960120" cy="488290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Text 66"/>
          <p:cNvSpPr txBox="1"/>
          <p:nvPr/>
        </p:nvSpPr>
        <p:spPr>
          <a:xfrm>
            <a:off x="6675120" y="3193085"/>
            <a:ext cx="868680" cy="47000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0.845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685800" y="3626510"/>
            <a:ext cx="2148840" cy="488290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Text 68"/>
          <p:cNvSpPr txBox="1"/>
          <p:nvPr/>
        </p:nvSpPr>
        <p:spPr>
          <a:xfrm>
            <a:off x="731520" y="3681374"/>
            <a:ext cx="2057400" cy="47000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Qwen3-VL-Emb-8B ★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2834640" y="3626510"/>
            <a:ext cx="914400" cy="488290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Text 70"/>
          <p:cNvSpPr txBox="1"/>
          <p:nvPr/>
        </p:nvSpPr>
        <p:spPr>
          <a:xfrm>
            <a:off x="2880360" y="3681374"/>
            <a:ext cx="822960" cy="47000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128F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3749040" y="3626510"/>
            <a:ext cx="960120" cy="488290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Text 72"/>
          <p:cNvSpPr txBox="1"/>
          <p:nvPr/>
        </p:nvSpPr>
        <p:spPr>
          <a:xfrm>
            <a:off x="3794760" y="3681374"/>
            <a:ext cx="868680" cy="47000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0.549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4709160" y="3626510"/>
            <a:ext cx="960120" cy="488290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Text 74"/>
          <p:cNvSpPr txBox="1"/>
          <p:nvPr/>
        </p:nvSpPr>
        <p:spPr>
          <a:xfrm>
            <a:off x="4754880" y="3681374"/>
            <a:ext cx="868680" cy="47000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0.287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5669280" y="3626510"/>
            <a:ext cx="960120" cy="488290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Text 76"/>
          <p:cNvSpPr txBox="1"/>
          <p:nvPr/>
        </p:nvSpPr>
        <p:spPr>
          <a:xfrm>
            <a:off x="5715000" y="3681374"/>
            <a:ext cx="868680" cy="47000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0.672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6629400" y="3626510"/>
            <a:ext cx="960120" cy="488290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Text 78"/>
          <p:cNvSpPr txBox="1"/>
          <p:nvPr/>
        </p:nvSpPr>
        <p:spPr>
          <a:xfrm>
            <a:off x="6675120" y="3681374"/>
            <a:ext cx="868680" cy="47000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0.903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8001000" y="1325880"/>
            <a:ext cx="32004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Shape 80"/>
          <p:cNvSpPr/>
          <p:nvPr/>
        </p:nvSpPr>
        <p:spPr>
          <a:xfrm>
            <a:off x="8001000" y="1325880"/>
            <a:ext cx="73152" cy="1737360"/>
          </a:xfrm>
          <a:prstGeom prst="rect">
            <a:avLst/>
          </a:prstGeom>
          <a:solidFill>
            <a:srgbClr val="A94442"/>
          </a:solidFill>
          <a:ln w="12700">
            <a:solidFill>
              <a:srgbClr val="A9444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Text 81"/>
          <p:cNvSpPr txBox="1"/>
          <p:nvPr/>
        </p:nvSpPr>
        <p:spPr>
          <a:xfrm>
            <a:off x="8202168" y="1472184"/>
            <a:ext cx="288950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642"/>
                </a:solidFill>
                <a:latin typeface="Arial"/>
              </a:rPr>
              <a:t>Key finding</a:t>
            </a:r>
          </a:p>
        </p:txBody>
      </p:sp>
      <p:sp>
        <p:nvSpPr>
          <p:cNvPr id="84" name="Text 82"/>
          <p:cNvSpPr txBox="1"/>
          <p:nvPr/>
        </p:nvSpPr>
        <p:spPr>
          <a:xfrm>
            <a:off x="8220456" y="1856232"/>
            <a:ext cx="2852928" cy="10972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Best model: Coarse R@1=0.903, Fine R@1=0.287.</a:t>
            </a:r>
            <a:endParaRPr lang="en-US" sz="14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gap persists across all 23 evaluated models.</a:t>
            </a:r>
            <a:endParaRPr lang="en-US" sz="14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16× more frames improves FN by less than 8 pp.</a:t>
            </a:r>
            <a:endParaRPr lang="en-US" sz="1480" dirty="0"/>
          </a:p>
        </p:txBody>
      </p:sp>
      <p:sp>
        <p:nvSpPr>
          <p:cNvPr id="85" name="Shape 83"/>
          <p:cNvSpPr/>
          <p:nvPr/>
        </p:nvSpPr>
        <p:spPr>
          <a:xfrm>
            <a:off x="8001000" y="3337560"/>
            <a:ext cx="3200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" name="Shape 84"/>
          <p:cNvSpPr/>
          <p:nvPr/>
        </p:nvSpPr>
        <p:spPr>
          <a:xfrm>
            <a:off x="8001000" y="3337560"/>
            <a:ext cx="73152" cy="114300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7" name="Text 85"/>
          <p:cNvSpPr txBox="1"/>
          <p:nvPr/>
        </p:nvSpPr>
        <p:spPr>
          <a:xfrm>
            <a:off x="8202168" y="3483864"/>
            <a:ext cx="288950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642"/>
                </a:solidFill>
                <a:latin typeface="Arial"/>
              </a:rPr>
              <a:t>Why fine is hard</a:t>
            </a:r>
          </a:p>
        </p:txBody>
      </p:sp>
      <p:sp>
        <p:nvSpPr>
          <p:cNvPr id="88" name="Text 86"/>
          <p:cNvSpPr txBox="1"/>
          <p:nvPr/>
        </p:nvSpPr>
        <p:spPr>
          <a:xfrm>
            <a:off x="8220456" y="3867912"/>
            <a:ext cx="2852928" cy="50292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Fine queries require objects/actions at a specific moment.</a:t>
            </a:r>
            <a:endParaRPr lang="en-US" sz="14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Sparse sampling may miss the only relevant evidence.</a:t>
            </a:r>
            <a:endParaRPr lang="en-US" sz="1480" dirty="0"/>
          </a:p>
        </p:txBody>
      </p:sp>
      <p:sp>
        <p:nvSpPr>
          <p:cNvPr id="89" name="Shape 87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" name="Text 88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91" name="Text 89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must know which frames to attend to, not merely process more frames.</a:t>
            </a:r>
            <a:endParaRPr lang="en-US" sz="1700" dirty="0"/>
          </a:p>
        </p:txBody>
      </p:sp>
      <p:sp>
        <p:nvSpPr>
          <p:cNvPr id="92" name="Rectangle 91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2 · EVALUATION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23 Models Reveal Architecture-Dependent Observation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32588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49808" y="1325880"/>
            <a:ext cx="73152" cy="1828800"/>
          </a:xfrm>
          <a:prstGeom prst="rect">
            <a:avLst/>
          </a:prstGeom>
          <a:solidFill>
            <a:srgbClr val="2F6DA5"/>
          </a:solidFill>
          <a:ln w="12700">
            <a:solidFill>
              <a:srgbClr val="2F6DA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950976" y="1472184"/>
            <a:ext cx="485546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coverage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969264" y="1856232"/>
            <a:ext cx="4818888" cy="118872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6 CLIP-based models and 17 MLLM-based models.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Evaluated at 8 frames and 128 frames.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Families differ in how they respond to added temporal context.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6217920" y="1325880"/>
            <a:ext cx="4983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217920" y="1325880"/>
            <a:ext cx="73152" cy="182880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6419088" y="1472184"/>
            <a:ext cx="467258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performers at 8 frames</a:t>
            </a:r>
            <a:endParaRPr lang="en-US" sz="1750" dirty="0"/>
          </a:p>
        </p:txBody>
      </p:sp>
      <p:sp>
        <p:nvSpPr>
          <p:cNvPr id="16" name="Text 14"/>
          <p:cNvSpPr txBox="1"/>
          <p:nvPr/>
        </p:nvSpPr>
        <p:spPr>
          <a:xfrm>
            <a:off x="6437376" y="1856232"/>
            <a:ext cx="4636008" cy="118872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CLIP family: LanguageBind overall 0.419.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MLLM ≤2B: Qwen3-VL-Emb-2B overall 0.391.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MLLM ≤8B: Qwen3-VL-Emb-8B overall 0.449.</a:t>
            </a:r>
            <a:endParaRPr lang="en-US" sz="1580" dirty="0"/>
          </a:p>
        </p:txBody>
      </p:sp>
      <p:sp>
        <p:nvSpPr>
          <p:cNvPr id="17" name="Shape 15"/>
          <p:cNvSpPr/>
          <p:nvPr/>
        </p:nvSpPr>
        <p:spPr>
          <a:xfrm>
            <a:off x="749808" y="3611880"/>
            <a:ext cx="10451592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49808" y="3611880"/>
            <a:ext cx="73152" cy="1508760"/>
          </a:xfrm>
          <a:prstGeom prst="rect">
            <a:avLst/>
          </a:prstGeom>
          <a:solidFill>
            <a:srgbClr val="2F7D5C"/>
          </a:solidFill>
          <a:ln w="12700">
            <a:solidFill>
              <a:srgbClr val="2F7D5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950976" y="3758184"/>
            <a:ext cx="10140696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GVE as zero-shot model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69264" y="4142232"/>
            <a:ext cx="10104120" cy="8686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GVE-7B scores 0.412 overall at 8 frames and 0.508 at 128 frames.</a:t>
            </a:r>
            <a:endParaRPr lang="en-US" sz="160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Qwen3-VL-Embedding is stronger on MG-LVR because it benefits from newer supervised embedding data.</a:t>
            </a:r>
            <a:endParaRPr lang="en-US" sz="160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GVE contribution remains zero-shot generalization and semantic scaling.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 scaling must be analyzed separately from semantic embedding capability.</a:t>
            </a:r>
            <a:endParaRPr lang="en-US" sz="1700" dirty="0"/>
          </a:p>
        </p:txBody>
      </p:sp>
      <p:sp>
        <p:nvSpPr>
          <p:cNvPr id="24" name="Rectangle 23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2 · TEMPORAL SCALING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MLLMs Use More Frames; CLIP Models Often Anchor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234440"/>
            <a:ext cx="736092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0" name="Image 0" descr="/mnt/data/pres_assets/slide25_img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77220"/>
            <a:ext cx="7214616" cy="1440721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229600" y="1234440"/>
            <a:ext cx="2971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8229600" y="1234440"/>
            <a:ext cx="73152" cy="1325880"/>
          </a:xfrm>
          <a:prstGeom prst="rect">
            <a:avLst/>
          </a:prstGeom>
          <a:solidFill>
            <a:srgbClr val="2F6DA5"/>
          </a:solidFill>
          <a:ln w="12700">
            <a:solidFill>
              <a:srgbClr val="2F6DA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 txBox="1"/>
          <p:nvPr/>
        </p:nvSpPr>
        <p:spPr>
          <a:xfrm>
            <a:off x="8430768" y="1380744"/>
            <a:ext cx="266090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MLLM trend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449056" y="1764792"/>
            <a:ext cx="2624328" cy="68580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Qwen3-VL-Emb-8B and similar MLLM models continue improving up to 512 frames.</a:t>
            </a:r>
            <a:endParaRPr lang="en-US" sz="145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Largest gains appear on fine-grained queries.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8229600" y="2743200"/>
            <a:ext cx="2971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8229600" y="2743200"/>
            <a:ext cx="73152" cy="1143000"/>
          </a:xfrm>
          <a:prstGeom prst="rect">
            <a:avLst/>
          </a:prstGeom>
          <a:solidFill>
            <a:srgbClr val="A94442"/>
          </a:solidFill>
          <a:ln w="12700">
            <a:solidFill>
              <a:srgbClr val="A9444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 txBox="1"/>
          <p:nvPr/>
        </p:nvSpPr>
        <p:spPr>
          <a:xfrm>
            <a:off x="8430768" y="2889504"/>
            <a:ext cx="266090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 trend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449056" y="3273552"/>
            <a:ext cx="2624328" cy="50292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CLIP-based models plateau around 16–32 frames.</a:t>
            </a:r>
            <a:endParaRPr lang="en-US" sz="145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can degrade beyond 64 frames on FN/MD.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8229600" y="4160520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8229600" y="4160520"/>
            <a:ext cx="73152" cy="91440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 txBox="1"/>
          <p:nvPr/>
        </p:nvSpPr>
        <p:spPr>
          <a:xfrm>
            <a:off x="8430768" y="4306824"/>
            <a:ext cx="266090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449056" y="4690872"/>
            <a:ext cx="2624328" cy="34747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Mean pooling dilutes discriminative signals.</a:t>
            </a:r>
            <a:endParaRPr lang="en-US" sz="145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Fixed-frame training anchors temporal representation length.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frames help only when the architecture can integrate variable-length temporal evidence.</a:t>
            </a:r>
            <a:endParaRPr lang="en-US" sz="1700" dirty="0"/>
          </a:p>
        </p:txBody>
      </p:sp>
      <p:sp>
        <p:nvSpPr>
          <p:cNvPr id="26" name="Rectangle 25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2 · TRAINING-TIME SCALING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Temporal Scaling Anchors; Spatial Scaling Transfers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32588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49808" y="1325880"/>
            <a:ext cx="73152" cy="1828800"/>
          </a:xfrm>
          <a:prstGeom prst="rect">
            <a:avLst/>
          </a:prstGeom>
          <a:solidFill>
            <a:srgbClr val="A94442"/>
          </a:solidFill>
          <a:ln w="12700">
            <a:solidFill>
              <a:srgbClr val="A9444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950976" y="1472184"/>
            <a:ext cx="485546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Training-time temporal scaling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969264" y="1856232"/>
            <a:ext cx="4818888" cy="118872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Post-train Qwen2.5-VL-3B on 500K instances with different F_train.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peaks when F_test = F_train.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Mismatch causes degradation in both directions.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6217920" y="1325880"/>
            <a:ext cx="4983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217920" y="1325880"/>
            <a:ext cx="73152" cy="182880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6419088" y="1472184"/>
            <a:ext cx="467258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Asymmetric mismatch</a:t>
            </a:r>
            <a:endParaRPr lang="en-US" sz="1750" dirty="0"/>
          </a:p>
        </p:txBody>
      </p:sp>
      <p:sp>
        <p:nvSpPr>
          <p:cNvPr id="16" name="Text 14"/>
          <p:cNvSpPr txBox="1"/>
          <p:nvPr/>
        </p:nvSpPr>
        <p:spPr>
          <a:xfrm>
            <a:off x="6437376" y="1856232"/>
            <a:ext cx="4636008" cy="118872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F_train=32 → F_test=4 drops Fine R@1 by ≈0.0104.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F_train=4 → F_test=32 drops Fine R@1 by ≈0.0083.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Low-frame training better preserves fine-grained discriminability under mismatch.</a:t>
            </a:r>
            <a:endParaRPr lang="en-US" sz="1580" dirty="0"/>
          </a:p>
        </p:txBody>
      </p:sp>
      <p:sp>
        <p:nvSpPr>
          <p:cNvPr id="17" name="Shape 15"/>
          <p:cNvSpPr/>
          <p:nvPr/>
        </p:nvSpPr>
        <p:spPr>
          <a:xfrm>
            <a:off x="749808" y="3611880"/>
            <a:ext cx="10451592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49808" y="3611880"/>
            <a:ext cx="73152" cy="1508760"/>
          </a:xfrm>
          <a:prstGeom prst="rect">
            <a:avLst/>
          </a:prstGeom>
          <a:solidFill>
            <a:srgbClr val="2F7D5C"/>
          </a:solidFill>
          <a:ln w="12700">
            <a:solidFill>
              <a:srgbClr val="2F7D5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950976" y="3758184"/>
            <a:ext cx="10140696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robustness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69264" y="4142232"/>
            <a:ext cx="10104120" cy="8686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Higher T_train consistently improves performance.</a:t>
            </a:r>
            <a:endParaRPr lang="en-US" sz="160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model trained at T=400 can still outperform at evaluation T=50.</a:t>
            </a:r>
            <a:endParaRPr lang="en-US" sz="160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Spatial representations generalize across resolutions better than temporal representations generalize across frame counts.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scaling is anchored; spatial scaling is more transferable. This asymmetry drives VEterfall.</a:t>
            </a:r>
            <a:endParaRPr lang="en-US" sz="1700" dirty="0"/>
          </a:p>
        </p:txBody>
      </p:sp>
      <p:sp>
        <p:nvSpPr>
          <p:cNvPr id="24" name="Rectangle 23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2 · SPATIAL SCALING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Resolution Helps Only Under the Right Frame Budget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234440"/>
            <a:ext cx="69951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0" name="Image 0" descr="/mnt/data/pres_assets/slide26_img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04543"/>
            <a:ext cx="6848856" cy="2094633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909560" y="1234440"/>
            <a:ext cx="3310128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7909560" y="1234440"/>
            <a:ext cx="73152" cy="160020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 txBox="1"/>
          <p:nvPr/>
        </p:nvSpPr>
        <p:spPr>
          <a:xfrm>
            <a:off x="8110728" y="1380744"/>
            <a:ext cx="2999232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pattern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129016" y="1764792"/>
            <a:ext cx="2962656" cy="96012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When frame count is low, higher spatial resolution improves performance.</a:t>
            </a:r>
            <a:endParaRPr lang="en-US" sz="145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When F&gt;32, marginal spatial gains diminish.</a:t>
            </a:r>
            <a:endParaRPr lang="en-US" sz="145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 coarse queries, too much temporal expansion can even reverse gains.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7909560" y="3063240"/>
            <a:ext cx="331012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7909560" y="3063240"/>
            <a:ext cx="73152" cy="1417320"/>
          </a:xfrm>
          <a:prstGeom prst="rect">
            <a:avLst/>
          </a:prstGeom>
          <a:solidFill>
            <a:srgbClr val="3D7D82"/>
          </a:solidFill>
          <a:ln w="12700">
            <a:solidFill>
              <a:srgbClr val="3D7D8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 txBox="1"/>
          <p:nvPr/>
        </p:nvSpPr>
        <p:spPr>
          <a:xfrm>
            <a:off x="8110728" y="3209544"/>
            <a:ext cx="2999232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129016" y="3593592"/>
            <a:ext cx="2962656" cy="77724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Spatial tokens preserve texture and object details.</a:t>
            </a:r>
            <a:endParaRPr lang="en-US" sz="145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Temporal tokens preserve event coverage.</a:t>
            </a:r>
            <a:endParaRPr lang="en-US" sz="145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best allocation depends on the semantic evidence needed.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and temporal observation are complementary but not independently additive.</a:t>
            </a:r>
            <a:endParaRPr lang="en-US" sz="1700" dirty="0"/>
          </a:p>
        </p:txBody>
      </p:sp>
      <p:sp>
        <p:nvSpPr>
          <p:cNvPr id="22" name="Rectangle 21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2 · S–T TRADE-OFF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Fixed Token Budgets Require Query-Aware Allocation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234440"/>
            <a:ext cx="73152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0" name="Image 0" descr="/mnt/data/pres_assets/slide27_img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80508"/>
            <a:ext cx="7168896" cy="143414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183880" y="1234440"/>
            <a:ext cx="303580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8183880" y="1234440"/>
            <a:ext cx="73152" cy="1005840"/>
          </a:xfrm>
          <a:prstGeom prst="rect">
            <a:avLst/>
          </a:prstGeom>
          <a:solidFill>
            <a:srgbClr val="2F6DA5"/>
          </a:solidFill>
          <a:ln w="12700">
            <a:solidFill>
              <a:srgbClr val="2F6DA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 txBox="1"/>
          <p:nvPr/>
        </p:nvSpPr>
        <p:spPr>
          <a:xfrm>
            <a:off x="8385048" y="1380744"/>
            <a:ext cx="2724912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budget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403336" y="1764792"/>
            <a:ext cx="2688336" cy="43891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Total tokens N_total = F × T.</a:t>
            </a:r>
            <a:endParaRPr lang="en-US" sz="145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Moving right means more frames with fewer tokens per frame.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8183880" y="2468880"/>
            <a:ext cx="303580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8183880" y="2468880"/>
            <a:ext cx="73152" cy="132588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 txBox="1"/>
          <p:nvPr/>
        </p:nvSpPr>
        <p:spPr>
          <a:xfrm>
            <a:off x="8385048" y="2615184"/>
            <a:ext cx="2724912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Granularity-specific optimum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403336" y="2999232"/>
            <a:ext cx="2688336" cy="68580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Coarse queries favor high resolution and fewer frames.</a:t>
            </a:r>
            <a:endParaRPr lang="en-US" sz="145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Fine queries favor more frames and lower resolution.</a:t>
            </a:r>
            <a:endParaRPr lang="en-US" sz="145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Medium queries fall between the two extremes.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8183880" y="4023360"/>
            <a:ext cx="303580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8183880" y="4023360"/>
            <a:ext cx="73152" cy="960120"/>
          </a:xfrm>
          <a:prstGeom prst="rect">
            <a:avLst/>
          </a:prstGeom>
          <a:solidFill>
            <a:srgbClr val="2F7D5C"/>
          </a:solidFill>
          <a:ln w="12700">
            <a:solidFill>
              <a:srgbClr val="2F7D5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 txBox="1"/>
          <p:nvPr/>
        </p:nvSpPr>
        <p:spPr>
          <a:xfrm>
            <a:off x="8385048" y="4169664"/>
            <a:ext cx="2724912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consequence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403336" y="4553712"/>
            <a:ext cx="2688336" cy="3931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One fixed sampler leaves performance on the table.</a:t>
            </a:r>
            <a:endParaRPr lang="en-US" sz="145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Serving systems need query-aware observation policies.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universally optimal sampling strategy for long-video retrieval.</a:t>
            </a:r>
            <a:endParaRPr lang="en-US" sz="1700" dirty="0"/>
          </a:p>
        </p:txBody>
      </p:sp>
      <p:sp>
        <p:nvSpPr>
          <p:cNvPr id="26" name="Rectangle 25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2 · DIAGNOSIS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More Frames Alone Cannot Close the Granularity Gap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325880"/>
            <a:ext cx="5166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49808" y="1325880"/>
            <a:ext cx="73152" cy="1508760"/>
          </a:xfrm>
          <a:prstGeom prst="rect">
            <a:avLst/>
          </a:prstGeom>
          <a:solidFill>
            <a:srgbClr val="A94442"/>
          </a:solidFill>
          <a:ln w="12700">
            <a:solidFill>
              <a:srgbClr val="A9444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950976" y="1472184"/>
            <a:ext cx="485546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loss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969264" y="1856232"/>
            <a:ext cx="4818888" cy="8686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If relevant evidence is never sampled, the embedding cannot represent it.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Fine-grained queries often depend on brief, localized evidence.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6217920" y="1325880"/>
            <a:ext cx="49834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217920" y="1325880"/>
            <a:ext cx="73152" cy="150876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6419088" y="1472184"/>
            <a:ext cx="467258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mismatch</a:t>
            </a:r>
            <a:endParaRPr lang="en-US" sz="1750" dirty="0"/>
          </a:p>
        </p:txBody>
      </p:sp>
      <p:sp>
        <p:nvSpPr>
          <p:cNvPr id="16" name="Text 14"/>
          <p:cNvSpPr txBox="1"/>
          <p:nvPr/>
        </p:nvSpPr>
        <p:spPr>
          <a:xfrm>
            <a:off x="6437376" y="1856232"/>
            <a:ext cx="4636008" cy="8686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Models trained at one frame count learn position- and density-specific temporal patterns.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Simply increasing F_test can create distribution shift rather than better observation.</a:t>
            </a:r>
            <a:endParaRPr lang="en-US" sz="1580" dirty="0"/>
          </a:p>
        </p:txBody>
      </p:sp>
      <p:sp>
        <p:nvSpPr>
          <p:cNvPr id="17" name="Shape 15"/>
          <p:cNvSpPr/>
          <p:nvPr/>
        </p:nvSpPr>
        <p:spPr>
          <a:xfrm>
            <a:off x="749808" y="3337560"/>
            <a:ext cx="51663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49808" y="3337560"/>
            <a:ext cx="73152" cy="1325880"/>
          </a:xfrm>
          <a:prstGeom prst="rect">
            <a:avLst/>
          </a:prstGeom>
          <a:solidFill>
            <a:srgbClr val="2F6DA5"/>
          </a:solidFill>
          <a:ln w="12700">
            <a:solidFill>
              <a:srgbClr val="2F6DA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950976" y="3483864"/>
            <a:ext cx="485546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constraint</a:t>
            </a:r>
            <a:endParaRPr lang="en-US" sz="1750" dirty="0"/>
          </a:p>
        </p:txBody>
      </p:sp>
      <p:sp>
        <p:nvSpPr>
          <p:cNvPr id="20" name="Text 18"/>
          <p:cNvSpPr txBox="1"/>
          <p:nvPr/>
        </p:nvSpPr>
        <p:spPr>
          <a:xfrm>
            <a:off x="969264" y="3867912"/>
            <a:ext cx="4818888" cy="68580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High-density inference is expensive and not always allowed in production.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practical solution must retain dense knowledge while running sparse.</a:t>
            </a:r>
            <a:endParaRPr lang="en-US" sz="1580" dirty="0"/>
          </a:p>
        </p:txBody>
      </p:sp>
      <p:sp>
        <p:nvSpPr>
          <p:cNvPr id="21" name="Shape 19"/>
          <p:cNvSpPr/>
          <p:nvPr/>
        </p:nvSpPr>
        <p:spPr>
          <a:xfrm>
            <a:off x="6217920" y="3337560"/>
            <a:ext cx="49834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217920" y="3337560"/>
            <a:ext cx="73152" cy="1325880"/>
          </a:xfrm>
          <a:prstGeom prst="rect">
            <a:avLst/>
          </a:prstGeom>
          <a:solidFill>
            <a:srgbClr val="2F7D5C"/>
          </a:solidFill>
          <a:ln w="12700">
            <a:solidFill>
              <a:srgbClr val="2F7D5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6419088" y="3483864"/>
            <a:ext cx="467258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Desired property</a:t>
            </a:r>
            <a:endParaRPr lang="en-US" sz="1750" dirty="0"/>
          </a:p>
        </p:txBody>
      </p:sp>
      <p:sp>
        <p:nvSpPr>
          <p:cNvPr id="24" name="Text 22"/>
          <p:cNvSpPr txBox="1"/>
          <p:nvPr/>
        </p:nvSpPr>
        <p:spPr>
          <a:xfrm>
            <a:off x="6437376" y="3867912"/>
            <a:ext cx="4636008" cy="68580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Acquire knowledge densely during training or adaptation.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Deploy with sparse inference under the same architecture and serving budget.</a:t>
            </a:r>
            <a:endParaRPr lang="en-US" sz="1580" dirty="0"/>
          </a:p>
        </p:txBody>
      </p:sp>
      <p:sp>
        <p:nvSpPr>
          <p:cNvPr id="25" name="Shape 23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VEterfall is designed to decouple knowledge acquisition from inference density.</a:t>
            </a:r>
            <a:endParaRPr lang="en-US" sz="1700" dirty="0"/>
          </a:p>
        </p:txBody>
      </p:sp>
      <p:sp>
        <p:nvSpPr>
          <p:cNvPr id="28" name="Rectangle 27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2 · VETERFALL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VEterfall Transfers Dense Knowledge to Sparse Inference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234440"/>
            <a:ext cx="69951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0" name="Image 0" descr="/mnt/data/pres_assets/slide28_img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38225"/>
            <a:ext cx="6848856" cy="342727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909560" y="1234440"/>
            <a:ext cx="3310128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7909560" y="1234440"/>
            <a:ext cx="73152" cy="160020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 txBox="1"/>
          <p:nvPr/>
        </p:nvSpPr>
        <p:spPr>
          <a:xfrm>
            <a:off x="8110728" y="1380744"/>
            <a:ext cx="2999232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Waterfall idea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129016" y="1764792"/>
            <a:ext cx="2962656" cy="96012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Start from a dense teacher at (16F, 400T).</a:t>
            </a:r>
            <a:endParaRPr lang="en-US" sz="142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Distill to a medium model at (8F, 200T).</a:t>
            </a:r>
            <a:endParaRPr lang="en-US" sz="142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 the medium model as teacher for a sparse model at (4F, 100T).</a:t>
            </a:r>
            <a:endParaRPr lang="en-US" sz="1420" dirty="0"/>
          </a:p>
        </p:txBody>
      </p:sp>
      <p:sp>
        <p:nvSpPr>
          <p:cNvPr id="15" name="Shape 12"/>
          <p:cNvSpPr/>
          <p:nvPr/>
        </p:nvSpPr>
        <p:spPr>
          <a:xfrm>
            <a:off x="7909560" y="3063240"/>
            <a:ext cx="331012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7909560" y="3063240"/>
            <a:ext cx="73152" cy="1325880"/>
          </a:xfrm>
          <a:prstGeom prst="rect">
            <a:avLst/>
          </a:prstGeom>
          <a:solidFill>
            <a:srgbClr val="2F7D5C"/>
          </a:solidFill>
          <a:ln w="12700">
            <a:solidFill>
              <a:srgbClr val="2F7D5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 txBox="1"/>
          <p:nvPr/>
        </p:nvSpPr>
        <p:spPr>
          <a:xfrm>
            <a:off x="8110728" y="3209544"/>
            <a:ext cx="2999232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129016" y="3593592"/>
            <a:ext cx="2962656" cy="68580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K=2 rounds.</a:t>
            </a:r>
            <a:endParaRPr lang="en-US" sz="142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100K InternVid pairs per round.</a:t>
            </a:r>
            <a:endParaRPr lang="en-US" sz="142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16× token reduction with no architecture change.</a:t>
            </a:r>
            <a:endParaRPr lang="en-US" sz="1420" dirty="0"/>
          </a:p>
        </p:txBody>
      </p:sp>
      <p:sp>
        <p:nvSpPr>
          <p:cNvPr id="19" name="Shape 16"/>
          <p:cNvSpPr/>
          <p:nvPr/>
        </p:nvSpPr>
        <p:spPr>
          <a:xfrm>
            <a:off x="7909560" y="4617720"/>
            <a:ext cx="3310128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7909560" y="4617720"/>
            <a:ext cx="73152" cy="594360"/>
          </a:xfrm>
          <a:prstGeom prst="rect">
            <a:avLst/>
          </a:prstGeom>
          <a:solidFill>
            <a:srgbClr val="3D7D82"/>
          </a:solidFill>
          <a:ln w="12700">
            <a:solidFill>
              <a:srgbClr val="3D7D8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 txBox="1"/>
          <p:nvPr/>
        </p:nvSpPr>
        <p:spPr>
          <a:xfrm>
            <a:off x="8110728" y="4764024"/>
            <a:ext cx="2999232" cy="45720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642"/>
                </a:solidFill>
                <a:latin typeface="Arial"/>
              </a:rPr>
              <a:t>Why cascade: avoid abrupt mismatch</a:t>
            </a:r>
          </a:p>
        </p:txBody>
      </p:sp>
      <p:sp>
        <p:nvSpPr>
          <p:cNvPr id="22" name="Text 19"/>
          <p:cNvSpPr txBox="1"/>
          <p:nvPr/>
        </p:nvSpPr>
        <p:spPr>
          <a:xfrm>
            <a:off x="8129016" y="5148072"/>
            <a:ext cx="2962656" cy="292608"/>
          </a:xfrm>
          <a:prstGeom prst="rect">
            <a:avLst/>
          </a:prstGeom>
          <a:noFill/>
          <a:ln/>
        </p:spPr>
        <p:txBody>
          <a:bodyPr wrap="square" lIns="45720" tIns="27432" rIns="45720" bIns="27432" rtlCol="0" anchor="t">
            <a:noAutofit/>
          </a:bodyPr>
          <a:lstStyle/>
          <a:p>
            <a:endParaRPr/>
          </a:p>
        </p:txBody>
      </p:sp>
      <p:sp>
        <p:nvSpPr>
          <p:cNvPr id="23" name="Shape 20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cascades from high sampling density to low sampling density.</a:t>
            </a:r>
            <a:endParaRPr lang="en-US" sz="1700" dirty="0"/>
          </a:p>
        </p:txBody>
      </p:sp>
      <p:sp>
        <p:nvSpPr>
          <p:cNvPr id="26" name="Rectangle 25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2 · VETERFALL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Distillation Aligns Sparse Embeddings with Dense Teachers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325880"/>
            <a:ext cx="51663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49808" y="1325880"/>
            <a:ext cx="73152" cy="192024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950976" y="1472184"/>
            <a:ext cx="485546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Teacher-student alignment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969264" y="1856232"/>
            <a:ext cx="4818888" cy="128016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Teacher is frozen at higher sampling density.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Student observes fewer frames/tokens.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MSE loss aligns student embeddings with teacher embeddings.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6217920" y="1325880"/>
            <a:ext cx="49834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217920" y="1325880"/>
            <a:ext cx="73152" cy="1920240"/>
          </a:xfrm>
          <a:prstGeom prst="rect">
            <a:avLst/>
          </a:prstGeom>
          <a:solidFill>
            <a:srgbClr val="2F6DA5"/>
          </a:solidFill>
          <a:ln w="12700">
            <a:solidFill>
              <a:srgbClr val="2F6DA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6419088" y="1472184"/>
            <a:ext cx="467258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Contrastive regularization</a:t>
            </a:r>
            <a:endParaRPr lang="en-US" sz="1750" dirty="0"/>
          </a:p>
        </p:txBody>
      </p:sp>
      <p:sp>
        <p:nvSpPr>
          <p:cNvPr id="16" name="Text 14"/>
          <p:cNvSpPr txBox="1"/>
          <p:nvPr/>
        </p:nvSpPr>
        <p:spPr>
          <a:xfrm>
            <a:off x="6437376" y="1856232"/>
            <a:ext cx="4636008" cy="128016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InfoNCE loss maintains video-text alignment.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λ=0.5 balances distillation and retrieval discrimination.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Ablation shows λ=0 is already competitive; InfoNCE adds marginal but consistent gains.</a:t>
            </a:r>
            <a:endParaRPr lang="en-US" sz="1580" dirty="0"/>
          </a:p>
        </p:txBody>
      </p:sp>
      <p:sp>
        <p:nvSpPr>
          <p:cNvPr id="17" name="Shape 15"/>
          <p:cNvSpPr/>
          <p:nvPr/>
        </p:nvSpPr>
        <p:spPr>
          <a:xfrm>
            <a:off x="749808" y="3794760"/>
            <a:ext cx="1045159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49808" y="3794760"/>
            <a:ext cx="73152" cy="1234440"/>
          </a:xfrm>
          <a:prstGeom prst="rect">
            <a:avLst/>
          </a:prstGeom>
          <a:solidFill>
            <a:srgbClr val="2F7D5C"/>
          </a:solidFill>
          <a:ln w="12700">
            <a:solidFill>
              <a:srgbClr val="2F7D5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950976" y="3941064"/>
            <a:ext cx="10140696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transferred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69264" y="4325112"/>
            <a:ext cx="10104120" cy="59436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student learns what a dense model would output, not only what sparse frames directly show.</a:t>
            </a:r>
            <a:endParaRPr lang="en-US" sz="162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This transfers latent temporal knowledge without dense inference.</a:t>
            </a:r>
            <a:endParaRPr lang="en-US" sz="1620" dirty="0"/>
          </a:p>
        </p:txBody>
      </p:sp>
      <p:sp>
        <p:nvSpPr>
          <p:cNvPr id="21" name="Shape 19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VEterfall transfers representation behavior, not labels or architecture components.</a:t>
            </a:r>
            <a:endParaRPr lang="en-US" sz="1700" dirty="0"/>
          </a:p>
        </p:txBody>
      </p:sp>
      <p:sp>
        <p:nvSpPr>
          <p:cNvPr id="24" name="Rectangle 23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2 · RESULTS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VEterfall Recovers Fine-Grained Sparse Performance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325880"/>
            <a:ext cx="233172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813816" y="1399032"/>
            <a:ext cx="225856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108960" y="1325880"/>
            <a:ext cx="96012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3145536" y="1399032"/>
            <a:ext cx="88696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069080" y="1325880"/>
            <a:ext cx="96012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4105656" y="1399032"/>
            <a:ext cx="88696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 ↑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0" y="1325880"/>
            <a:ext cx="96012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5065776" y="1399032"/>
            <a:ext cx="88696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89320" y="1325880"/>
            <a:ext cx="96012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6025896" y="1399032"/>
            <a:ext cx="88696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Coarse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949440" y="1325880"/>
            <a:ext cx="109728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6986016" y="1399032"/>
            <a:ext cx="102412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 gain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77240" y="1673352"/>
            <a:ext cx="2331720" cy="518922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822960" y="1728216"/>
            <a:ext cx="2240280" cy="50063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8F-200T baseline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3108960" y="1673352"/>
            <a:ext cx="960120" cy="518922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3154680" y="1728216"/>
            <a:ext cx="868680" cy="50063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0.369</a:t>
            </a:r>
            <a:endParaRPr lang="en-US" sz="1320" dirty="0"/>
          </a:p>
        </p:txBody>
      </p:sp>
      <p:sp>
        <p:nvSpPr>
          <p:cNvPr id="25" name="Shape 23"/>
          <p:cNvSpPr/>
          <p:nvPr/>
        </p:nvSpPr>
        <p:spPr>
          <a:xfrm>
            <a:off x="4069080" y="1673352"/>
            <a:ext cx="960120" cy="518922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4114800" y="1728216"/>
            <a:ext cx="868680" cy="50063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0.148</a:t>
            </a:r>
            <a:endParaRPr lang="en-US" sz="1320" dirty="0"/>
          </a:p>
        </p:txBody>
      </p:sp>
      <p:sp>
        <p:nvSpPr>
          <p:cNvPr id="27" name="Shape 25"/>
          <p:cNvSpPr/>
          <p:nvPr/>
        </p:nvSpPr>
        <p:spPr>
          <a:xfrm>
            <a:off x="5029200" y="1673352"/>
            <a:ext cx="960120" cy="518922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5074920" y="1728216"/>
            <a:ext cx="868680" cy="50063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0.508</a:t>
            </a:r>
            <a:endParaRPr lang="en-US" sz="1320" dirty="0"/>
          </a:p>
        </p:txBody>
      </p:sp>
      <p:sp>
        <p:nvSpPr>
          <p:cNvPr id="29" name="Shape 27"/>
          <p:cNvSpPr/>
          <p:nvPr/>
        </p:nvSpPr>
        <p:spPr>
          <a:xfrm>
            <a:off x="5989320" y="1673352"/>
            <a:ext cx="960120" cy="518922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6035040" y="1728216"/>
            <a:ext cx="868680" cy="50063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0.782</a:t>
            </a:r>
            <a:endParaRPr lang="en-US" sz="1320" dirty="0"/>
          </a:p>
        </p:txBody>
      </p:sp>
      <p:sp>
        <p:nvSpPr>
          <p:cNvPr id="31" name="Shape 29"/>
          <p:cNvSpPr/>
          <p:nvPr/>
        </p:nvSpPr>
        <p:spPr>
          <a:xfrm>
            <a:off x="6949440" y="1673352"/>
            <a:ext cx="1097280" cy="518922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6995160" y="1728216"/>
            <a:ext cx="1005840" cy="50063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20" dirty="0"/>
          </a:p>
        </p:txBody>
      </p:sp>
      <p:sp>
        <p:nvSpPr>
          <p:cNvPr id="33" name="Shape 31"/>
          <p:cNvSpPr/>
          <p:nvPr/>
        </p:nvSpPr>
        <p:spPr>
          <a:xfrm>
            <a:off x="777240" y="2192274"/>
            <a:ext cx="2331720" cy="518922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 txBox="1"/>
          <p:nvPr/>
        </p:nvSpPr>
        <p:spPr>
          <a:xfrm>
            <a:off x="822960" y="2247138"/>
            <a:ext cx="2240280" cy="50063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8F-200T VEterfall ★</a:t>
            </a:r>
            <a:endParaRPr lang="en-US" sz="1320" dirty="0"/>
          </a:p>
        </p:txBody>
      </p:sp>
      <p:sp>
        <p:nvSpPr>
          <p:cNvPr id="35" name="Shape 33"/>
          <p:cNvSpPr/>
          <p:nvPr/>
        </p:nvSpPr>
        <p:spPr>
          <a:xfrm>
            <a:off x="3108960" y="2192274"/>
            <a:ext cx="960120" cy="518922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3154680" y="2247138"/>
            <a:ext cx="868680" cy="50063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0.402</a:t>
            </a:r>
            <a:endParaRPr lang="en-US" sz="1320" dirty="0"/>
          </a:p>
        </p:txBody>
      </p:sp>
      <p:sp>
        <p:nvSpPr>
          <p:cNvPr id="37" name="Shape 35"/>
          <p:cNvSpPr/>
          <p:nvPr/>
        </p:nvSpPr>
        <p:spPr>
          <a:xfrm>
            <a:off x="4069080" y="2192274"/>
            <a:ext cx="960120" cy="518922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4114800" y="2247138"/>
            <a:ext cx="868680" cy="50063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0.188</a:t>
            </a:r>
            <a:endParaRPr lang="en-US" sz="1320" dirty="0"/>
          </a:p>
        </p:txBody>
      </p:sp>
      <p:sp>
        <p:nvSpPr>
          <p:cNvPr id="39" name="Shape 37"/>
          <p:cNvSpPr/>
          <p:nvPr/>
        </p:nvSpPr>
        <p:spPr>
          <a:xfrm>
            <a:off x="5029200" y="2192274"/>
            <a:ext cx="960120" cy="518922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 txBox="1"/>
          <p:nvPr/>
        </p:nvSpPr>
        <p:spPr>
          <a:xfrm>
            <a:off x="5074920" y="2247138"/>
            <a:ext cx="868680" cy="50063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0.543</a:t>
            </a:r>
            <a:endParaRPr lang="en-US" sz="1320" dirty="0"/>
          </a:p>
        </p:txBody>
      </p:sp>
      <p:sp>
        <p:nvSpPr>
          <p:cNvPr id="41" name="Shape 39"/>
          <p:cNvSpPr/>
          <p:nvPr/>
        </p:nvSpPr>
        <p:spPr>
          <a:xfrm>
            <a:off x="5989320" y="2192274"/>
            <a:ext cx="960120" cy="518922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 txBox="1"/>
          <p:nvPr/>
        </p:nvSpPr>
        <p:spPr>
          <a:xfrm>
            <a:off x="6035040" y="2247138"/>
            <a:ext cx="868680" cy="50063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0.777</a:t>
            </a:r>
            <a:endParaRPr lang="en-US" sz="1320" dirty="0"/>
          </a:p>
        </p:txBody>
      </p:sp>
      <p:sp>
        <p:nvSpPr>
          <p:cNvPr id="43" name="Shape 41"/>
          <p:cNvSpPr/>
          <p:nvPr/>
        </p:nvSpPr>
        <p:spPr>
          <a:xfrm>
            <a:off x="6949440" y="2192274"/>
            <a:ext cx="1097280" cy="518922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 txBox="1"/>
          <p:nvPr/>
        </p:nvSpPr>
        <p:spPr>
          <a:xfrm>
            <a:off x="6995160" y="2247138"/>
            <a:ext cx="1005840" cy="50063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+27.0%</a:t>
            </a:r>
            <a:endParaRPr lang="en-US" sz="1320" dirty="0"/>
          </a:p>
        </p:txBody>
      </p:sp>
      <p:sp>
        <p:nvSpPr>
          <p:cNvPr id="45" name="Shape 43"/>
          <p:cNvSpPr/>
          <p:nvPr/>
        </p:nvSpPr>
        <p:spPr>
          <a:xfrm>
            <a:off x="777240" y="2711196"/>
            <a:ext cx="2331720" cy="518922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 txBox="1"/>
          <p:nvPr/>
        </p:nvSpPr>
        <p:spPr>
          <a:xfrm>
            <a:off x="822960" y="2766060"/>
            <a:ext cx="2240280" cy="50063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4F-100T baseline</a:t>
            </a:r>
            <a:endParaRPr lang="en-US" sz="1320" dirty="0"/>
          </a:p>
        </p:txBody>
      </p:sp>
      <p:sp>
        <p:nvSpPr>
          <p:cNvPr id="47" name="Shape 45"/>
          <p:cNvSpPr/>
          <p:nvPr/>
        </p:nvSpPr>
        <p:spPr>
          <a:xfrm>
            <a:off x="3108960" y="2711196"/>
            <a:ext cx="960120" cy="518922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3154680" y="2766060"/>
            <a:ext cx="868680" cy="50063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0.300</a:t>
            </a:r>
            <a:endParaRPr lang="en-US" sz="1320" dirty="0"/>
          </a:p>
        </p:txBody>
      </p:sp>
      <p:sp>
        <p:nvSpPr>
          <p:cNvPr id="49" name="Shape 47"/>
          <p:cNvSpPr/>
          <p:nvPr/>
        </p:nvSpPr>
        <p:spPr>
          <a:xfrm>
            <a:off x="4069080" y="2711196"/>
            <a:ext cx="960120" cy="518922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 txBox="1"/>
          <p:nvPr/>
        </p:nvSpPr>
        <p:spPr>
          <a:xfrm>
            <a:off x="4114800" y="2766060"/>
            <a:ext cx="868680" cy="50063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0.132</a:t>
            </a:r>
            <a:endParaRPr lang="en-US" sz="1320" dirty="0"/>
          </a:p>
        </p:txBody>
      </p:sp>
      <p:sp>
        <p:nvSpPr>
          <p:cNvPr id="51" name="Shape 49"/>
          <p:cNvSpPr/>
          <p:nvPr/>
        </p:nvSpPr>
        <p:spPr>
          <a:xfrm>
            <a:off x="5029200" y="2711196"/>
            <a:ext cx="960120" cy="518922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 txBox="1"/>
          <p:nvPr/>
        </p:nvSpPr>
        <p:spPr>
          <a:xfrm>
            <a:off x="5074920" y="2766060"/>
            <a:ext cx="868680" cy="50063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0.391</a:t>
            </a:r>
            <a:endParaRPr lang="en-US" sz="1320" dirty="0"/>
          </a:p>
        </p:txBody>
      </p:sp>
      <p:sp>
        <p:nvSpPr>
          <p:cNvPr id="53" name="Shape 51"/>
          <p:cNvSpPr/>
          <p:nvPr/>
        </p:nvSpPr>
        <p:spPr>
          <a:xfrm>
            <a:off x="5989320" y="2711196"/>
            <a:ext cx="960120" cy="518922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 txBox="1"/>
          <p:nvPr/>
        </p:nvSpPr>
        <p:spPr>
          <a:xfrm>
            <a:off x="6035040" y="2766060"/>
            <a:ext cx="868680" cy="50063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0.664</a:t>
            </a:r>
            <a:endParaRPr lang="en-US" sz="1320" dirty="0"/>
          </a:p>
        </p:txBody>
      </p:sp>
      <p:sp>
        <p:nvSpPr>
          <p:cNvPr id="55" name="Shape 53"/>
          <p:cNvSpPr/>
          <p:nvPr/>
        </p:nvSpPr>
        <p:spPr>
          <a:xfrm>
            <a:off x="6949440" y="2711196"/>
            <a:ext cx="1097280" cy="518922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 txBox="1"/>
          <p:nvPr/>
        </p:nvSpPr>
        <p:spPr>
          <a:xfrm>
            <a:off x="6995160" y="2766060"/>
            <a:ext cx="1005840" cy="50063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20" dirty="0"/>
          </a:p>
        </p:txBody>
      </p:sp>
      <p:sp>
        <p:nvSpPr>
          <p:cNvPr id="57" name="Shape 55"/>
          <p:cNvSpPr/>
          <p:nvPr/>
        </p:nvSpPr>
        <p:spPr>
          <a:xfrm>
            <a:off x="777240" y="3230118"/>
            <a:ext cx="2331720" cy="518922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 txBox="1"/>
          <p:nvPr/>
        </p:nvSpPr>
        <p:spPr>
          <a:xfrm>
            <a:off x="822960" y="3284982"/>
            <a:ext cx="2240280" cy="50063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4F-100T VEterfall ★</a:t>
            </a:r>
            <a:endParaRPr lang="en-US" sz="1320" dirty="0"/>
          </a:p>
        </p:txBody>
      </p:sp>
      <p:sp>
        <p:nvSpPr>
          <p:cNvPr id="59" name="Shape 57"/>
          <p:cNvSpPr/>
          <p:nvPr/>
        </p:nvSpPr>
        <p:spPr>
          <a:xfrm>
            <a:off x="3108960" y="3230118"/>
            <a:ext cx="960120" cy="518922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58"/>
          <p:cNvSpPr txBox="1"/>
          <p:nvPr/>
        </p:nvSpPr>
        <p:spPr>
          <a:xfrm>
            <a:off x="3154680" y="3284982"/>
            <a:ext cx="868680" cy="50063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0.325</a:t>
            </a:r>
            <a:endParaRPr lang="en-US" sz="1320" dirty="0"/>
          </a:p>
        </p:txBody>
      </p:sp>
      <p:sp>
        <p:nvSpPr>
          <p:cNvPr id="61" name="Shape 59"/>
          <p:cNvSpPr/>
          <p:nvPr/>
        </p:nvSpPr>
        <p:spPr>
          <a:xfrm>
            <a:off x="4069080" y="3230118"/>
            <a:ext cx="960120" cy="518922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60"/>
          <p:cNvSpPr txBox="1"/>
          <p:nvPr/>
        </p:nvSpPr>
        <p:spPr>
          <a:xfrm>
            <a:off x="4114800" y="3284982"/>
            <a:ext cx="868680" cy="50063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0.158</a:t>
            </a:r>
            <a:endParaRPr lang="en-US" sz="1320" dirty="0"/>
          </a:p>
        </p:txBody>
      </p:sp>
      <p:sp>
        <p:nvSpPr>
          <p:cNvPr id="63" name="Shape 61"/>
          <p:cNvSpPr/>
          <p:nvPr/>
        </p:nvSpPr>
        <p:spPr>
          <a:xfrm>
            <a:off x="5029200" y="3230118"/>
            <a:ext cx="960120" cy="518922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62"/>
          <p:cNvSpPr txBox="1"/>
          <p:nvPr/>
        </p:nvSpPr>
        <p:spPr>
          <a:xfrm>
            <a:off x="5074920" y="3284982"/>
            <a:ext cx="868680" cy="50063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0.423</a:t>
            </a:r>
            <a:endParaRPr lang="en-US" sz="1320" dirty="0"/>
          </a:p>
        </p:txBody>
      </p:sp>
      <p:sp>
        <p:nvSpPr>
          <p:cNvPr id="65" name="Shape 63"/>
          <p:cNvSpPr/>
          <p:nvPr/>
        </p:nvSpPr>
        <p:spPr>
          <a:xfrm>
            <a:off x="5989320" y="3230118"/>
            <a:ext cx="960120" cy="518922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Text 64"/>
          <p:cNvSpPr txBox="1"/>
          <p:nvPr/>
        </p:nvSpPr>
        <p:spPr>
          <a:xfrm>
            <a:off x="6035040" y="3284982"/>
            <a:ext cx="868680" cy="50063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0.667</a:t>
            </a:r>
            <a:endParaRPr lang="en-US" sz="1320" dirty="0"/>
          </a:p>
        </p:txBody>
      </p:sp>
      <p:sp>
        <p:nvSpPr>
          <p:cNvPr id="67" name="Shape 65"/>
          <p:cNvSpPr/>
          <p:nvPr/>
        </p:nvSpPr>
        <p:spPr>
          <a:xfrm>
            <a:off x="6949440" y="3230118"/>
            <a:ext cx="1097280" cy="518922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Text 66"/>
          <p:cNvSpPr txBox="1"/>
          <p:nvPr/>
        </p:nvSpPr>
        <p:spPr>
          <a:xfrm>
            <a:off x="6995160" y="3284982"/>
            <a:ext cx="1005840" cy="50063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+19.7%</a:t>
            </a:r>
            <a:endParaRPr lang="en-US" sz="1320" dirty="0"/>
          </a:p>
        </p:txBody>
      </p:sp>
      <p:sp>
        <p:nvSpPr>
          <p:cNvPr id="69" name="Shape 67"/>
          <p:cNvSpPr/>
          <p:nvPr/>
        </p:nvSpPr>
        <p:spPr>
          <a:xfrm>
            <a:off x="8092440" y="1325880"/>
            <a:ext cx="3108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Shape 68"/>
          <p:cNvSpPr/>
          <p:nvPr/>
        </p:nvSpPr>
        <p:spPr>
          <a:xfrm>
            <a:off x="8092440" y="1325880"/>
            <a:ext cx="73152" cy="141732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Text 69"/>
          <p:cNvSpPr txBox="1"/>
          <p:nvPr/>
        </p:nvSpPr>
        <p:spPr>
          <a:xfrm>
            <a:off x="8293608" y="1472184"/>
            <a:ext cx="279806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642"/>
                </a:solidFill>
                <a:latin typeface="Arial"/>
              </a:rPr>
              <a:t>Where gains appear</a:t>
            </a:r>
          </a:p>
        </p:txBody>
      </p:sp>
      <p:sp>
        <p:nvSpPr>
          <p:cNvPr id="72" name="Text 70"/>
          <p:cNvSpPr txBox="1"/>
          <p:nvPr/>
        </p:nvSpPr>
        <p:spPr>
          <a:xfrm>
            <a:off x="8311896" y="1856232"/>
            <a:ext cx="2761488" cy="77724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Largest gains on Fine and Medium queries.</a:t>
            </a:r>
            <a:endParaRPr lang="en-US" sz="145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Coarse performance remains stable because global semantics already survive sparse observation.</a:t>
            </a:r>
            <a:endParaRPr lang="en-US" sz="1450" dirty="0"/>
          </a:p>
        </p:txBody>
      </p:sp>
      <p:sp>
        <p:nvSpPr>
          <p:cNvPr id="73" name="Shape 71"/>
          <p:cNvSpPr/>
          <p:nvPr/>
        </p:nvSpPr>
        <p:spPr>
          <a:xfrm>
            <a:off x="8092440" y="297180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Shape 72"/>
          <p:cNvSpPr/>
          <p:nvPr/>
        </p:nvSpPr>
        <p:spPr>
          <a:xfrm>
            <a:off x="8092440" y="2971800"/>
            <a:ext cx="73152" cy="1051560"/>
          </a:xfrm>
          <a:prstGeom prst="rect">
            <a:avLst/>
          </a:prstGeom>
          <a:solidFill>
            <a:srgbClr val="2F7D5C"/>
          </a:solidFill>
          <a:ln w="12700">
            <a:solidFill>
              <a:srgbClr val="2F7D5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" name="Text 73"/>
          <p:cNvSpPr txBox="1"/>
          <p:nvPr/>
        </p:nvSpPr>
        <p:spPr>
          <a:xfrm>
            <a:off x="8293608" y="3118104"/>
            <a:ext cx="279806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642"/>
                </a:solidFill>
                <a:latin typeface="Arial"/>
              </a:rPr>
              <a:t>Efficiency context</a:t>
            </a:r>
          </a:p>
        </p:txBody>
      </p:sp>
      <p:sp>
        <p:nvSpPr>
          <p:cNvPr id="76" name="Text 74"/>
          <p:cNvSpPr txBox="1"/>
          <p:nvPr/>
        </p:nvSpPr>
        <p:spPr>
          <a:xfrm>
            <a:off x="8311896" y="3502152"/>
            <a:ext cx="2761488" cy="48463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4F-100T uses 16× fewer tokens than 16F-400T.</a:t>
            </a:r>
            <a:endParaRPr lang="en-US" sz="145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Only 100K pairs per round are needed.</a:t>
            </a:r>
            <a:endParaRPr lang="en-US" sz="1450" dirty="0"/>
          </a:p>
        </p:txBody>
      </p:sp>
      <p:sp>
        <p:nvSpPr>
          <p:cNvPr id="77" name="Shape 75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Text 76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79" name="Text 77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VEterfall selectively recovers the fine-grained knowledge most damaged by sparse inference.</a:t>
            </a:r>
            <a:endParaRPr lang="en-US" sz="1700" dirty="0"/>
          </a:p>
        </p:txBody>
      </p:sp>
      <p:sp>
        <p:nvSpPr>
          <p:cNvPr id="80" name="Rectangle 79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2 · EFFICIENCY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VEterfall Is More Efficient Than Sparse Retraining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417320"/>
            <a:ext cx="237744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813816" y="1490472"/>
            <a:ext cx="230428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154680" y="1417320"/>
            <a:ext cx="141732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3191256" y="1490472"/>
            <a:ext cx="134416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pairs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0" y="1417320"/>
            <a:ext cx="141732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4608576" y="1490472"/>
            <a:ext cx="134416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 compute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89320" y="1417320"/>
            <a:ext cx="114300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6025896" y="1490472"/>
            <a:ext cx="106984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 R@1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132320" y="1417320"/>
            <a:ext cx="114300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7168896" y="1490472"/>
            <a:ext cx="106984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R@1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77240" y="1764792"/>
            <a:ext cx="23774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822960" y="1819656"/>
            <a:ext cx="2286000" cy="47548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sparse training</a:t>
            </a:r>
            <a:endParaRPr lang="en-US" sz="1320" dirty="0"/>
          </a:p>
        </p:txBody>
      </p:sp>
      <p:sp>
        <p:nvSpPr>
          <p:cNvPr id="21" name="Shape 19"/>
          <p:cNvSpPr/>
          <p:nvPr/>
        </p:nvSpPr>
        <p:spPr>
          <a:xfrm>
            <a:off x="3154680" y="1764792"/>
            <a:ext cx="14173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3200400" y="1819656"/>
            <a:ext cx="1325880" cy="47548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2.0M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4572000" y="1764792"/>
            <a:ext cx="14173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4617720" y="1819656"/>
            <a:ext cx="1325880" cy="47548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1.0×</a:t>
            </a:r>
            <a:endParaRPr lang="en-US" sz="1320" dirty="0"/>
          </a:p>
        </p:txBody>
      </p:sp>
      <p:sp>
        <p:nvSpPr>
          <p:cNvPr id="25" name="Shape 23"/>
          <p:cNvSpPr/>
          <p:nvPr/>
        </p:nvSpPr>
        <p:spPr>
          <a:xfrm>
            <a:off x="5989320" y="1764792"/>
            <a:ext cx="11430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035040" y="1819656"/>
            <a:ext cx="1051560" cy="47548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0.132</a:t>
            </a:r>
            <a:endParaRPr lang="en-US" sz="1320" dirty="0"/>
          </a:p>
        </p:txBody>
      </p:sp>
      <p:sp>
        <p:nvSpPr>
          <p:cNvPr id="27" name="Shape 25"/>
          <p:cNvSpPr/>
          <p:nvPr/>
        </p:nvSpPr>
        <p:spPr>
          <a:xfrm>
            <a:off x="7132320" y="1764792"/>
            <a:ext cx="11430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7178040" y="1819656"/>
            <a:ext cx="1051560" cy="47548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0.300</a:t>
            </a:r>
            <a:endParaRPr lang="en-US" sz="1320" dirty="0"/>
          </a:p>
        </p:txBody>
      </p:sp>
      <p:sp>
        <p:nvSpPr>
          <p:cNvPr id="29" name="Shape 27"/>
          <p:cNvSpPr/>
          <p:nvPr/>
        </p:nvSpPr>
        <p:spPr>
          <a:xfrm>
            <a:off x="777240" y="2258568"/>
            <a:ext cx="2377440" cy="493776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822960" y="2313432"/>
            <a:ext cx="2286000" cy="47548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Dense-to-sparse finetune</a:t>
            </a:r>
            <a:endParaRPr lang="en-US" sz="1320" dirty="0"/>
          </a:p>
        </p:txBody>
      </p:sp>
      <p:sp>
        <p:nvSpPr>
          <p:cNvPr id="31" name="Shape 29"/>
          <p:cNvSpPr/>
          <p:nvPr/>
        </p:nvSpPr>
        <p:spPr>
          <a:xfrm>
            <a:off x="3154680" y="2258568"/>
            <a:ext cx="1417320" cy="493776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3200400" y="2313432"/>
            <a:ext cx="1325880" cy="47548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2.0M</a:t>
            </a:r>
            <a:endParaRPr lang="en-US" sz="1320" dirty="0"/>
          </a:p>
        </p:txBody>
      </p:sp>
      <p:sp>
        <p:nvSpPr>
          <p:cNvPr id="33" name="Shape 31"/>
          <p:cNvSpPr/>
          <p:nvPr/>
        </p:nvSpPr>
        <p:spPr>
          <a:xfrm>
            <a:off x="4572000" y="2258568"/>
            <a:ext cx="1417320" cy="493776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 txBox="1"/>
          <p:nvPr/>
        </p:nvSpPr>
        <p:spPr>
          <a:xfrm>
            <a:off x="4617720" y="2313432"/>
            <a:ext cx="1325880" cy="47548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2.4×</a:t>
            </a:r>
            <a:endParaRPr lang="en-US" sz="1320" dirty="0"/>
          </a:p>
        </p:txBody>
      </p:sp>
      <p:sp>
        <p:nvSpPr>
          <p:cNvPr id="35" name="Shape 33"/>
          <p:cNvSpPr/>
          <p:nvPr/>
        </p:nvSpPr>
        <p:spPr>
          <a:xfrm>
            <a:off x="5989320" y="2258568"/>
            <a:ext cx="1143000" cy="493776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6035040" y="2313432"/>
            <a:ext cx="1051560" cy="47548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0.149</a:t>
            </a:r>
            <a:endParaRPr lang="en-US" sz="1320" dirty="0"/>
          </a:p>
        </p:txBody>
      </p:sp>
      <p:sp>
        <p:nvSpPr>
          <p:cNvPr id="37" name="Shape 35"/>
          <p:cNvSpPr/>
          <p:nvPr/>
        </p:nvSpPr>
        <p:spPr>
          <a:xfrm>
            <a:off x="7132320" y="2258568"/>
            <a:ext cx="1143000" cy="493776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7178040" y="2313432"/>
            <a:ext cx="1051560" cy="47548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0.318</a:t>
            </a:r>
            <a:endParaRPr lang="en-US" sz="1320" dirty="0"/>
          </a:p>
        </p:txBody>
      </p:sp>
      <p:sp>
        <p:nvSpPr>
          <p:cNvPr id="39" name="Shape 37"/>
          <p:cNvSpPr/>
          <p:nvPr/>
        </p:nvSpPr>
        <p:spPr>
          <a:xfrm>
            <a:off x="777240" y="2752344"/>
            <a:ext cx="23774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 txBox="1"/>
          <p:nvPr/>
        </p:nvSpPr>
        <p:spPr>
          <a:xfrm>
            <a:off x="822960" y="2807208"/>
            <a:ext cx="2286000" cy="47548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VEterfall ★</a:t>
            </a:r>
            <a:endParaRPr lang="en-US" sz="1320" dirty="0"/>
          </a:p>
        </p:txBody>
      </p:sp>
      <p:sp>
        <p:nvSpPr>
          <p:cNvPr id="41" name="Shape 39"/>
          <p:cNvSpPr/>
          <p:nvPr/>
        </p:nvSpPr>
        <p:spPr>
          <a:xfrm>
            <a:off x="3154680" y="2752344"/>
            <a:ext cx="14173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 txBox="1"/>
          <p:nvPr/>
        </p:nvSpPr>
        <p:spPr>
          <a:xfrm>
            <a:off x="3200400" y="2807208"/>
            <a:ext cx="1325880" cy="47548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200K</a:t>
            </a:r>
            <a:endParaRPr lang="en-US" sz="1320" dirty="0"/>
          </a:p>
        </p:txBody>
      </p:sp>
      <p:sp>
        <p:nvSpPr>
          <p:cNvPr id="43" name="Shape 41"/>
          <p:cNvSpPr/>
          <p:nvPr/>
        </p:nvSpPr>
        <p:spPr>
          <a:xfrm>
            <a:off x="4572000" y="2752344"/>
            <a:ext cx="14173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 txBox="1"/>
          <p:nvPr/>
        </p:nvSpPr>
        <p:spPr>
          <a:xfrm>
            <a:off x="4617720" y="2807208"/>
            <a:ext cx="1325880" cy="47548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0.1×</a:t>
            </a:r>
            <a:endParaRPr lang="en-US" sz="1320" dirty="0"/>
          </a:p>
        </p:txBody>
      </p:sp>
      <p:sp>
        <p:nvSpPr>
          <p:cNvPr id="45" name="Shape 43"/>
          <p:cNvSpPr/>
          <p:nvPr/>
        </p:nvSpPr>
        <p:spPr>
          <a:xfrm>
            <a:off x="5989320" y="2752344"/>
            <a:ext cx="11430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 txBox="1"/>
          <p:nvPr/>
        </p:nvSpPr>
        <p:spPr>
          <a:xfrm>
            <a:off x="6035040" y="2807208"/>
            <a:ext cx="1051560" cy="47548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0.158</a:t>
            </a:r>
            <a:endParaRPr lang="en-US" sz="1320" dirty="0"/>
          </a:p>
        </p:txBody>
      </p:sp>
      <p:sp>
        <p:nvSpPr>
          <p:cNvPr id="47" name="Shape 45"/>
          <p:cNvSpPr/>
          <p:nvPr/>
        </p:nvSpPr>
        <p:spPr>
          <a:xfrm>
            <a:off x="7132320" y="2752344"/>
            <a:ext cx="11430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7178040" y="2807208"/>
            <a:ext cx="1051560" cy="47548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0.325</a:t>
            </a:r>
            <a:endParaRPr lang="en-US" sz="1320" dirty="0"/>
          </a:p>
        </p:txBody>
      </p:sp>
      <p:sp>
        <p:nvSpPr>
          <p:cNvPr id="49" name="Shape 47"/>
          <p:cNvSpPr/>
          <p:nvPr/>
        </p:nvSpPr>
        <p:spPr>
          <a:xfrm>
            <a:off x="8732520" y="141732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Shape 48"/>
          <p:cNvSpPr/>
          <p:nvPr/>
        </p:nvSpPr>
        <p:spPr>
          <a:xfrm>
            <a:off x="8732520" y="1417320"/>
            <a:ext cx="73152" cy="123444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 txBox="1"/>
          <p:nvPr/>
        </p:nvSpPr>
        <p:spPr>
          <a:xfrm>
            <a:off x="8933688" y="1563624"/>
            <a:ext cx="215798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642"/>
                </a:solidFill>
                <a:latin typeface="Arial"/>
              </a:rPr>
              <a:t>Frame efficiency</a:t>
            </a:r>
          </a:p>
        </p:txBody>
      </p:sp>
      <p:sp>
        <p:nvSpPr>
          <p:cNvPr id="52" name="Text 50"/>
          <p:cNvSpPr txBox="1"/>
          <p:nvPr/>
        </p:nvSpPr>
        <p:spPr>
          <a:xfrm>
            <a:off x="8951976" y="1947672"/>
            <a:ext cx="2121408" cy="59436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At fixed T=200, V^(1) outperforms V^(0) at 8F and below.</a:t>
            </a:r>
            <a:endParaRPr lang="en-US" sz="13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Gains grow as the frame budget becomes tighter.</a:t>
            </a:r>
            <a:endParaRPr lang="en-US" sz="1380" dirty="0"/>
          </a:p>
        </p:txBody>
      </p:sp>
      <p:sp>
        <p:nvSpPr>
          <p:cNvPr id="53" name="Shape 51"/>
          <p:cNvSpPr/>
          <p:nvPr/>
        </p:nvSpPr>
        <p:spPr>
          <a:xfrm>
            <a:off x="8732520" y="288036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Shape 52"/>
          <p:cNvSpPr/>
          <p:nvPr/>
        </p:nvSpPr>
        <p:spPr>
          <a:xfrm>
            <a:off x="8732520" y="2880360"/>
            <a:ext cx="73152" cy="1234440"/>
          </a:xfrm>
          <a:prstGeom prst="rect">
            <a:avLst/>
          </a:prstGeom>
          <a:solidFill>
            <a:srgbClr val="2F6DA5"/>
          </a:solidFill>
          <a:ln w="12700">
            <a:solidFill>
              <a:srgbClr val="2F6DA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3"/>
          <p:cNvSpPr txBox="1"/>
          <p:nvPr/>
        </p:nvSpPr>
        <p:spPr>
          <a:xfrm>
            <a:off x="8933688" y="3026664"/>
            <a:ext cx="215798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642"/>
                </a:solidFill>
                <a:latin typeface="Arial"/>
              </a:rPr>
              <a:t>Token efficiency</a:t>
            </a:r>
          </a:p>
        </p:txBody>
      </p:sp>
      <p:sp>
        <p:nvSpPr>
          <p:cNvPr id="56" name="Text 54"/>
          <p:cNvSpPr txBox="1"/>
          <p:nvPr/>
        </p:nvSpPr>
        <p:spPr>
          <a:xfrm>
            <a:off x="8951976" y="3410712"/>
            <a:ext cx="2121408" cy="59436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At fixed F=8, V^(1) improves consistently but margins are smaller.</a:t>
            </a:r>
            <a:endParaRPr lang="en-US" sz="13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Spatial compression is a secondary factor relative to frame budget.</a:t>
            </a:r>
            <a:endParaRPr lang="en-US" sz="1380" dirty="0"/>
          </a:p>
        </p:txBody>
      </p:sp>
      <p:sp>
        <p:nvSpPr>
          <p:cNvPr id="57" name="Shape 55"/>
          <p:cNvSpPr/>
          <p:nvPr/>
        </p:nvSpPr>
        <p:spPr>
          <a:xfrm>
            <a:off x="777240" y="4343400"/>
            <a:ext cx="104241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Shape 56"/>
          <p:cNvSpPr/>
          <p:nvPr/>
        </p:nvSpPr>
        <p:spPr>
          <a:xfrm>
            <a:off x="777240" y="4343400"/>
            <a:ext cx="73152" cy="868680"/>
          </a:xfrm>
          <a:prstGeom prst="rect">
            <a:avLst/>
          </a:prstGeom>
          <a:solidFill>
            <a:srgbClr val="2F7D5C"/>
          </a:solidFill>
          <a:ln w="12700">
            <a:solidFill>
              <a:srgbClr val="2F7D5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ext 57"/>
          <p:cNvSpPr txBox="1"/>
          <p:nvPr/>
        </p:nvSpPr>
        <p:spPr>
          <a:xfrm>
            <a:off x="978408" y="4489704"/>
            <a:ext cx="1011326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642"/>
                </a:solidFill>
                <a:latin typeface="Arial"/>
              </a:rPr>
              <a:t>Study 2 takeaway</a:t>
            </a:r>
          </a:p>
        </p:txBody>
      </p:sp>
      <p:sp>
        <p:nvSpPr>
          <p:cNvPr id="60" name="Text 58"/>
          <p:cNvSpPr txBox="1"/>
          <p:nvPr/>
        </p:nvSpPr>
        <p:spPr>
          <a:xfrm>
            <a:off x="996696" y="4873752"/>
            <a:ext cx="10076688" cy="30175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MG-LVR reveals granularity-dependent observation.</a:t>
            </a:r>
            <a:endParaRPr lang="en-US" sz="160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VEterfall provides dense knowledge with sparse inference.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60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63" name="Text 61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 scaling is about allocating evidence, not simply maximizing frames.</a:t>
            </a:r>
            <a:endParaRPr lang="en-US" sz="1700" dirty="0"/>
          </a:p>
        </p:txBody>
      </p:sp>
      <p:sp>
        <p:nvSpPr>
          <p:cNvPr id="64" name="Rectangle 63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12365D"/>
          </a:solidFill>
          <a:ln w="12700">
            <a:solidFill>
              <a:srgbClr val="12365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3383280" y="0"/>
            <a:ext cx="880841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658368" y="1115568"/>
            <a:ext cx="2011680" cy="91440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148840"/>
            <a:ext cx="2331720" cy="100584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8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3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58368" y="3337560"/>
            <a:ext cx="2084832" cy="0"/>
          </a:xfrm>
          <a:prstGeom prst="line">
            <a:avLst/>
          </a:prstGeom>
          <a:noFill/>
          <a:ln w="2540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4069080" y="1143000"/>
            <a:ext cx="7223760" cy="105156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3800" b="1" i="0">
                <a:solidFill>
                  <a:srgbClr val="142642"/>
                </a:solidFill>
                <a:latin typeface="Arial"/>
              </a:rPr>
              <a:t>Search Scaling: GMP-GR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2514600"/>
            <a:ext cx="6858000" cy="118872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1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Addressing how learned retrieval signals scale to large candidate collections under serving constraints.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5440680"/>
            <a:ext cx="3657600" cy="34747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2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PhD Thesis Defense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3 · PRODUCTION CONTEXT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Search Scaling Turns Retrieval into Infrastructure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234440"/>
            <a:ext cx="681228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0" name="Image 0" descr="/mnt/data/pres_assets/slide33_img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29138"/>
            <a:ext cx="6665976" cy="144544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726680" y="1234440"/>
            <a:ext cx="34747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7726680" y="1234440"/>
            <a:ext cx="73152" cy="1325880"/>
          </a:xfrm>
          <a:prstGeom prst="rect">
            <a:avLst/>
          </a:prstGeom>
          <a:solidFill>
            <a:srgbClr val="2F6DA5"/>
          </a:solidFill>
          <a:ln w="12700">
            <a:solidFill>
              <a:srgbClr val="2F6DA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 txBox="1"/>
          <p:nvPr/>
        </p:nvSpPr>
        <p:spPr>
          <a:xfrm>
            <a:off x="7927848" y="1380744"/>
            <a:ext cx="316382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ecosystem</a:t>
            </a:r>
            <a:endParaRPr lang="en-US" sz="1630" dirty="0"/>
          </a:p>
        </p:txBody>
      </p:sp>
      <p:sp>
        <p:nvSpPr>
          <p:cNvPr id="14" name="Text 11"/>
          <p:cNvSpPr txBox="1"/>
          <p:nvPr/>
        </p:nvSpPr>
        <p:spPr>
          <a:xfrm>
            <a:off x="7946136" y="1764792"/>
            <a:ext cx="3127248" cy="68580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0" i="0">
                <a:solidFill>
                  <a:srgbClr val="1F2937"/>
                </a:solidFill>
                <a:latin typeface="Arial"/>
              </a:rPr>
              <a:t>• 20+ internet products: news feed, short video, search engine, online advertising, Tieba.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0" i="0">
                <a:solidFill>
                  <a:srgbClr val="1F2937"/>
                </a:solidFill>
                <a:latin typeface="Arial"/>
              </a:rPr>
              <a:t>• Hundreds of millions of users and production-scale request traffic.</a:t>
            </a:r>
          </a:p>
        </p:txBody>
      </p:sp>
      <p:sp>
        <p:nvSpPr>
          <p:cNvPr id="15" name="Shape 12"/>
          <p:cNvSpPr/>
          <p:nvPr/>
        </p:nvSpPr>
        <p:spPr>
          <a:xfrm>
            <a:off x="7726680" y="2788920"/>
            <a:ext cx="3474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7726680" y="2788920"/>
            <a:ext cx="73152" cy="150876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 txBox="1"/>
          <p:nvPr/>
        </p:nvSpPr>
        <p:spPr>
          <a:xfrm>
            <a:off x="7927848" y="2935224"/>
            <a:ext cx="316382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role</a:t>
            </a:r>
            <a:endParaRPr lang="en-US" sz="1630" dirty="0"/>
          </a:p>
        </p:txBody>
      </p:sp>
      <p:sp>
        <p:nvSpPr>
          <p:cNvPr id="18" name="Text 15"/>
          <p:cNvSpPr txBox="1"/>
          <p:nvPr/>
        </p:nvSpPr>
        <p:spPr>
          <a:xfrm>
            <a:off x="7946136" y="3319272"/>
            <a:ext cx="3127248" cy="8686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Reduce billion-item corpus to thousand-level candidates.</a:t>
            </a:r>
            <a:endParaRPr lang="en-US" sz="14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Ranking models then score a manageable set.</a:t>
            </a:r>
            <a:endParaRPr lang="en-US" sz="14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Retrieval errors cannot be fixed if relevant items never enter the candidate pool.</a:t>
            </a:r>
            <a:endParaRPr lang="en-US" sz="1480" dirty="0"/>
          </a:p>
        </p:txBody>
      </p:sp>
      <p:sp>
        <p:nvSpPr>
          <p:cNvPr id="19" name="Shape 16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this scale, retrieval quality directly determines downstream ranking quality and user engagement.</a:t>
            </a:r>
            <a:endParaRPr lang="en-US" sz="1700" dirty="0"/>
          </a:p>
        </p:txBody>
      </p:sp>
      <p:sp>
        <p:nvSpPr>
          <p:cNvPr id="22" name="Rectangle 21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3 · PIPELINE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Retrieval Must Reduce Billion-Scale Corpora Under Latency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141732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850392" y="1581912"/>
            <a:ext cx="278892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features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50392" y="1984248"/>
            <a:ext cx="2788920" cy="29260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user/item behavior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389120" y="141732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4553712" y="1581912"/>
            <a:ext cx="278892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projection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553712" y="1984248"/>
            <a:ext cx="2788920" cy="29260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vector space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92440" y="141732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8257032" y="1581912"/>
            <a:ext cx="278892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DNN metric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257032" y="1984248"/>
            <a:ext cx="2788920" cy="29260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relevance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85800" y="333756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3970">
            <a:solidFill>
              <a:srgbClr val="2F6D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50392" y="3502152"/>
            <a:ext cx="278892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HNSW item base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50392" y="3904488"/>
            <a:ext cx="2788920" cy="29260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index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389120" y="333756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3970">
            <a:solidFill>
              <a:srgbClr val="2F6D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4553712" y="3502152"/>
            <a:ext cx="278892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traversal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4553712" y="3904488"/>
            <a:ext cx="2788920" cy="29260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top-K candidates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092440" y="333756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3970">
            <a:solidFill>
              <a:srgbClr val="2F6D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8257032" y="3502152"/>
            <a:ext cx="278892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257032" y="3904488"/>
            <a:ext cx="2788920" cy="29260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feed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3840480" y="1920240"/>
            <a:ext cx="475488" cy="0"/>
          </a:xfrm>
          <a:prstGeom prst="line">
            <a:avLst/>
          </a:prstGeom>
          <a:noFill/>
          <a:ln w="19050">
            <a:solidFill>
              <a:srgbClr val="C89F53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7543800" y="1920240"/>
            <a:ext cx="475488" cy="0"/>
          </a:xfrm>
          <a:prstGeom prst="line">
            <a:avLst/>
          </a:prstGeom>
          <a:noFill/>
          <a:ln w="19050">
            <a:solidFill>
              <a:srgbClr val="C89F53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2240280" y="2468880"/>
            <a:ext cx="0" cy="594360"/>
          </a:xfrm>
          <a:prstGeom prst="line">
            <a:avLst/>
          </a:prstGeom>
          <a:noFill/>
          <a:ln w="19050">
            <a:solidFill>
              <a:srgbClr val="C89F53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5943600" y="2468880"/>
            <a:ext cx="0" cy="594360"/>
          </a:xfrm>
          <a:prstGeom prst="line">
            <a:avLst/>
          </a:prstGeom>
          <a:noFill/>
          <a:ln w="19050">
            <a:solidFill>
              <a:srgbClr val="C89F53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9646920" y="2468880"/>
            <a:ext cx="0" cy="594360"/>
          </a:xfrm>
          <a:prstGeom prst="line">
            <a:avLst/>
          </a:prstGeom>
          <a:noFill/>
          <a:ln w="19050">
            <a:solidFill>
              <a:srgbClr val="C89F53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3840480" y="3840480"/>
            <a:ext cx="475488" cy="0"/>
          </a:xfrm>
          <a:prstGeom prst="line">
            <a:avLst/>
          </a:prstGeom>
          <a:noFill/>
          <a:ln w="19050">
            <a:solidFill>
              <a:srgbClr val="2F6DA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7543800" y="3840480"/>
            <a:ext cx="475488" cy="0"/>
          </a:xfrm>
          <a:prstGeom prst="line">
            <a:avLst/>
          </a:prstGeom>
          <a:noFill/>
          <a:ln w="19050">
            <a:solidFill>
              <a:srgbClr val="2F6DA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868680" y="525780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868680" y="5257800"/>
            <a:ext cx="73152" cy="685800"/>
          </a:xfrm>
          <a:prstGeom prst="rect">
            <a:avLst/>
          </a:prstGeom>
          <a:solidFill>
            <a:srgbClr val="A94442"/>
          </a:solidFill>
          <a:ln w="12700">
            <a:solidFill>
              <a:srgbClr val="A9444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1069848" y="5404104"/>
            <a:ext cx="10570464" cy="45720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642"/>
                </a:solidFill>
                <a:latin typeface="Arial"/>
              </a:rPr>
              <a:t>Serving: metric + graph + GPU under latency</a:t>
            </a:r>
          </a:p>
        </p:txBody>
      </p:sp>
      <p:sp>
        <p:nvSpPr>
          <p:cNvPr id="37" name="Text 35"/>
          <p:cNvSpPr txBox="1"/>
          <p:nvPr/>
        </p:nvSpPr>
        <p:spPr>
          <a:xfrm>
            <a:off x="1088136" y="5788152"/>
            <a:ext cx="10533888" cy="292608"/>
          </a:xfrm>
          <a:prstGeom prst="rect">
            <a:avLst/>
          </a:prstGeom>
          <a:noFill/>
          <a:ln/>
        </p:spPr>
        <p:txBody>
          <a:bodyPr wrap="square" lIns="45720" tIns="27432" rIns="45720" bIns="27432" rtlCol="0" anchor="t">
            <a:noAutofit/>
          </a:bodyPr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scaling is an infrastructure problem: metric, graph, and hardware interact.</a:t>
            </a:r>
            <a:endParaRPr lang="en-US" sz="1700" dirty="0"/>
          </a:p>
        </p:txBody>
      </p:sp>
      <p:sp>
        <p:nvSpPr>
          <p:cNvPr id="41" name="Rectangle 40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3 · CHALLENGES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Production Search Has Metric, Graph, and GPU Bottlenecks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0352" y="1325880"/>
            <a:ext cx="3575304" cy="4434840"/>
          </a:xfrm>
          <a:prstGeom prst="roundRect">
            <a:avLst>
              <a:gd name="adj" fmla="val 2046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530352" y="1325880"/>
            <a:ext cx="73152" cy="443484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731520" y="1472184"/>
            <a:ext cx="3264408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Multi-behavior modeling</a:t>
            </a:r>
            <a:endParaRPr lang="en-US" sz="172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1856232"/>
            <a:ext cx="3227832" cy="379476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Click, dwell-time, skip, share, and engagement encode different semantics.</a:t>
            </a:r>
            <a:endParaRPr lang="en-US" sz="152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Independent metrics fail to capture inter-behavior dependencies.</a:t>
            </a:r>
            <a:endParaRPr lang="en-US" sz="152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Maintaining multiple metrics increases system update effort.</a:t>
            </a:r>
            <a:endParaRPr lang="en-US" sz="1520" dirty="0"/>
          </a:p>
        </p:txBody>
      </p:sp>
      <p:sp>
        <p:nvSpPr>
          <p:cNvPr id="13" name="Shape 11"/>
          <p:cNvSpPr/>
          <p:nvPr/>
        </p:nvSpPr>
        <p:spPr>
          <a:xfrm>
            <a:off x="4306824" y="1325880"/>
            <a:ext cx="3575304" cy="4434840"/>
          </a:xfrm>
          <a:prstGeom prst="roundRect">
            <a:avLst>
              <a:gd name="adj" fmla="val 2046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306824" y="1325880"/>
            <a:ext cx="73152" cy="4434840"/>
          </a:xfrm>
          <a:prstGeom prst="rect">
            <a:avLst/>
          </a:prstGeom>
          <a:solidFill>
            <a:srgbClr val="A94442"/>
          </a:solidFill>
          <a:ln w="12700">
            <a:solidFill>
              <a:srgbClr val="A9444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4507992" y="1472184"/>
            <a:ext cx="3264408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Metric-search mismatch</a:t>
            </a:r>
            <a:endParaRPr lang="en-US" sz="172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1856232"/>
            <a:ext cx="3227832" cy="379476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DNN metrics are expressive but non-Euclidean.</a:t>
            </a:r>
            <a:endParaRPr lang="en-US" sz="152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Triangle inequality violations make greedy HNSW traversal unreliable.</a:t>
            </a:r>
            <a:endParaRPr lang="en-US" sz="152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Relevant items can be missed due to local graph traps.</a:t>
            </a:r>
            <a:endParaRPr lang="en-US" sz="1520" dirty="0"/>
          </a:p>
        </p:txBody>
      </p:sp>
      <p:sp>
        <p:nvSpPr>
          <p:cNvPr id="17" name="Shape 15"/>
          <p:cNvSpPr/>
          <p:nvPr/>
        </p:nvSpPr>
        <p:spPr>
          <a:xfrm>
            <a:off x="8083296" y="1325880"/>
            <a:ext cx="3575304" cy="4434840"/>
          </a:xfrm>
          <a:prstGeom prst="roundRect">
            <a:avLst>
              <a:gd name="adj" fmla="val 2046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083296" y="1325880"/>
            <a:ext cx="73152" cy="4434840"/>
          </a:xfrm>
          <a:prstGeom prst="rect">
            <a:avLst/>
          </a:prstGeom>
          <a:solidFill>
            <a:srgbClr val="2F6DA5"/>
          </a:solidFill>
          <a:ln w="12700">
            <a:solidFill>
              <a:srgbClr val="2F6DA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284464" y="1472184"/>
            <a:ext cx="3264408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concurrency</a:t>
            </a:r>
            <a:endParaRPr lang="en-US" sz="1720" dirty="0"/>
          </a:p>
        </p:txBody>
      </p:sp>
      <p:sp>
        <p:nvSpPr>
          <p:cNvPr id="20" name="Text 18"/>
          <p:cNvSpPr txBox="1"/>
          <p:nvPr/>
        </p:nvSpPr>
        <p:spPr>
          <a:xfrm>
            <a:off x="8302752" y="1856232"/>
            <a:ext cx="3227832" cy="379476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Online graph traversal triggers many irregular neural computations.</a:t>
            </a:r>
            <a:endParaRPr lang="en-US" sz="152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Frequent small GPU kernel launches create fixed overhead.</a:t>
            </a:r>
            <a:endParaRPr lang="en-US" sz="152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Throughput becomes bounded by launch and batching inefficiency.</a:t>
            </a:r>
            <a:endParaRPr lang="en-US" sz="1520" dirty="0"/>
          </a:p>
        </p:txBody>
      </p:sp>
      <p:sp>
        <p:nvSpPr>
          <p:cNvPr id="21" name="Shape 19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GMP-GR addresses all three bottlenecks as one co-designed system.</a:t>
            </a:r>
            <a:endParaRPr lang="en-US" sz="1700" dirty="0"/>
          </a:p>
        </p:txBody>
      </p:sp>
      <p:sp>
        <p:nvSpPr>
          <p:cNvPr id="24" name="Rectangle 23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3 · METRIC–SEARCH TENSION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Expressive Neural Metrics Can Break Graph Traversal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32588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49808" y="1325880"/>
            <a:ext cx="73152" cy="182880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950976" y="1472184"/>
            <a:ext cx="485546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Triangle inequality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969264" y="1856232"/>
            <a:ext cx="4818888" cy="118872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 metric distance: d(a,c) ≤ d(a,b)+d(b,c).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This property supports greedy pruning in graph traversal.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Euclidean distance satisfies it by construction.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6217920" y="1325880"/>
            <a:ext cx="4983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217920" y="1325880"/>
            <a:ext cx="73152" cy="1828800"/>
          </a:xfrm>
          <a:prstGeom prst="rect">
            <a:avLst/>
          </a:prstGeom>
          <a:solidFill>
            <a:srgbClr val="A94442"/>
          </a:solidFill>
          <a:ln w="12700">
            <a:solidFill>
              <a:srgbClr val="A9444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6419088" y="1472184"/>
            <a:ext cx="467258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DNN metric violation</a:t>
            </a:r>
            <a:endParaRPr lang="en-US" sz="1750" dirty="0"/>
          </a:p>
        </p:txBody>
      </p:sp>
      <p:sp>
        <p:nvSpPr>
          <p:cNvPr id="16" name="Text 14"/>
          <p:cNvSpPr txBox="1"/>
          <p:nvPr/>
        </p:nvSpPr>
        <p:spPr>
          <a:xfrm>
            <a:off x="6437376" y="1856232"/>
            <a:ext cx="4636008" cy="118872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Neural relevance functions learn nonlinear scoring surfaces.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Random triplets in production can violate metric regularity.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Violation makes graph shortcuts unreliable.</a:t>
            </a:r>
            <a:endParaRPr lang="en-US" sz="1580" dirty="0"/>
          </a:p>
        </p:txBody>
      </p:sp>
      <p:sp>
        <p:nvSpPr>
          <p:cNvPr id="17" name="Shape 15"/>
          <p:cNvSpPr/>
          <p:nvPr/>
        </p:nvSpPr>
        <p:spPr>
          <a:xfrm>
            <a:off x="749808" y="3611880"/>
            <a:ext cx="1045159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49808" y="3611880"/>
            <a:ext cx="73152" cy="1417320"/>
          </a:xfrm>
          <a:prstGeom prst="rect">
            <a:avLst/>
          </a:prstGeom>
          <a:solidFill>
            <a:srgbClr val="2F6DA5"/>
          </a:solidFill>
          <a:ln w="12700">
            <a:solidFill>
              <a:srgbClr val="2F6DA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950976" y="3758184"/>
            <a:ext cx="10140696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consequence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69264" y="4142232"/>
            <a:ext cx="10104120" cy="77724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HNSW assumes moving to a closer neighbor is a safe path.</a:t>
            </a:r>
            <a:endParaRPr lang="en-US" sz="160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With non-metric DNN scores, greedy traversal can enter local subgraphs.</a:t>
            </a:r>
            <a:endParaRPr lang="en-US" sz="160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At billion scale, missed relevant items become a candidate-generation failure.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 is not to abandon DNN metrics or graph search, but to make the metric graph-compatible.</a:t>
            </a:r>
            <a:endParaRPr lang="en-US" sz="1700" dirty="0"/>
          </a:p>
        </p:txBody>
      </p:sp>
      <p:sp>
        <p:nvSpPr>
          <p:cNvPr id="24" name="Rectangle 23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3 · GMP-GR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GMP-GR Co-designs Metric, Graph Search, and GPU Execution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234440"/>
            <a:ext cx="73152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0" name="Image 0" descr="/mnt/data/pres_assets/slide35_img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05473"/>
            <a:ext cx="7168896" cy="2784213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183880" y="1234440"/>
            <a:ext cx="303580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8183880" y="1234440"/>
            <a:ext cx="73152" cy="132588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 txBox="1"/>
          <p:nvPr/>
        </p:nvSpPr>
        <p:spPr>
          <a:xfrm>
            <a:off x="8385048" y="1380744"/>
            <a:ext cx="2724912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MUIRML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403336" y="1764792"/>
            <a:ext cx="2688336" cy="68580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Multi-relational user-item metric learning.</a:t>
            </a:r>
            <a:endParaRPr lang="en-US" sz="142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DNN relevance + Euclidean-compatible distance regularity.</a:t>
            </a:r>
            <a:endParaRPr lang="en-US" sz="142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Self-Covariant Loss aligns ranking regularity.</a:t>
            </a:r>
            <a:endParaRPr lang="en-US" sz="1420" dirty="0"/>
          </a:p>
        </p:txBody>
      </p:sp>
      <p:sp>
        <p:nvSpPr>
          <p:cNvPr id="15" name="Shape 12"/>
          <p:cNvSpPr/>
          <p:nvPr/>
        </p:nvSpPr>
        <p:spPr>
          <a:xfrm>
            <a:off x="8183880" y="2788920"/>
            <a:ext cx="303580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8183880" y="2788920"/>
            <a:ext cx="73152" cy="1143000"/>
          </a:xfrm>
          <a:prstGeom prst="rect">
            <a:avLst/>
          </a:prstGeom>
          <a:solidFill>
            <a:srgbClr val="2F6DA5"/>
          </a:solidFill>
          <a:ln w="12700">
            <a:solidFill>
              <a:srgbClr val="2F6DA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 txBox="1"/>
          <p:nvPr/>
        </p:nvSpPr>
        <p:spPr>
          <a:xfrm>
            <a:off x="8385048" y="2935224"/>
            <a:ext cx="2724912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HiPANNS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403336" y="3319272"/>
            <a:ext cx="2688336" cy="50292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C-HiPANNS: inter-candidate parallel graph traversal.</a:t>
            </a:r>
            <a:endParaRPr lang="en-US" sz="142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Q-HiPANNS: inter-query GPU batching and adaptive slicing.</a:t>
            </a:r>
            <a:endParaRPr lang="en-US" sz="1420" dirty="0"/>
          </a:p>
        </p:txBody>
      </p:sp>
      <p:sp>
        <p:nvSpPr>
          <p:cNvPr id="19" name="Shape 16"/>
          <p:cNvSpPr/>
          <p:nvPr/>
        </p:nvSpPr>
        <p:spPr>
          <a:xfrm>
            <a:off x="8183880" y="4160520"/>
            <a:ext cx="3035808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8183880" y="4160520"/>
            <a:ext cx="73152" cy="777240"/>
          </a:xfrm>
          <a:prstGeom prst="rect">
            <a:avLst/>
          </a:prstGeom>
          <a:solidFill>
            <a:srgbClr val="2F7D5C"/>
          </a:solidFill>
          <a:ln w="12700">
            <a:solidFill>
              <a:srgbClr val="2F7D5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 txBox="1"/>
          <p:nvPr/>
        </p:nvSpPr>
        <p:spPr>
          <a:xfrm>
            <a:off x="8385048" y="4306824"/>
            <a:ext cx="2724912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layer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403336" y="4690872"/>
            <a:ext cx="2688336" cy="13716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Traffic dispersal, compilation, FP16 quantization, timely stream update.</a:t>
            </a:r>
            <a:endParaRPr lang="en-US" sz="1420" dirty="0"/>
          </a:p>
        </p:txBody>
      </p:sp>
      <p:sp>
        <p:nvSpPr>
          <p:cNvPr id="23" name="Shape 20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MUIRML creates a metric HiPANNS can traverse efficiently; HiPANNS executes it at production throughput.</a:t>
            </a:r>
            <a:endParaRPr lang="en-US" sz="1700" dirty="0"/>
          </a:p>
        </p:txBody>
      </p:sp>
      <p:sp>
        <p:nvSpPr>
          <p:cNvPr id="26" name="Rectangle 25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3 · MUIRML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MUIRML Learns Accurate and Searchable Relevance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32588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49808" y="1325880"/>
            <a:ext cx="73152" cy="1965960"/>
          </a:xfrm>
          <a:prstGeom prst="rect">
            <a:avLst/>
          </a:prstGeom>
          <a:solidFill>
            <a:srgbClr val="2F6DA5"/>
          </a:solidFill>
          <a:ln w="12700">
            <a:solidFill>
              <a:srgbClr val="2F6DA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950976" y="1472184"/>
            <a:ext cx="485546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behavior signals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969264" y="1856232"/>
            <a:ext cx="4818888" cy="1325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Click, browse, dwell-time, skip, share, and engagement.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serendipity vector h̃~N(0,1) supports exploration and diversity.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 and item embeddings are combined through an MLP.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6217920" y="1325880"/>
            <a:ext cx="49834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217920" y="1325880"/>
            <a:ext cx="73152" cy="196596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6419088" y="1472184"/>
            <a:ext cx="467258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objectives</a:t>
            </a:r>
            <a:endParaRPr lang="en-US" sz="1750" dirty="0"/>
          </a:p>
        </p:txBody>
      </p:sp>
      <p:sp>
        <p:nvSpPr>
          <p:cNvPr id="16" name="Text 14"/>
          <p:cNvSpPr txBox="1"/>
          <p:nvPr/>
        </p:nvSpPr>
        <p:spPr>
          <a:xfrm>
            <a:off x="6437376" y="1856232"/>
            <a:ext cx="4636008" cy="1325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Prediction loss minimizes relevance estimation error.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Self-Covariant Loss maximizes metric regularity.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combined loss learns accurate and searchable embeddings.</a:t>
            </a:r>
            <a:endParaRPr lang="en-US" sz="1580" dirty="0"/>
          </a:p>
        </p:txBody>
      </p:sp>
      <p:sp>
        <p:nvSpPr>
          <p:cNvPr id="17" name="Shape 15"/>
          <p:cNvSpPr/>
          <p:nvPr/>
        </p:nvSpPr>
        <p:spPr>
          <a:xfrm>
            <a:off x="749808" y="3840480"/>
            <a:ext cx="1045159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49808" y="3840480"/>
            <a:ext cx="73152" cy="1097280"/>
          </a:xfrm>
          <a:prstGeom prst="rect">
            <a:avLst/>
          </a:prstGeom>
          <a:solidFill>
            <a:srgbClr val="2F7D5C"/>
          </a:solidFill>
          <a:ln w="12700">
            <a:solidFill>
              <a:srgbClr val="2F7D5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950976" y="3986784"/>
            <a:ext cx="10140696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multi-relational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69264" y="4370832"/>
            <a:ext cx="10104120" cy="53035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 behaviors are not independent.</a:t>
            </a:r>
            <a:endParaRPr lang="en-US" sz="162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Joint modeling captures cross-behavior semantics without maintaining many behavior-specific metrics.</a:t>
            </a:r>
            <a:endParaRPr lang="en-US" sz="1620" dirty="0"/>
          </a:p>
        </p:txBody>
      </p:sp>
      <p:sp>
        <p:nvSpPr>
          <p:cNvPr id="21" name="Shape 19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MUIRML turns multiple engagement signals into one graph-compatible retrieval metric.</a:t>
            </a:r>
            <a:endParaRPr lang="en-US" sz="1700" dirty="0"/>
          </a:p>
        </p:txBody>
      </p:sp>
      <p:sp>
        <p:nvSpPr>
          <p:cNvPr id="24" name="Rectangle 23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3 · SCL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SCL Aligns Ranking Regularity, Not Raw Scores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325880"/>
            <a:ext cx="51663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49808" y="1325880"/>
            <a:ext cx="73152" cy="1737360"/>
          </a:xfrm>
          <a:prstGeom prst="rect">
            <a:avLst/>
          </a:prstGeom>
          <a:solidFill>
            <a:srgbClr val="A94442"/>
          </a:solidFill>
          <a:ln w="12700">
            <a:solidFill>
              <a:srgbClr val="A9444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950976" y="1472184"/>
            <a:ext cx="485546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SCL does NOT do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969264" y="1856232"/>
            <a:ext cx="4818888" cy="10972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 does not force DNN scores to equal Euclidean distances.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 does not remove neural expressiveness.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 is a soft regularization, not a hard constraint.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6217920" y="1325880"/>
            <a:ext cx="49834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217920" y="1325880"/>
            <a:ext cx="73152" cy="173736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6419088" y="1472184"/>
            <a:ext cx="467258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SCL does</a:t>
            </a:r>
            <a:endParaRPr lang="en-US" sz="1750" dirty="0"/>
          </a:p>
        </p:txBody>
      </p:sp>
      <p:sp>
        <p:nvSpPr>
          <p:cNvPr id="16" name="Text 14"/>
          <p:cNvSpPr txBox="1"/>
          <p:nvPr/>
        </p:nvSpPr>
        <p:spPr>
          <a:xfrm>
            <a:off x="6437376" y="1856232"/>
            <a:ext cx="4636008" cy="10972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 aligns the ranking order induced by DNN relevance with the order induced by Euclidean distance.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Maximizing covariance correlation ρ makes graph navigation paths shorter and more reliable.</a:t>
            </a:r>
            <a:endParaRPr lang="en-US" sz="1580" dirty="0"/>
          </a:p>
        </p:txBody>
      </p:sp>
      <p:sp>
        <p:nvSpPr>
          <p:cNvPr id="17" name="Shape 15"/>
          <p:cNvSpPr/>
          <p:nvPr/>
        </p:nvSpPr>
        <p:spPr>
          <a:xfrm>
            <a:off x="960120" y="3520440"/>
            <a:ext cx="10058400" cy="777240"/>
          </a:xfrm>
          <a:prstGeom prst="roundRect">
            <a:avLst>
              <a:gd name="adj" fmla="val 9412"/>
            </a:avLst>
          </a:prstGeom>
          <a:solidFill>
            <a:srgbClr val="FFF7E6"/>
          </a:solidFill>
          <a:ln w="1524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1188720" y="3666744"/>
            <a:ext cx="9601200" cy="5577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SCL transfers the navigability of Euclidean space into an expressive neural metric space.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60120" y="4572000"/>
            <a:ext cx="10058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960120" y="4572000"/>
            <a:ext cx="73152" cy="868680"/>
          </a:xfrm>
          <a:prstGeom prst="rect">
            <a:avLst/>
          </a:prstGeom>
          <a:solidFill>
            <a:srgbClr val="2F6DA5"/>
          </a:solidFill>
          <a:ln w="12700">
            <a:solidFill>
              <a:srgbClr val="2F6DA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1161288" y="4718304"/>
            <a:ext cx="974750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intuition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179576" y="5102352"/>
            <a:ext cx="9710928" cy="30175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 = prediction_loss + Σ 1/(ρ+1).</a:t>
            </a:r>
            <a:endParaRPr lang="en-US" sz="155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Higher ρ means DNN and Euclidean rankings agree more.</a:t>
            </a:r>
            <a:endParaRPr lang="en-US" sz="155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Agreement reduces pathological graph traversal cases.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SCL is the bridge between relevance accuracy and graph-search efficiency.</a:t>
            </a:r>
            <a:endParaRPr lang="en-US" sz="1700" dirty="0"/>
          </a:p>
        </p:txBody>
      </p:sp>
      <p:sp>
        <p:nvSpPr>
          <p:cNvPr id="26" name="Rectangle 25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3 · C-HIPANNS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C-HiPANNS Broadens Graph Search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32588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49808" y="1325880"/>
            <a:ext cx="73152" cy="1828800"/>
          </a:xfrm>
          <a:prstGeom prst="rect">
            <a:avLst/>
          </a:prstGeom>
          <a:solidFill>
            <a:srgbClr val="A94442"/>
          </a:solidFill>
          <a:ln w="12700">
            <a:solidFill>
              <a:srgbClr val="A9444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950976" y="1472184"/>
            <a:ext cx="485546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HNSW issue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969264" y="1856232"/>
            <a:ext cx="4818888" cy="118872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Greedy traversal follows a small set of promising nodes.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With imperfect metric regularity, one path can get trapped.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Increasing depth alone is expensive.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6217920" y="1325880"/>
            <a:ext cx="4983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217920" y="1325880"/>
            <a:ext cx="73152" cy="1828800"/>
          </a:xfrm>
          <a:prstGeom prst="rect">
            <a:avLst/>
          </a:prstGeom>
          <a:solidFill>
            <a:srgbClr val="2F6DA5"/>
          </a:solidFill>
          <a:ln w="12700">
            <a:solidFill>
              <a:srgbClr val="2F6DA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6419088" y="1472184"/>
            <a:ext cx="467258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C-HiPANNS strategy</a:t>
            </a:r>
            <a:endParaRPr lang="en-US" sz="1750" dirty="0"/>
          </a:p>
        </p:txBody>
      </p:sp>
      <p:sp>
        <p:nvSpPr>
          <p:cNvPr id="16" name="Text 14"/>
          <p:cNvSpPr txBox="1"/>
          <p:nvPr/>
        </p:nvSpPr>
        <p:spPr>
          <a:xfrm>
            <a:off x="6437376" y="1856232"/>
            <a:ext cx="4636008" cy="118872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Launch k parallel search processes with different seeds.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Each process explores different neighbor regions.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shared max heap Φu maintains top candidates across processes.</a:t>
            </a:r>
            <a:endParaRPr lang="en-US" sz="1580" dirty="0"/>
          </a:p>
        </p:txBody>
      </p:sp>
      <p:sp>
        <p:nvSpPr>
          <p:cNvPr id="17" name="Shape 15"/>
          <p:cNvSpPr/>
          <p:nvPr/>
        </p:nvSpPr>
        <p:spPr>
          <a:xfrm>
            <a:off x="749808" y="3611880"/>
            <a:ext cx="1045159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49808" y="3611880"/>
            <a:ext cx="73152" cy="1417320"/>
          </a:xfrm>
          <a:prstGeom prst="rect">
            <a:avLst/>
          </a:prstGeom>
          <a:solidFill>
            <a:srgbClr val="2F7D5C"/>
          </a:solidFill>
          <a:ln w="12700">
            <a:solidFill>
              <a:srgbClr val="2F7D5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950976" y="3758184"/>
            <a:ext cx="10140696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69264" y="4142232"/>
            <a:ext cx="10104120" cy="77724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k-fold search-space expansion at each layer.</a:t>
            </a:r>
            <a:endParaRPr lang="en-US" sz="160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Higher recall at the same traversal depth.</a:t>
            </a:r>
            <a:endParaRPr lang="en-US" sz="160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Works especially well after MUIRML improves metric regularity.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C-HiPANNS improves candidate quality by reducing path dependence in graph traversal.</a:t>
            </a:r>
            <a:endParaRPr lang="en-US" sz="1700" dirty="0"/>
          </a:p>
        </p:txBody>
      </p:sp>
      <p:sp>
        <p:nvSpPr>
          <p:cNvPr id="24" name="Rectangle 23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3 · Q-HIPANNS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Q-HiPANNS Improves GPU Throughput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32588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49808" y="1325880"/>
            <a:ext cx="73152" cy="1828800"/>
          </a:xfrm>
          <a:prstGeom prst="rect">
            <a:avLst/>
          </a:prstGeom>
          <a:solidFill>
            <a:srgbClr val="A94442"/>
          </a:solidFill>
          <a:ln w="12700">
            <a:solidFill>
              <a:srgbClr val="A9444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950976" y="1472184"/>
            <a:ext cx="485546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Concurrency problem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969264" y="1856232"/>
            <a:ext cx="4818888" cy="118872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Graph traversal produces irregular neural computation requests.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Each request can be small and divergent in shape.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Naive execution creates frequent GPU kernel launches.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6217920" y="1325880"/>
            <a:ext cx="4983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217920" y="1325880"/>
            <a:ext cx="73152" cy="1828800"/>
          </a:xfrm>
          <a:prstGeom prst="rect">
            <a:avLst/>
          </a:prstGeom>
          <a:solidFill>
            <a:srgbClr val="2F6DA5"/>
          </a:solidFill>
          <a:ln w="12700">
            <a:solidFill>
              <a:srgbClr val="2F6DA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6419088" y="1472184"/>
            <a:ext cx="467258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batching</a:t>
            </a:r>
            <a:endParaRPr lang="en-US" sz="1750" dirty="0"/>
          </a:p>
        </p:txBody>
      </p:sp>
      <p:sp>
        <p:nvSpPr>
          <p:cNvPr id="16" name="Text 14"/>
          <p:cNvSpPr txBox="1"/>
          <p:nvPr/>
        </p:nvSpPr>
        <p:spPr>
          <a:xfrm>
            <a:off x="6437376" y="1856232"/>
            <a:ext cx="4636008" cy="118872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Queue Ψ listens for computation requests from C-HiPANNS.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Requests are aggregated into GPU-ready batches.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Oversized batches are sliced according to remaining GPU capacity.</a:t>
            </a:r>
            <a:endParaRPr lang="en-US" sz="1580" dirty="0"/>
          </a:p>
        </p:txBody>
      </p:sp>
      <p:sp>
        <p:nvSpPr>
          <p:cNvPr id="17" name="Shape 15"/>
          <p:cNvSpPr/>
          <p:nvPr/>
        </p:nvSpPr>
        <p:spPr>
          <a:xfrm>
            <a:off x="749808" y="3611880"/>
            <a:ext cx="1045159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49808" y="3611880"/>
            <a:ext cx="73152" cy="1417320"/>
          </a:xfrm>
          <a:prstGeom prst="rect">
            <a:avLst/>
          </a:prstGeom>
          <a:solidFill>
            <a:srgbClr val="2F7D5C"/>
          </a:solidFill>
          <a:ln w="12700">
            <a:solidFill>
              <a:srgbClr val="2F7D5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950976" y="3758184"/>
            <a:ext cx="10140696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69264" y="4142232"/>
            <a:ext cx="10104120" cy="77724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Reduces fixed launch overhead under high concurrency.</a:t>
            </a:r>
            <a:endParaRPr lang="en-US" sz="160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Improves throughput without changing per-query retrieval semantics.</a:t>
            </a:r>
            <a:endParaRPr lang="en-US" sz="160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Complements C-HiPANNS: one improves recall, one improves throughput.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Q-HiPANNS turns irregular neural graph traversal into efficient batched GPU execution.</a:t>
            </a:r>
            <a:endParaRPr lang="en-US" sz="1700" dirty="0"/>
          </a:p>
        </p:txBody>
      </p:sp>
      <p:sp>
        <p:nvSpPr>
          <p:cNvPr id="24" name="Rectangle 23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3 · OFFLINE RESULTS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GMP-GR Improves Coverage, Recall, and Speed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1325880"/>
            <a:ext cx="146304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722376" y="1399032"/>
            <a:ext cx="138988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148840" y="1325880"/>
            <a:ext cx="118872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2185416" y="1399032"/>
            <a:ext cx="111556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Cov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337560" y="1325880"/>
            <a:ext cx="118872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3374136" y="1399032"/>
            <a:ext cx="111556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R@10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26280" y="1325880"/>
            <a:ext cx="118872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4562856" y="1399032"/>
            <a:ext cx="111556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MVideo Cov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715000" y="1325880"/>
            <a:ext cx="118872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5751576" y="1399032"/>
            <a:ext cx="111556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Cov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903720" y="1325880"/>
            <a:ext cx="118872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6940296" y="1399032"/>
            <a:ext cx="111556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Cov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5800" y="1673352"/>
            <a:ext cx="1463040" cy="518922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731520" y="1728216"/>
            <a:ext cx="1371600" cy="50063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C-NSW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2148840" y="1673352"/>
            <a:ext cx="1188720" cy="518922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2194560" y="1728216"/>
            <a:ext cx="1097280" cy="50063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0.339</a:t>
            </a:r>
            <a:endParaRPr lang="en-US" sz="1320" dirty="0"/>
          </a:p>
        </p:txBody>
      </p:sp>
      <p:sp>
        <p:nvSpPr>
          <p:cNvPr id="25" name="Shape 23"/>
          <p:cNvSpPr/>
          <p:nvPr/>
        </p:nvSpPr>
        <p:spPr>
          <a:xfrm>
            <a:off x="3337560" y="1673352"/>
            <a:ext cx="1188720" cy="518922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3383280" y="1728216"/>
            <a:ext cx="1097280" cy="50063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0.383</a:t>
            </a:r>
            <a:endParaRPr lang="en-US" sz="1320" dirty="0"/>
          </a:p>
        </p:txBody>
      </p:sp>
      <p:sp>
        <p:nvSpPr>
          <p:cNvPr id="27" name="Shape 25"/>
          <p:cNvSpPr/>
          <p:nvPr/>
        </p:nvSpPr>
        <p:spPr>
          <a:xfrm>
            <a:off x="4526280" y="1673352"/>
            <a:ext cx="1188720" cy="518922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4572000" y="1728216"/>
            <a:ext cx="1097280" cy="50063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0.298</a:t>
            </a:r>
            <a:endParaRPr lang="en-US" sz="1320" dirty="0"/>
          </a:p>
        </p:txBody>
      </p:sp>
      <p:sp>
        <p:nvSpPr>
          <p:cNvPr id="29" name="Shape 27"/>
          <p:cNvSpPr/>
          <p:nvPr/>
        </p:nvSpPr>
        <p:spPr>
          <a:xfrm>
            <a:off x="5715000" y="1673352"/>
            <a:ext cx="1188720" cy="518922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5760720" y="1728216"/>
            <a:ext cx="1097280" cy="50063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0.329</a:t>
            </a:r>
            <a:endParaRPr lang="en-US" sz="1320" dirty="0"/>
          </a:p>
        </p:txBody>
      </p:sp>
      <p:sp>
        <p:nvSpPr>
          <p:cNvPr id="31" name="Shape 29"/>
          <p:cNvSpPr/>
          <p:nvPr/>
        </p:nvSpPr>
        <p:spPr>
          <a:xfrm>
            <a:off x="6903720" y="1673352"/>
            <a:ext cx="1188720" cy="518922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6949440" y="1728216"/>
            <a:ext cx="1097280" cy="50063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0.401</a:t>
            </a:r>
            <a:endParaRPr lang="en-US" sz="1320" dirty="0"/>
          </a:p>
        </p:txBody>
      </p:sp>
      <p:sp>
        <p:nvSpPr>
          <p:cNvPr id="33" name="Shape 31"/>
          <p:cNvSpPr/>
          <p:nvPr/>
        </p:nvSpPr>
        <p:spPr>
          <a:xfrm>
            <a:off x="685800" y="2192274"/>
            <a:ext cx="1463040" cy="518922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 txBox="1"/>
          <p:nvPr/>
        </p:nvSpPr>
        <p:spPr>
          <a:xfrm>
            <a:off x="731520" y="2247138"/>
            <a:ext cx="1371600" cy="50063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SL2G</a:t>
            </a:r>
            <a:endParaRPr lang="en-US" sz="1320" dirty="0"/>
          </a:p>
        </p:txBody>
      </p:sp>
      <p:sp>
        <p:nvSpPr>
          <p:cNvPr id="35" name="Shape 33"/>
          <p:cNvSpPr/>
          <p:nvPr/>
        </p:nvSpPr>
        <p:spPr>
          <a:xfrm>
            <a:off x="2148840" y="2192274"/>
            <a:ext cx="1188720" cy="518922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2194560" y="2247138"/>
            <a:ext cx="1097280" cy="50063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0.441</a:t>
            </a:r>
            <a:endParaRPr lang="en-US" sz="1320" dirty="0"/>
          </a:p>
        </p:txBody>
      </p:sp>
      <p:sp>
        <p:nvSpPr>
          <p:cNvPr id="37" name="Shape 35"/>
          <p:cNvSpPr/>
          <p:nvPr/>
        </p:nvSpPr>
        <p:spPr>
          <a:xfrm>
            <a:off x="3337560" y="2192274"/>
            <a:ext cx="1188720" cy="518922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3383280" y="2247138"/>
            <a:ext cx="1097280" cy="50063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0.578</a:t>
            </a:r>
            <a:endParaRPr lang="en-US" sz="1320" dirty="0"/>
          </a:p>
        </p:txBody>
      </p:sp>
      <p:sp>
        <p:nvSpPr>
          <p:cNvPr id="39" name="Shape 37"/>
          <p:cNvSpPr/>
          <p:nvPr/>
        </p:nvSpPr>
        <p:spPr>
          <a:xfrm>
            <a:off x="4526280" y="2192274"/>
            <a:ext cx="1188720" cy="518922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 txBox="1"/>
          <p:nvPr/>
        </p:nvSpPr>
        <p:spPr>
          <a:xfrm>
            <a:off x="4572000" y="2247138"/>
            <a:ext cx="1097280" cy="50063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0.412</a:t>
            </a:r>
            <a:endParaRPr lang="en-US" sz="1320" dirty="0"/>
          </a:p>
        </p:txBody>
      </p:sp>
      <p:sp>
        <p:nvSpPr>
          <p:cNvPr id="41" name="Shape 39"/>
          <p:cNvSpPr/>
          <p:nvPr/>
        </p:nvSpPr>
        <p:spPr>
          <a:xfrm>
            <a:off x="5715000" y="2192274"/>
            <a:ext cx="1188720" cy="518922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 txBox="1"/>
          <p:nvPr/>
        </p:nvSpPr>
        <p:spPr>
          <a:xfrm>
            <a:off x="5760720" y="2247138"/>
            <a:ext cx="1097280" cy="50063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0.408</a:t>
            </a:r>
            <a:endParaRPr lang="en-US" sz="1320" dirty="0"/>
          </a:p>
        </p:txBody>
      </p:sp>
      <p:sp>
        <p:nvSpPr>
          <p:cNvPr id="43" name="Shape 41"/>
          <p:cNvSpPr/>
          <p:nvPr/>
        </p:nvSpPr>
        <p:spPr>
          <a:xfrm>
            <a:off x="6903720" y="2192274"/>
            <a:ext cx="1188720" cy="518922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 txBox="1"/>
          <p:nvPr/>
        </p:nvSpPr>
        <p:spPr>
          <a:xfrm>
            <a:off x="6949440" y="2247138"/>
            <a:ext cx="1097280" cy="50063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0.490</a:t>
            </a:r>
            <a:endParaRPr lang="en-US" sz="1320" dirty="0"/>
          </a:p>
        </p:txBody>
      </p:sp>
      <p:sp>
        <p:nvSpPr>
          <p:cNvPr id="45" name="Shape 43"/>
          <p:cNvSpPr/>
          <p:nvPr/>
        </p:nvSpPr>
        <p:spPr>
          <a:xfrm>
            <a:off x="685800" y="2711196"/>
            <a:ext cx="1463040" cy="518922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 txBox="1"/>
          <p:nvPr/>
        </p:nvSpPr>
        <p:spPr>
          <a:xfrm>
            <a:off x="731520" y="2766060"/>
            <a:ext cx="1371600" cy="50063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NANN</a:t>
            </a:r>
            <a:endParaRPr lang="en-US" sz="1320" dirty="0"/>
          </a:p>
        </p:txBody>
      </p:sp>
      <p:sp>
        <p:nvSpPr>
          <p:cNvPr id="47" name="Shape 45"/>
          <p:cNvSpPr/>
          <p:nvPr/>
        </p:nvSpPr>
        <p:spPr>
          <a:xfrm>
            <a:off x="2148840" y="2711196"/>
            <a:ext cx="1188720" cy="518922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2194560" y="2766060"/>
            <a:ext cx="1097280" cy="50063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0.537</a:t>
            </a:r>
            <a:endParaRPr lang="en-US" sz="1320" dirty="0"/>
          </a:p>
        </p:txBody>
      </p:sp>
      <p:sp>
        <p:nvSpPr>
          <p:cNvPr id="49" name="Shape 47"/>
          <p:cNvSpPr/>
          <p:nvPr/>
        </p:nvSpPr>
        <p:spPr>
          <a:xfrm>
            <a:off x="3337560" y="2711196"/>
            <a:ext cx="1188720" cy="518922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 txBox="1"/>
          <p:nvPr/>
        </p:nvSpPr>
        <p:spPr>
          <a:xfrm>
            <a:off x="3383280" y="2766060"/>
            <a:ext cx="1097280" cy="50063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0.672</a:t>
            </a:r>
            <a:endParaRPr lang="en-US" sz="1320" dirty="0"/>
          </a:p>
        </p:txBody>
      </p:sp>
      <p:sp>
        <p:nvSpPr>
          <p:cNvPr id="51" name="Shape 49"/>
          <p:cNvSpPr/>
          <p:nvPr/>
        </p:nvSpPr>
        <p:spPr>
          <a:xfrm>
            <a:off x="4526280" y="2711196"/>
            <a:ext cx="1188720" cy="518922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 txBox="1"/>
          <p:nvPr/>
        </p:nvSpPr>
        <p:spPr>
          <a:xfrm>
            <a:off x="4572000" y="2766060"/>
            <a:ext cx="1097280" cy="50063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0.515</a:t>
            </a:r>
            <a:endParaRPr lang="en-US" sz="1320" dirty="0"/>
          </a:p>
        </p:txBody>
      </p:sp>
      <p:sp>
        <p:nvSpPr>
          <p:cNvPr id="53" name="Shape 51"/>
          <p:cNvSpPr/>
          <p:nvPr/>
        </p:nvSpPr>
        <p:spPr>
          <a:xfrm>
            <a:off x="5715000" y="2711196"/>
            <a:ext cx="1188720" cy="518922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 txBox="1"/>
          <p:nvPr/>
        </p:nvSpPr>
        <p:spPr>
          <a:xfrm>
            <a:off x="5760720" y="2766060"/>
            <a:ext cx="1097280" cy="50063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0.503</a:t>
            </a:r>
            <a:endParaRPr lang="en-US" sz="1320" dirty="0"/>
          </a:p>
        </p:txBody>
      </p:sp>
      <p:sp>
        <p:nvSpPr>
          <p:cNvPr id="55" name="Shape 53"/>
          <p:cNvSpPr/>
          <p:nvPr/>
        </p:nvSpPr>
        <p:spPr>
          <a:xfrm>
            <a:off x="6903720" y="2711196"/>
            <a:ext cx="1188720" cy="518922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 txBox="1"/>
          <p:nvPr/>
        </p:nvSpPr>
        <p:spPr>
          <a:xfrm>
            <a:off x="6949440" y="2766060"/>
            <a:ext cx="1097280" cy="50063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0.581</a:t>
            </a:r>
            <a:endParaRPr lang="en-US" sz="1320" dirty="0"/>
          </a:p>
        </p:txBody>
      </p:sp>
      <p:sp>
        <p:nvSpPr>
          <p:cNvPr id="57" name="Shape 55"/>
          <p:cNvSpPr/>
          <p:nvPr/>
        </p:nvSpPr>
        <p:spPr>
          <a:xfrm>
            <a:off x="685800" y="3230118"/>
            <a:ext cx="1463040" cy="518922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 txBox="1"/>
          <p:nvPr/>
        </p:nvSpPr>
        <p:spPr>
          <a:xfrm>
            <a:off x="731520" y="3284982"/>
            <a:ext cx="1371600" cy="50063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GMP-GR ★</a:t>
            </a:r>
            <a:endParaRPr lang="en-US" sz="1320" dirty="0"/>
          </a:p>
        </p:txBody>
      </p:sp>
      <p:sp>
        <p:nvSpPr>
          <p:cNvPr id="59" name="Shape 57"/>
          <p:cNvSpPr/>
          <p:nvPr/>
        </p:nvSpPr>
        <p:spPr>
          <a:xfrm>
            <a:off x="2148840" y="3230118"/>
            <a:ext cx="1188720" cy="518922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58"/>
          <p:cNvSpPr txBox="1"/>
          <p:nvPr/>
        </p:nvSpPr>
        <p:spPr>
          <a:xfrm>
            <a:off x="2194560" y="3284982"/>
            <a:ext cx="1097280" cy="50063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0.649</a:t>
            </a:r>
            <a:endParaRPr lang="en-US" sz="1320" dirty="0"/>
          </a:p>
        </p:txBody>
      </p:sp>
      <p:sp>
        <p:nvSpPr>
          <p:cNvPr id="61" name="Shape 59"/>
          <p:cNvSpPr/>
          <p:nvPr/>
        </p:nvSpPr>
        <p:spPr>
          <a:xfrm>
            <a:off x="3337560" y="3230118"/>
            <a:ext cx="1188720" cy="518922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60"/>
          <p:cNvSpPr txBox="1"/>
          <p:nvPr/>
        </p:nvSpPr>
        <p:spPr>
          <a:xfrm>
            <a:off x="3383280" y="3284982"/>
            <a:ext cx="1097280" cy="50063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0.824</a:t>
            </a:r>
            <a:endParaRPr lang="en-US" sz="1320" dirty="0"/>
          </a:p>
        </p:txBody>
      </p:sp>
      <p:sp>
        <p:nvSpPr>
          <p:cNvPr id="63" name="Shape 61"/>
          <p:cNvSpPr/>
          <p:nvPr/>
        </p:nvSpPr>
        <p:spPr>
          <a:xfrm>
            <a:off x="4526280" y="3230118"/>
            <a:ext cx="1188720" cy="518922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62"/>
          <p:cNvSpPr txBox="1"/>
          <p:nvPr/>
        </p:nvSpPr>
        <p:spPr>
          <a:xfrm>
            <a:off x="4572000" y="3284982"/>
            <a:ext cx="1097280" cy="50063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0.624</a:t>
            </a:r>
            <a:endParaRPr lang="en-US" sz="1320" dirty="0"/>
          </a:p>
        </p:txBody>
      </p:sp>
      <p:sp>
        <p:nvSpPr>
          <p:cNvPr id="65" name="Shape 63"/>
          <p:cNvSpPr/>
          <p:nvPr/>
        </p:nvSpPr>
        <p:spPr>
          <a:xfrm>
            <a:off x="5715000" y="3230118"/>
            <a:ext cx="1188720" cy="518922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Text 64"/>
          <p:cNvSpPr txBox="1"/>
          <p:nvPr/>
        </p:nvSpPr>
        <p:spPr>
          <a:xfrm>
            <a:off x="5760720" y="3284982"/>
            <a:ext cx="1097280" cy="50063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0.628</a:t>
            </a:r>
            <a:endParaRPr lang="en-US" sz="1320" dirty="0"/>
          </a:p>
        </p:txBody>
      </p:sp>
      <p:sp>
        <p:nvSpPr>
          <p:cNvPr id="67" name="Shape 65"/>
          <p:cNvSpPr/>
          <p:nvPr/>
        </p:nvSpPr>
        <p:spPr>
          <a:xfrm>
            <a:off x="6903720" y="3230118"/>
            <a:ext cx="1188720" cy="518922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Text 66"/>
          <p:cNvSpPr txBox="1"/>
          <p:nvPr/>
        </p:nvSpPr>
        <p:spPr>
          <a:xfrm>
            <a:off x="6949440" y="3284982"/>
            <a:ext cx="1097280" cy="50063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0.698</a:t>
            </a:r>
            <a:endParaRPr lang="en-US" sz="1320" dirty="0"/>
          </a:p>
        </p:txBody>
      </p:sp>
      <p:sp>
        <p:nvSpPr>
          <p:cNvPr id="69" name="Shape 67"/>
          <p:cNvSpPr/>
          <p:nvPr/>
        </p:nvSpPr>
        <p:spPr>
          <a:xfrm>
            <a:off x="8183880" y="1325880"/>
            <a:ext cx="30175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Shape 68"/>
          <p:cNvSpPr/>
          <p:nvPr/>
        </p:nvSpPr>
        <p:spPr>
          <a:xfrm>
            <a:off x="8183880" y="1325880"/>
            <a:ext cx="73152" cy="160020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Text 69"/>
          <p:cNvSpPr txBox="1"/>
          <p:nvPr/>
        </p:nvSpPr>
        <p:spPr>
          <a:xfrm>
            <a:off x="8385048" y="1472184"/>
            <a:ext cx="270662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642"/>
                </a:solidFill>
                <a:latin typeface="Arial"/>
              </a:rPr>
              <a:t>Improvement over NANN</a:t>
            </a:r>
          </a:p>
        </p:txBody>
      </p:sp>
      <p:sp>
        <p:nvSpPr>
          <p:cNvPr id="72" name="Text 70"/>
          <p:cNvSpPr txBox="1"/>
          <p:nvPr/>
        </p:nvSpPr>
        <p:spPr>
          <a:xfrm>
            <a:off x="8403336" y="1856232"/>
            <a:ext cx="2670048" cy="96012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Video Coverage: 0.649 vs 0.537 (+20.9%).</a:t>
            </a:r>
            <a:endParaRPr lang="en-US" sz="142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Video R@10: 0.824 vs 0.672 (+22.7%).</a:t>
            </a:r>
            <a:endParaRPr lang="en-US" sz="142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Consistent gains across Video, MVideo, Explore, and Fresh.</a:t>
            </a:r>
            <a:endParaRPr lang="en-US" sz="1420" dirty="0"/>
          </a:p>
        </p:txBody>
      </p:sp>
      <p:sp>
        <p:nvSpPr>
          <p:cNvPr id="73" name="Shape 71"/>
          <p:cNvSpPr/>
          <p:nvPr/>
        </p:nvSpPr>
        <p:spPr>
          <a:xfrm>
            <a:off x="8183880" y="3154680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Shape 72"/>
          <p:cNvSpPr/>
          <p:nvPr/>
        </p:nvSpPr>
        <p:spPr>
          <a:xfrm>
            <a:off x="8183880" y="3154680"/>
            <a:ext cx="73152" cy="960120"/>
          </a:xfrm>
          <a:prstGeom prst="rect">
            <a:avLst/>
          </a:prstGeom>
          <a:solidFill>
            <a:srgbClr val="2F7D5C"/>
          </a:solidFill>
          <a:ln w="12700">
            <a:solidFill>
              <a:srgbClr val="2F7D5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" name="Text 73"/>
          <p:cNvSpPr txBox="1"/>
          <p:nvPr/>
        </p:nvSpPr>
        <p:spPr>
          <a:xfrm>
            <a:off x="8385048" y="3300984"/>
            <a:ext cx="270662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642"/>
                </a:solidFill>
                <a:latin typeface="Arial"/>
              </a:rPr>
              <a:t>Speed</a:t>
            </a:r>
          </a:p>
        </p:txBody>
      </p:sp>
      <p:sp>
        <p:nvSpPr>
          <p:cNvPr id="76" name="Text 74"/>
          <p:cNvSpPr txBox="1"/>
          <p:nvPr/>
        </p:nvSpPr>
        <p:spPr>
          <a:xfrm>
            <a:off x="8403336" y="3685032"/>
            <a:ext cx="2670048" cy="3931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321K items/sec vs NANN 282K on Video.</a:t>
            </a:r>
            <a:endParaRPr lang="en-US" sz="142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Accuracy and speed improve together.</a:t>
            </a:r>
            <a:endParaRPr lang="en-US" sz="1420" dirty="0"/>
          </a:p>
        </p:txBody>
      </p:sp>
      <p:sp>
        <p:nvSpPr>
          <p:cNvPr id="77" name="Shape 75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Text 76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79" name="Text 77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Co-design avoids the usual accuracy-speed trade-off.</a:t>
            </a:r>
            <a:endParaRPr lang="en-US" sz="1700" dirty="0"/>
          </a:p>
        </p:txBody>
      </p:sp>
      <p:sp>
        <p:nvSpPr>
          <p:cNvPr id="80" name="Rectangle 79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3 · ABLATION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MUIRML and HiPANNS Solve Complementary Bottlenecks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234440"/>
            <a:ext cx="64008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0" name="Image 0" descr="/mnt/data/pres_assets/slide40_img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433" y="1307592"/>
            <a:ext cx="5360670" cy="428853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315200" y="1234440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7315200" y="1234440"/>
            <a:ext cx="73152" cy="1417320"/>
          </a:xfrm>
          <a:prstGeom prst="rect">
            <a:avLst/>
          </a:prstGeom>
          <a:solidFill>
            <a:srgbClr val="2F6DA5"/>
          </a:solidFill>
          <a:ln w="12700">
            <a:solidFill>
              <a:srgbClr val="2F6DA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 txBox="1"/>
          <p:nvPr/>
        </p:nvSpPr>
        <p:spPr>
          <a:xfrm>
            <a:off x="7516368" y="1380744"/>
            <a:ext cx="357530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Ablation variants</a:t>
            </a:r>
            <a:endParaRPr lang="en-US" sz="1630" dirty="0"/>
          </a:p>
        </p:txBody>
      </p:sp>
      <p:sp>
        <p:nvSpPr>
          <p:cNvPr id="14" name="Text 11"/>
          <p:cNvSpPr txBox="1"/>
          <p:nvPr/>
        </p:nvSpPr>
        <p:spPr>
          <a:xfrm>
            <a:off x="7534656" y="1764792"/>
            <a:ext cx="3538728" cy="77724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GMP-GR: full system.</a:t>
            </a:r>
            <a:endParaRPr lang="en-US" sz="14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GMP-GR-P: HiPANNS only with standard metric.</a:t>
            </a:r>
            <a:endParaRPr lang="en-US" sz="14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GMP-GR-M: MUIRML only with standard graph traversal.</a:t>
            </a:r>
            <a:endParaRPr lang="en-US" sz="1480" dirty="0"/>
          </a:p>
        </p:txBody>
      </p:sp>
      <p:sp>
        <p:nvSpPr>
          <p:cNvPr id="15" name="Shape 12"/>
          <p:cNvSpPr/>
          <p:nvPr/>
        </p:nvSpPr>
        <p:spPr>
          <a:xfrm>
            <a:off x="7315200" y="2880360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7315200" y="2880360"/>
            <a:ext cx="73152" cy="141732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 txBox="1"/>
          <p:nvPr/>
        </p:nvSpPr>
        <p:spPr>
          <a:xfrm>
            <a:off x="7516368" y="3026664"/>
            <a:ext cx="357530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pattern</a:t>
            </a:r>
            <a:endParaRPr lang="en-US" sz="1630" dirty="0"/>
          </a:p>
        </p:txBody>
      </p:sp>
      <p:sp>
        <p:nvSpPr>
          <p:cNvPr id="18" name="Text 15"/>
          <p:cNvSpPr txBox="1"/>
          <p:nvPr/>
        </p:nvSpPr>
        <p:spPr>
          <a:xfrm>
            <a:off x="7534656" y="3410712"/>
            <a:ext cx="3538728" cy="77724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 GMP-GR wins across Video, MVideo, Explore, and Fresh.</a:t>
            </a:r>
            <a:endParaRPr lang="en-US" sz="14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Each ablation loses a meaningful portion of the gain.</a:t>
            </a:r>
            <a:endParaRPr lang="en-US" sz="14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Removing HiPANNS causes major speed degradation.</a:t>
            </a:r>
            <a:endParaRPr lang="en-US" sz="1480" dirty="0"/>
          </a:p>
        </p:txBody>
      </p:sp>
      <p:sp>
        <p:nvSpPr>
          <p:cNvPr id="19" name="Shape 16"/>
          <p:cNvSpPr/>
          <p:nvPr/>
        </p:nvSpPr>
        <p:spPr>
          <a:xfrm>
            <a:off x="7315200" y="4526280"/>
            <a:ext cx="38862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7315200" y="4526280"/>
            <a:ext cx="73152" cy="685800"/>
          </a:xfrm>
          <a:prstGeom prst="rect">
            <a:avLst/>
          </a:prstGeom>
          <a:solidFill>
            <a:srgbClr val="2F7D5C"/>
          </a:solidFill>
          <a:ln w="12700">
            <a:solidFill>
              <a:srgbClr val="2F7D5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 txBox="1"/>
          <p:nvPr/>
        </p:nvSpPr>
        <p:spPr>
          <a:xfrm>
            <a:off x="7516368" y="4672584"/>
            <a:ext cx="3575304" cy="45720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642"/>
                </a:solidFill>
                <a:latin typeface="Arial"/>
              </a:rPr>
              <a:t>Interpretation: both parts are needed</a:t>
            </a:r>
          </a:p>
        </p:txBody>
      </p:sp>
      <p:sp>
        <p:nvSpPr>
          <p:cNvPr id="22" name="Text 19"/>
          <p:cNvSpPr txBox="1"/>
          <p:nvPr/>
        </p:nvSpPr>
        <p:spPr>
          <a:xfrm>
            <a:off x="7534656" y="5056632"/>
            <a:ext cx="3538728" cy="292608"/>
          </a:xfrm>
          <a:prstGeom prst="rect">
            <a:avLst/>
          </a:prstGeom>
          <a:noFill/>
          <a:ln/>
        </p:spPr>
        <p:txBody>
          <a:bodyPr wrap="square" lIns="45720" tIns="27432" rIns="45720" bIns="27432" rtlCol="0" anchor="t">
            <a:noAutofit/>
          </a:bodyPr>
          <a:lstStyle/>
          <a:p>
            <a:endParaRPr/>
          </a:p>
        </p:txBody>
      </p:sp>
      <p:sp>
        <p:nvSpPr>
          <p:cNvPr id="23" name="Shape 20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gain requires both a searchable metric and a scalable search engine.</a:t>
            </a:r>
            <a:endParaRPr lang="en-US" sz="1700" dirty="0"/>
          </a:p>
        </p:txBody>
      </p:sp>
      <p:sp>
        <p:nvSpPr>
          <p:cNvPr id="26" name="Rectangle 25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3 · ONLINE DEPLOYMENT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Online A/B Tests Show Production Engagement Gains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325880"/>
            <a:ext cx="256032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813816" y="1399032"/>
            <a:ext cx="248716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37560" y="1325880"/>
            <a:ext cx="146304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3374136" y="1399032"/>
            <a:ext cx="138988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Time-on-Page Δ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1325880"/>
            <a:ext cx="109728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4837176" y="1399032"/>
            <a:ext cx="102412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DAU Δ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897880" y="1325880"/>
            <a:ext cx="146304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5934456" y="1399032"/>
            <a:ext cx="138988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" y="1673352"/>
            <a:ext cx="2560320" cy="443484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822960" y="1728216"/>
            <a:ext cx="2468880" cy="4251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1: main feed</a:t>
            </a:r>
            <a:endParaRPr lang="en-US" sz="1420" dirty="0"/>
          </a:p>
        </p:txBody>
      </p:sp>
      <p:sp>
        <p:nvSpPr>
          <p:cNvPr id="19" name="Shape 17"/>
          <p:cNvSpPr/>
          <p:nvPr/>
        </p:nvSpPr>
        <p:spPr>
          <a:xfrm>
            <a:off x="3337560" y="1673352"/>
            <a:ext cx="1463040" cy="443484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3383280" y="1728216"/>
            <a:ext cx="1371600" cy="4251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+1.13%</a:t>
            </a:r>
            <a:endParaRPr lang="en-US" sz="1420" dirty="0"/>
          </a:p>
        </p:txBody>
      </p:sp>
      <p:sp>
        <p:nvSpPr>
          <p:cNvPr id="21" name="Shape 19"/>
          <p:cNvSpPr/>
          <p:nvPr/>
        </p:nvSpPr>
        <p:spPr>
          <a:xfrm>
            <a:off x="4800600" y="1673352"/>
            <a:ext cx="1097280" cy="443484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4846320" y="1728216"/>
            <a:ext cx="1005840" cy="4251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+0.23%</a:t>
            </a:r>
            <a:endParaRPr lang="en-US" sz="1420" dirty="0"/>
          </a:p>
        </p:txBody>
      </p:sp>
      <p:sp>
        <p:nvSpPr>
          <p:cNvPr id="23" name="Shape 21"/>
          <p:cNvSpPr/>
          <p:nvPr/>
        </p:nvSpPr>
        <p:spPr>
          <a:xfrm>
            <a:off x="5897880" y="1673352"/>
            <a:ext cx="1463040" cy="443484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5943600" y="1728216"/>
            <a:ext cx="1371600" cy="4251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&lt; 0.001</a:t>
            </a:r>
            <a:endParaRPr lang="en-US" sz="1420" dirty="0"/>
          </a:p>
        </p:txBody>
      </p:sp>
      <p:sp>
        <p:nvSpPr>
          <p:cNvPr id="25" name="Shape 23"/>
          <p:cNvSpPr/>
          <p:nvPr/>
        </p:nvSpPr>
        <p:spPr>
          <a:xfrm>
            <a:off x="777240" y="2116836"/>
            <a:ext cx="2560320" cy="443484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822960" y="2171700"/>
            <a:ext cx="2468880" cy="4251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2: short video</a:t>
            </a:r>
            <a:endParaRPr lang="en-US" sz="1420" dirty="0"/>
          </a:p>
        </p:txBody>
      </p:sp>
      <p:sp>
        <p:nvSpPr>
          <p:cNvPr id="27" name="Shape 25"/>
          <p:cNvSpPr/>
          <p:nvPr/>
        </p:nvSpPr>
        <p:spPr>
          <a:xfrm>
            <a:off x="3337560" y="2116836"/>
            <a:ext cx="1463040" cy="443484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3383280" y="2171700"/>
            <a:ext cx="1371600" cy="4251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+1.19%</a:t>
            </a:r>
            <a:endParaRPr lang="en-US" sz="1420" dirty="0"/>
          </a:p>
        </p:txBody>
      </p:sp>
      <p:sp>
        <p:nvSpPr>
          <p:cNvPr id="29" name="Shape 27"/>
          <p:cNvSpPr/>
          <p:nvPr/>
        </p:nvSpPr>
        <p:spPr>
          <a:xfrm>
            <a:off x="4800600" y="2116836"/>
            <a:ext cx="1097280" cy="443484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4846320" y="2171700"/>
            <a:ext cx="1005840" cy="4251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+0.50%</a:t>
            </a:r>
            <a:endParaRPr lang="en-US" sz="1420" dirty="0"/>
          </a:p>
        </p:txBody>
      </p:sp>
      <p:sp>
        <p:nvSpPr>
          <p:cNvPr id="31" name="Shape 29"/>
          <p:cNvSpPr/>
          <p:nvPr/>
        </p:nvSpPr>
        <p:spPr>
          <a:xfrm>
            <a:off x="5897880" y="2116836"/>
            <a:ext cx="1463040" cy="443484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5943600" y="2171700"/>
            <a:ext cx="1371600" cy="4251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&lt; 0.001</a:t>
            </a:r>
            <a:endParaRPr lang="en-US" sz="1420" dirty="0"/>
          </a:p>
        </p:txBody>
      </p:sp>
      <p:sp>
        <p:nvSpPr>
          <p:cNvPr id="33" name="Shape 31"/>
          <p:cNvSpPr/>
          <p:nvPr/>
        </p:nvSpPr>
        <p:spPr>
          <a:xfrm>
            <a:off x="7635240" y="132588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7635240" y="1325880"/>
            <a:ext cx="73152" cy="123444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7836408" y="1472184"/>
            <a:ext cx="325526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642"/>
                </a:solidFill>
                <a:latin typeface="Arial"/>
              </a:rPr>
              <a:t>Why 1% matters</a:t>
            </a:r>
          </a:p>
        </p:txBody>
      </p:sp>
      <p:sp>
        <p:nvSpPr>
          <p:cNvPr id="36" name="Text 34"/>
          <p:cNvSpPr txBox="1"/>
          <p:nvPr/>
        </p:nvSpPr>
        <p:spPr>
          <a:xfrm>
            <a:off x="7854696" y="1856232"/>
            <a:ext cx="3218688" cy="59436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0" i="0">
                <a:solidFill>
                  <a:srgbClr val="1F2937"/>
                </a:solidFill>
                <a:latin typeface="Arial"/>
              </a:rPr>
              <a:t>• At hundreds-of-millions user scale, even a 1% lift has large aggregate impact.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0" i="0">
                <a:solidFill>
                  <a:srgbClr val="1F2937"/>
                </a:solidFill>
                <a:latin typeface="Arial"/>
              </a:rPr>
              <a:t>• Retrieval improvements affect what ranking can even see.</a:t>
            </a:r>
          </a:p>
        </p:txBody>
      </p:sp>
      <p:sp>
        <p:nvSpPr>
          <p:cNvPr id="37" name="Shape 35"/>
          <p:cNvSpPr/>
          <p:nvPr/>
        </p:nvSpPr>
        <p:spPr>
          <a:xfrm>
            <a:off x="777240" y="3154680"/>
            <a:ext cx="5074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777240" y="3154680"/>
            <a:ext cx="73152" cy="1463040"/>
          </a:xfrm>
          <a:prstGeom prst="rect">
            <a:avLst/>
          </a:prstGeom>
          <a:solidFill>
            <a:srgbClr val="2F6DA5"/>
          </a:solidFill>
          <a:ln w="12700">
            <a:solidFill>
              <a:srgbClr val="2F6DA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978408" y="3300984"/>
            <a:ext cx="476402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642"/>
                </a:solidFill>
                <a:latin typeface="Arial"/>
              </a:rPr>
              <a:t>System optimization</a:t>
            </a:r>
          </a:p>
        </p:txBody>
      </p:sp>
      <p:sp>
        <p:nvSpPr>
          <p:cNvPr id="40" name="Text 38"/>
          <p:cNvSpPr txBox="1"/>
          <p:nvPr/>
        </p:nvSpPr>
        <p:spPr>
          <a:xfrm>
            <a:off x="996696" y="3685032"/>
            <a:ext cx="4727448" cy="82296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Compilation: +74% / +75% throughput.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FP32→FP16 quantization: +26% / +25%.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Combined serving optimization roughly doubles throughput.</a:t>
            </a:r>
            <a:endParaRPr lang="en-US" sz="1580" dirty="0"/>
          </a:p>
        </p:txBody>
      </p:sp>
      <p:sp>
        <p:nvSpPr>
          <p:cNvPr id="41" name="Shape 39"/>
          <p:cNvSpPr/>
          <p:nvPr/>
        </p:nvSpPr>
        <p:spPr>
          <a:xfrm>
            <a:off x="6126480" y="3154680"/>
            <a:ext cx="5074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6126480" y="3154680"/>
            <a:ext cx="73152" cy="1463040"/>
          </a:xfrm>
          <a:prstGeom prst="rect">
            <a:avLst/>
          </a:prstGeom>
          <a:solidFill>
            <a:srgbClr val="2F7D5C"/>
          </a:solidFill>
          <a:ln w="12700">
            <a:solidFill>
              <a:srgbClr val="2F7D5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 txBox="1"/>
          <p:nvPr/>
        </p:nvSpPr>
        <p:spPr>
          <a:xfrm>
            <a:off x="6327648" y="3300984"/>
            <a:ext cx="476402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642"/>
                </a:solidFill>
                <a:latin typeface="Arial"/>
              </a:rPr>
              <a:t>Deployment scale</a:t>
            </a:r>
          </a:p>
        </p:txBody>
      </p:sp>
      <p:sp>
        <p:nvSpPr>
          <p:cNvPr id="44" name="Text 42"/>
          <p:cNvSpPr txBox="1"/>
          <p:nvPr/>
        </p:nvSpPr>
        <p:spPr>
          <a:xfrm>
            <a:off x="6345936" y="3685032"/>
            <a:ext cx="4727448" cy="82296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Baidu Mobile APP, 2 services, 5 servers, 2-week testing.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Extended across 20+ applications serving hundreds of millions of users.</a:t>
            </a:r>
            <a:endParaRPr lang="en-US" sz="1580" dirty="0"/>
          </a:p>
        </p:txBody>
      </p:sp>
      <p:sp>
        <p:nvSpPr>
          <p:cNvPr id="45" name="Shape 43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GMP-GR demonstrates real-world retrieval impact beyond offline benchmarks.</a:t>
            </a:r>
            <a:endParaRPr lang="en-US" sz="1700" dirty="0"/>
          </a:p>
        </p:txBody>
      </p:sp>
      <p:sp>
        <p:nvSpPr>
          <p:cNvPr id="48" name="Rectangle 47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3 · PRODUCTION MONITORING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Traffic and Latency Remain Stable After Rollout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1234440"/>
            <a:ext cx="51663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0" name="Image 0" descr="/mnt/data/pres_assets/slide43_img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70" y="1307592"/>
            <a:ext cx="4960620" cy="396849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263640" y="1234440"/>
            <a:ext cx="49377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2" name="Image 1" descr="/mnt/data/pres_assets/slide43_img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2573122"/>
            <a:ext cx="4791456" cy="143743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914400" y="5440680"/>
            <a:ext cx="466344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volume over the deployment period</a:t>
            </a:r>
            <a:endParaRPr lang="en-US" sz="1550" dirty="0"/>
          </a:p>
        </p:txBody>
      </p:sp>
      <p:sp>
        <p:nvSpPr>
          <p:cNvPr id="14" name="Text 10"/>
          <p:cNvSpPr txBox="1"/>
          <p:nvPr/>
        </p:nvSpPr>
        <p:spPr>
          <a:xfrm>
            <a:off x="6492240" y="5440680"/>
            <a:ext cx="457200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P99 latency stays within serving expectations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2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17" name="Text 13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Production-quality retrieval must improve relevance without causing latency regressions.</a:t>
            </a:r>
            <a:endParaRPr lang="en-US" sz="1700" dirty="0"/>
          </a:p>
        </p:txBody>
      </p:sp>
      <p:sp>
        <p:nvSpPr>
          <p:cNvPr id="18" name="Rectangle 17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CROSS-STUDY INSIGHT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Scalable Retrieval Requires Structure-Aware Scaling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1417320"/>
            <a:ext cx="137160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722376" y="1490472"/>
            <a:ext cx="129844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057400" y="1417320"/>
            <a:ext cx="228600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2093976" y="1490472"/>
            <a:ext cx="221284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scaling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43400" y="1417320"/>
            <a:ext cx="320040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4379976" y="1490472"/>
            <a:ext cx="312724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bottleneck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543800" y="1417320"/>
            <a:ext cx="393192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7580376" y="1490472"/>
            <a:ext cx="385876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 solution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1764792"/>
            <a:ext cx="1371600" cy="53949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731520" y="1819656"/>
            <a:ext cx="1280160" cy="52120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</a:t>
            </a:r>
            <a:endParaRPr lang="en-US" sz="1340" dirty="0"/>
          </a:p>
        </p:txBody>
      </p:sp>
      <p:sp>
        <p:nvSpPr>
          <p:cNvPr id="19" name="Shape 17"/>
          <p:cNvSpPr/>
          <p:nvPr/>
        </p:nvSpPr>
        <p:spPr>
          <a:xfrm>
            <a:off x="2057400" y="1764792"/>
            <a:ext cx="2286000" cy="53949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2103120" y="1819656"/>
            <a:ext cx="2194560" cy="52120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parameters / generic pairs</a:t>
            </a:r>
            <a:endParaRPr lang="en-US" sz="1340" dirty="0"/>
          </a:p>
        </p:txBody>
      </p:sp>
      <p:sp>
        <p:nvSpPr>
          <p:cNvPr id="21" name="Shape 19"/>
          <p:cNvSpPr/>
          <p:nvPr/>
        </p:nvSpPr>
        <p:spPr>
          <a:xfrm>
            <a:off x="4343400" y="1764792"/>
            <a:ext cx="3200400" cy="53949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4389120" y="1819656"/>
            <a:ext cx="3108960" cy="52120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gaps across tasks</a:t>
            </a:r>
            <a:endParaRPr lang="en-US" sz="1340" dirty="0"/>
          </a:p>
        </p:txBody>
      </p:sp>
      <p:sp>
        <p:nvSpPr>
          <p:cNvPr id="23" name="Shape 21"/>
          <p:cNvSpPr/>
          <p:nvPr/>
        </p:nvSpPr>
        <p:spPr>
          <a:xfrm>
            <a:off x="7543800" y="1764792"/>
            <a:ext cx="3931920" cy="53949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7589520" y="1819656"/>
            <a:ext cx="3840480" cy="52120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UVRB → V-SynFlow → GVE</a:t>
            </a:r>
            <a:endParaRPr lang="en-US" sz="1340" dirty="0"/>
          </a:p>
        </p:txBody>
      </p:sp>
      <p:sp>
        <p:nvSpPr>
          <p:cNvPr id="25" name="Shape 23"/>
          <p:cNvSpPr/>
          <p:nvPr/>
        </p:nvSpPr>
        <p:spPr>
          <a:xfrm>
            <a:off x="685800" y="2304288"/>
            <a:ext cx="1371600" cy="539496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731520" y="2359152"/>
            <a:ext cx="1280160" cy="52120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</a:t>
            </a:r>
            <a:endParaRPr lang="en-US" sz="1340" dirty="0"/>
          </a:p>
        </p:txBody>
      </p:sp>
      <p:sp>
        <p:nvSpPr>
          <p:cNvPr id="27" name="Shape 25"/>
          <p:cNvSpPr/>
          <p:nvPr/>
        </p:nvSpPr>
        <p:spPr>
          <a:xfrm>
            <a:off x="2057400" y="2304288"/>
            <a:ext cx="2286000" cy="539496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2103120" y="2359152"/>
            <a:ext cx="2194560" cy="52120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frame count / tokens</a:t>
            </a:r>
            <a:endParaRPr lang="en-US" sz="1340" dirty="0"/>
          </a:p>
        </p:txBody>
      </p:sp>
      <p:sp>
        <p:nvSpPr>
          <p:cNvPr id="29" name="Shape 27"/>
          <p:cNvSpPr/>
          <p:nvPr/>
        </p:nvSpPr>
        <p:spPr>
          <a:xfrm>
            <a:off x="4343400" y="2304288"/>
            <a:ext cx="3200400" cy="539496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4389120" y="2359152"/>
            <a:ext cx="3108960" cy="52120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Granularity-aware evidence acquisition</a:t>
            </a:r>
            <a:endParaRPr lang="en-US" sz="1340" dirty="0"/>
          </a:p>
        </p:txBody>
      </p:sp>
      <p:sp>
        <p:nvSpPr>
          <p:cNvPr id="31" name="Shape 29"/>
          <p:cNvSpPr/>
          <p:nvPr/>
        </p:nvSpPr>
        <p:spPr>
          <a:xfrm>
            <a:off x="7543800" y="2304288"/>
            <a:ext cx="3931920" cy="539496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7589520" y="2359152"/>
            <a:ext cx="3840480" cy="52120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MG-LVR scaling laws → VEterfall</a:t>
            </a:r>
            <a:endParaRPr lang="en-US" sz="1340" dirty="0"/>
          </a:p>
        </p:txBody>
      </p:sp>
      <p:sp>
        <p:nvSpPr>
          <p:cNvPr id="33" name="Shape 31"/>
          <p:cNvSpPr/>
          <p:nvPr/>
        </p:nvSpPr>
        <p:spPr>
          <a:xfrm>
            <a:off x="685800" y="2843784"/>
            <a:ext cx="1371600" cy="53949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 txBox="1"/>
          <p:nvPr/>
        </p:nvSpPr>
        <p:spPr>
          <a:xfrm>
            <a:off x="731520" y="2898648"/>
            <a:ext cx="1280160" cy="52120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340" dirty="0"/>
          </a:p>
        </p:txBody>
      </p:sp>
      <p:sp>
        <p:nvSpPr>
          <p:cNvPr id="35" name="Shape 33"/>
          <p:cNvSpPr/>
          <p:nvPr/>
        </p:nvSpPr>
        <p:spPr>
          <a:xfrm>
            <a:off x="2057400" y="2843784"/>
            <a:ext cx="2286000" cy="53949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2103120" y="2898648"/>
            <a:ext cx="2194560" cy="52120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offline metric AUC</a:t>
            </a:r>
            <a:endParaRPr lang="en-US" sz="1340" dirty="0"/>
          </a:p>
        </p:txBody>
      </p:sp>
      <p:sp>
        <p:nvSpPr>
          <p:cNvPr id="37" name="Shape 35"/>
          <p:cNvSpPr/>
          <p:nvPr/>
        </p:nvSpPr>
        <p:spPr>
          <a:xfrm>
            <a:off x="4343400" y="2843784"/>
            <a:ext cx="3200400" cy="53949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4389120" y="2898648"/>
            <a:ext cx="3108960" cy="52120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Metric–graph–GPU incompatibility</a:t>
            </a:r>
            <a:endParaRPr lang="en-US" sz="1340" dirty="0"/>
          </a:p>
        </p:txBody>
      </p:sp>
      <p:sp>
        <p:nvSpPr>
          <p:cNvPr id="39" name="Shape 37"/>
          <p:cNvSpPr/>
          <p:nvPr/>
        </p:nvSpPr>
        <p:spPr>
          <a:xfrm>
            <a:off x="7543800" y="2843784"/>
            <a:ext cx="3931920" cy="53949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 txBox="1"/>
          <p:nvPr/>
        </p:nvSpPr>
        <p:spPr>
          <a:xfrm>
            <a:off x="7589520" y="2898648"/>
            <a:ext cx="3840480" cy="52120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MUIRML + HiPANNS</a:t>
            </a:r>
            <a:endParaRPr lang="en-US" sz="1340" dirty="0"/>
          </a:p>
        </p:txBody>
      </p:sp>
      <p:sp>
        <p:nvSpPr>
          <p:cNvPr id="41" name="Shape 39"/>
          <p:cNvSpPr/>
          <p:nvPr/>
        </p:nvSpPr>
        <p:spPr>
          <a:xfrm>
            <a:off x="1051560" y="3794760"/>
            <a:ext cx="10012680" cy="731520"/>
          </a:xfrm>
          <a:prstGeom prst="roundRect">
            <a:avLst>
              <a:gd name="adj" fmla="val 10000"/>
            </a:avLst>
          </a:prstGeom>
          <a:solidFill>
            <a:srgbClr val="FFF7E6"/>
          </a:solidFill>
          <a:ln w="1524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 txBox="1"/>
          <p:nvPr/>
        </p:nvSpPr>
        <p:spPr>
          <a:xfrm>
            <a:off x="1280160" y="3941064"/>
            <a:ext cx="9555480" cy="51206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Generalizability is the empirical criterion for effective scaling.</a:t>
            </a:r>
            <a:endParaRPr lang="en-US" sz="2300" dirty="0"/>
          </a:p>
        </p:txBody>
      </p:sp>
      <p:sp>
        <p:nvSpPr>
          <p:cNvPr id="43" name="Shape 41"/>
          <p:cNvSpPr/>
          <p:nvPr/>
        </p:nvSpPr>
        <p:spPr>
          <a:xfrm>
            <a:off x="1051560" y="4736592"/>
            <a:ext cx="10012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1051560" y="4736592"/>
            <a:ext cx="73152" cy="86868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 txBox="1"/>
          <p:nvPr/>
        </p:nvSpPr>
        <p:spPr>
          <a:xfrm>
            <a:off x="1252728" y="4882896"/>
            <a:ext cx="970178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thread</a:t>
            </a:r>
            <a:endParaRPr lang="en-US" sz="1800" dirty="0"/>
          </a:p>
        </p:txBody>
      </p:sp>
      <p:sp>
        <p:nvSpPr>
          <p:cNvPr id="46" name="Text 44"/>
          <p:cNvSpPr txBox="1"/>
          <p:nvPr/>
        </p:nvSpPr>
        <p:spPr>
          <a:xfrm>
            <a:off x="1271016" y="5266944"/>
            <a:ext cx="9665208" cy="30175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Study 1: structure = capability taxonomy.</a:t>
            </a:r>
            <a:endParaRPr lang="en-US" sz="160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Study 2: structure = temporal/spatial granularity.</a:t>
            </a:r>
            <a:endParaRPr lang="en-US" sz="160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Study 3: structure = metric-graph compatibility.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helps only when aligned with the stage-specific structure that controls transfer.</a:t>
            </a:r>
            <a:endParaRPr lang="en-US" sz="1700" dirty="0"/>
          </a:p>
        </p:txBody>
      </p:sp>
      <p:sp>
        <p:nvSpPr>
          <p:cNvPr id="50" name="Rectangle 49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CROSS-STUDY INSIGHT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>
                <a:solidFill>
                  <a:srgbClr val="142642"/>
                </a:solidFill>
                <a:latin typeface="Arial"/>
              </a:rPr>
              <a:t>Generalization Appears at Semantic, Observational, and Search Stages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0352" y="1325880"/>
            <a:ext cx="3575304" cy="4434840"/>
          </a:xfrm>
          <a:prstGeom prst="roundRect">
            <a:avLst>
              <a:gd name="adj" fmla="val 2046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530352" y="1325880"/>
            <a:ext cx="73152" cy="443484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731520" y="1472184"/>
            <a:ext cx="3264408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generalization</a:t>
            </a:r>
            <a:endParaRPr lang="en-US" sz="172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1856232"/>
            <a:ext cx="3227832" cy="379476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Across query modalities: TXT / CMP / VIS.</a:t>
            </a:r>
            <a:endParaRPr lang="en-US" sz="152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Across retrieval domains: CG / FG / LC.</a:t>
            </a:r>
            <a:endParaRPr lang="en-US" sz="152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Across relevance granularities including PR.</a:t>
            </a:r>
            <a:endParaRPr lang="en-US" sz="1520" dirty="0"/>
          </a:p>
        </p:txBody>
      </p:sp>
      <p:sp>
        <p:nvSpPr>
          <p:cNvPr id="13" name="Shape 11"/>
          <p:cNvSpPr/>
          <p:nvPr/>
        </p:nvSpPr>
        <p:spPr>
          <a:xfrm>
            <a:off x="4306824" y="1325880"/>
            <a:ext cx="3575304" cy="4434840"/>
          </a:xfrm>
          <a:prstGeom prst="roundRect">
            <a:avLst>
              <a:gd name="adj" fmla="val 2046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306824" y="1325880"/>
            <a:ext cx="73152" cy="4434840"/>
          </a:xfrm>
          <a:prstGeom prst="rect">
            <a:avLst/>
          </a:prstGeom>
          <a:solidFill>
            <a:srgbClr val="3D7D82"/>
          </a:solidFill>
          <a:ln w="12700">
            <a:solidFill>
              <a:srgbClr val="3D7D8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4507992" y="1472184"/>
            <a:ext cx="3264408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Observational generalization</a:t>
            </a:r>
            <a:endParaRPr lang="en-US" sz="172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1856232"/>
            <a:ext cx="3227832" cy="379476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Across sampling densities: frames F and tokens T.</a:t>
            </a:r>
            <a:endParaRPr lang="en-US" sz="152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Across video durations and temporal structures.</a:t>
            </a:r>
            <a:endParaRPr lang="en-US" sz="152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Across query granularities: FN / MD / CR.</a:t>
            </a:r>
            <a:endParaRPr lang="en-US" sz="1520" dirty="0"/>
          </a:p>
        </p:txBody>
      </p:sp>
      <p:sp>
        <p:nvSpPr>
          <p:cNvPr id="17" name="Shape 15"/>
          <p:cNvSpPr/>
          <p:nvPr/>
        </p:nvSpPr>
        <p:spPr>
          <a:xfrm>
            <a:off x="8083296" y="1325880"/>
            <a:ext cx="3575304" cy="4434840"/>
          </a:xfrm>
          <a:prstGeom prst="roundRect">
            <a:avLst>
              <a:gd name="adj" fmla="val 2046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083296" y="1325880"/>
            <a:ext cx="73152" cy="4434840"/>
          </a:xfrm>
          <a:prstGeom prst="rect">
            <a:avLst/>
          </a:prstGeom>
          <a:solidFill>
            <a:srgbClr val="2F6DA5"/>
          </a:solidFill>
          <a:ln w="12700">
            <a:solidFill>
              <a:srgbClr val="2F6DA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284464" y="1472184"/>
            <a:ext cx="3264408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generalization</a:t>
            </a:r>
            <a:endParaRPr lang="en-US" sz="1720" dirty="0"/>
          </a:p>
        </p:txBody>
      </p:sp>
      <p:sp>
        <p:nvSpPr>
          <p:cNvPr id="20" name="Text 18"/>
          <p:cNvSpPr txBox="1"/>
          <p:nvPr/>
        </p:nvSpPr>
        <p:spPr>
          <a:xfrm>
            <a:off x="8302752" y="1856232"/>
            <a:ext cx="3227832" cy="379476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Across deployment contexts and traffic patterns.</a:t>
            </a:r>
            <a:endParaRPr lang="en-US" sz="152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Across item domains: Video / MVideo / Explore / Fresh.</a:t>
            </a:r>
            <a:endParaRPr lang="en-US" sz="152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Across hardware-constrained serving regimes.</a:t>
            </a:r>
            <a:endParaRPr lang="en-US" sz="1520" dirty="0"/>
          </a:p>
        </p:txBody>
      </p:sp>
      <p:sp>
        <p:nvSpPr>
          <p:cNvPr id="21" name="Shape 19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thesis extends retrieval generalization from model outputs to the entire system pipeline.</a:t>
            </a:r>
            <a:endParaRPr lang="en-US" sz="1700" dirty="0"/>
          </a:p>
        </p:txBody>
      </p:sp>
      <p:sp>
        <p:nvSpPr>
          <p:cNvPr id="24" name="Rectangle 23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>
                <a:solidFill>
                  <a:srgbClr val="142642"/>
                </a:solidFill>
                <a:latin typeface="Arial"/>
              </a:rPr>
              <a:t>The Thesis Contributes Pipeline Coverage and Reusable Artifacts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0352" y="1280160"/>
            <a:ext cx="3575304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530352" y="1280160"/>
            <a:ext cx="73152" cy="329184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731520" y="1426464"/>
            <a:ext cx="3264408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coverage</a:t>
            </a:r>
            <a:endParaRPr lang="en-US" sz="172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1810512"/>
            <a:ext cx="3227832" cy="265176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Representation learning → observation-aware inference → production-scale search.</a:t>
            </a:r>
            <a:endParaRPr lang="en-US" sz="152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Few theses study all three stages under one narrative.</a:t>
            </a:r>
            <a:endParaRPr lang="en-US" sz="1520" dirty="0"/>
          </a:p>
        </p:txBody>
      </p:sp>
      <p:sp>
        <p:nvSpPr>
          <p:cNvPr id="13" name="Shape 11"/>
          <p:cNvSpPr/>
          <p:nvPr/>
        </p:nvSpPr>
        <p:spPr>
          <a:xfrm>
            <a:off x="4306824" y="1280160"/>
            <a:ext cx="3575304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306824" y="1280160"/>
            <a:ext cx="73152" cy="3291840"/>
          </a:xfrm>
          <a:prstGeom prst="rect">
            <a:avLst/>
          </a:prstGeom>
          <a:solidFill>
            <a:srgbClr val="3D7D82"/>
          </a:solidFill>
          <a:ln w="12700">
            <a:solidFill>
              <a:srgbClr val="3D7D8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4507992" y="1426464"/>
            <a:ext cx="3264408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methodology</a:t>
            </a:r>
            <a:endParaRPr lang="en-US" sz="172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1810512"/>
            <a:ext cx="3227832" cy="265176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Evaluation identifies gaps.</a:t>
            </a:r>
            <a:endParaRPr lang="en-US" sz="152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Synthesis fills gaps.</a:t>
            </a:r>
            <a:endParaRPr lang="en-US" sz="152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Curriculum and distillation stabilize transfer.</a:t>
            </a:r>
            <a:endParaRPr lang="en-US" sz="1520" dirty="0"/>
          </a:p>
        </p:txBody>
      </p:sp>
      <p:sp>
        <p:nvSpPr>
          <p:cNvPr id="17" name="Shape 15"/>
          <p:cNvSpPr/>
          <p:nvPr/>
        </p:nvSpPr>
        <p:spPr>
          <a:xfrm>
            <a:off x="8083296" y="1280160"/>
            <a:ext cx="3575304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083296" y="1280160"/>
            <a:ext cx="73152" cy="3291840"/>
          </a:xfrm>
          <a:prstGeom prst="rect">
            <a:avLst/>
          </a:prstGeom>
          <a:solidFill>
            <a:srgbClr val="2F6DA5"/>
          </a:solidFill>
          <a:ln w="12700">
            <a:solidFill>
              <a:srgbClr val="2F6DA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284464" y="1426464"/>
            <a:ext cx="3264408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 artifacts</a:t>
            </a:r>
            <a:endParaRPr lang="en-US" sz="1720" dirty="0"/>
          </a:p>
        </p:txBody>
      </p:sp>
      <p:sp>
        <p:nvSpPr>
          <p:cNvPr id="20" name="Text 18"/>
          <p:cNvSpPr txBox="1"/>
          <p:nvPr/>
        </p:nvSpPr>
        <p:spPr>
          <a:xfrm>
            <a:off x="8302752" y="1810512"/>
            <a:ext cx="3227832" cy="265176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UVRB and MG-LVR establish reusable evaluation protocols.</a:t>
            </a:r>
            <a:endParaRPr lang="en-US" sz="152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UVRD and GVE provide data/model resources for future comparison.</a:t>
            </a:r>
            <a:endParaRPr lang="en-US" sz="1520" dirty="0"/>
          </a:p>
        </p:txBody>
      </p:sp>
      <p:sp>
        <p:nvSpPr>
          <p:cNvPr id="21" name="Shape 19"/>
          <p:cNvSpPr/>
          <p:nvPr/>
        </p:nvSpPr>
        <p:spPr>
          <a:xfrm>
            <a:off x="914400" y="4800600"/>
            <a:ext cx="10332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914400" y="4800600"/>
            <a:ext cx="73152" cy="868680"/>
          </a:xfrm>
          <a:prstGeom prst="rect">
            <a:avLst/>
          </a:prstGeom>
          <a:solidFill>
            <a:srgbClr val="2F7D5C"/>
          </a:solidFill>
          <a:ln w="12700">
            <a:solidFill>
              <a:srgbClr val="2F7D5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1115568" y="4946904"/>
            <a:ext cx="1002182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validation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133856" y="5330952"/>
            <a:ext cx="9985248" cy="30175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GMP-GR is deployed in a real industrial environment with 20+ applications and large-scale A/B testing.</a:t>
            </a:r>
            <a:endParaRPr lang="en-US" sz="160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This connects academic retrieval research to real serving constraints.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thesis contributes methods, benchmarks, and production evidence—not only isolated model improvements.</a:t>
            </a:r>
            <a:endParaRPr lang="en-US" sz="1700" dirty="0"/>
          </a:p>
        </p:txBody>
      </p:sp>
      <p:sp>
        <p:nvSpPr>
          <p:cNvPr id="28" name="Rectangle 27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>
                <a:solidFill>
                  <a:srgbClr val="142642"/>
                </a:solidFill>
                <a:latin typeface="Arial"/>
              </a:rPr>
              <a:t>Limitations Clarify the Boundary of Semantic and Observation Claims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325880"/>
            <a:ext cx="516636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49808" y="1325880"/>
            <a:ext cx="73152" cy="2423160"/>
          </a:xfrm>
          <a:prstGeom prst="rect">
            <a:avLst/>
          </a:prstGeom>
          <a:solidFill>
            <a:srgbClr val="A94442"/>
          </a:solidFill>
          <a:ln w="12700">
            <a:solidFill>
              <a:srgbClr val="A9444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950976" y="1472184"/>
            <a:ext cx="485546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1 — Semantic scaling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969264" y="1856232"/>
            <a:ext cx="4818888" cy="17830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UVRD relies on synthesized data with 95% accuracy, leaving a nontrivial error rate.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Composed retrieval still lags behind textual retrieval (CMP 0.312 vs TXT 0.657).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Visual-only retrieval remains challenging for MLLM-based embedding models.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6217920" y="1325880"/>
            <a:ext cx="498348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217920" y="1325880"/>
            <a:ext cx="73152" cy="2423160"/>
          </a:xfrm>
          <a:prstGeom prst="rect">
            <a:avLst/>
          </a:prstGeom>
          <a:solidFill>
            <a:srgbClr val="A94442"/>
          </a:solidFill>
          <a:ln w="12700">
            <a:solidFill>
              <a:srgbClr val="A9444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6419088" y="1472184"/>
            <a:ext cx="467258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2 — Observational scaling</a:t>
            </a:r>
            <a:endParaRPr lang="en-US" sz="1750" dirty="0"/>
          </a:p>
        </p:txBody>
      </p:sp>
      <p:sp>
        <p:nvSpPr>
          <p:cNvPr id="16" name="Text 14"/>
          <p:cNvSpPr txBox="1"/>
          <p:nvPr/>
        </p:nvSpPr>
        <p:spPr>
          <a:xfrm>
            <a:off x="6437376" y="1856232"/>
            <a:ext cx="4636008" cy="17830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MG-LVR relies on dense captions, so quality is bounded by caption accuracy.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Temporal grounding is at clip level, not pixel/action-level annotation.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VEterfall is validated mainly on the GVE-3B backbone; broader backbone testing remains future work.</a:t>
            </a:r>
            <a:endParaRPr lang="en-US" sz="1580" dirty="0"/>
          </a:p>
        </p:txBody>
      </p:sp>
      <p:sp>
        <p:nvSpPr>
          <p:cNvPr id="17" name="Shape 15"/>
          <p:cNvSpPr/>
          <p:nvPr/>
        </p:nvSpPr>
        <p:spPr>
          <a:xfrm>
            <a:off x="749808" y="4251960"/>
            <a:ext cx="1045159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49808" y="4251960"/>
            <a:ext cx="73152" cy="96012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950976" y="4398264"/>
            <a:ext cx="10140696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state these limitations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69264" y="4782312"/>
            <a:ext cx="10104120" cy="3931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They clarify where the conclusions are strongest and where future validation is needed.</a:t>
            </a:r>
            <a:endParaRPr lang="en-US" sz="160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Each limitation motivates a specific research direction rather than weakening the thesis narrative.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current studies establish strong stage-level findings but leave room for broader validation and finer annotations.</a:t>
            </a:r>
            <a:endParaRPr lang="en-US" sz="1700" dirty="0"/>
          </a:p>
        </p:txBody>
      </p:sp>
      <p:sp>
        <p:nvSpPr>
          <p:cNvPr id="24" name="Rectangle 23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Integration and Platform Generalization Remain Future Work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325880"/>
            <a:ext cx="51663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49808" y="1325880"/>
            <a:ext cx="73152" cy="2240280"/>
          </a:xfrm>
          <a:prstGeom prst="rect">
            <a:avLst/>
          </a:prstGeom>
          <a:solidFill>
            <a:srgbClr val="A94442"/>
          </a:solidFill>
          <a:ln w="12700">
            <a:solidFill>
              <a:srgbClr val="A9444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950976" y="1472184"/>
            <a:ext cx="485546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3 — Search scaling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969264" y="1856232"/>
            <a:ext cx="4818888" cy="160020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GMP-GR is evaluated primarily in Baidu infrastructure and recommendation context.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Throughput numbers depend on hardware, traffic distribution, and implementation details.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Online A/B evidence covers two services, not every deployed application.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6217920" y="1325880"/>
            <a:ext cx="49834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217920" y="1325880"/>
            <a:ext cx="73152" cy="2240280"/>
          </a:xfrm>
          <a:prstGeom prst="rect">
            <a:avLst/>
          </a:prstGeom>
          <a:solidFill>
            <a:srgbClr val="C66A2E"/>
          </a:solidFill>
          <a:ln w="12700">
            <a:solidFill>
              <a:srgbClr val="C66A2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6419088" y="1472184"/>
            <a:ext cx="467258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Cross-study limitation</a:t>
            </a:r>
            <a:endParaRPr lang="en-US" sz="1750" dirty="0"/>
          </a:p>
        </p:txBody>
      </p:sp>
      <p:sp>
        <p:nvSpPr>
          <p:cNvPr id="16" name="Text 14"/>
          <p:cNvSpPr txBox="1"/>
          <p:nvPr/>
        </p:nvSpPr>
        <p:spPr>
          <a:xfrm>
            <a:off x="6437376" y="1856232"/>
            <a:ext cx="4636008" cy="160020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three studies are validated at successive stages, but not jointly optimized end-to-end.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GVE embeddings, VEterfall sparse inference, and GMP-GR graph search have not yet been combined into one full retrieval system.</a:t>
            </a:r>
            <a:endParaRPr lang="en-US" sz="1580" dirty="0"/>
          </a:p>
        </p:txBody>
      </p:sp>
      <p:sp>
        <p:nvSpPr>
          <p:cNvPr id="17" name="Shape 15"/>
          <p:cNvSpPr/>
          <p:nvPr/>
        </p:nvSpPr>
        <p:spPr>
          <a:xfrm>
            <a:off x="960120" y="4206240"/>
            <a:ext cx="10058400" cy="868680"/>
          </a:xfrm>
          <a:prstGeom prst="roundRect">
            <a:avLst>
              <a:gd name="adj" fmla="val 8421"/>
            </a:avLst>
          </a:prstGeom>
          <a:solidFill>
            <a:srgbClr val="FFF7E6"/>
          </a:solidFill>
          <a:ln w="1524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1188720" y="4352544"/>
            <a:ext cx="9601200" cy="57607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natural next step is end-to-end integration: semantic capability, observation policy, and searchability should be co-optimized.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thesis provides the pieces; a unified system is the next research frontier.</a:t>
            </a:r>
            <a:endParaRPr lang="en-US" sz="1700" dirty="0"/>
          </a:p>
        </p:txBody>
      </p:sp>
      <p:sp>
        <p:nvSpPr>
          <p:cNvPr id="22" name="Rectangle 21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Future Direction: Retrieval-Native Multimodal Models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325880"/>
            <a:ext cx="51663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49808" y="1325880"/>
            <a:ext cx="73152" cy="2148840"/>
          </a:xfrm>
          <a:prstGeom prst="rect">
            <a:avLst/>
          </a:prstGeom>
          <a:solidFill>
            <a:srgbClr val="A94442"/>
          </a:solidFill>
          <a:ln w="12700">
            <a:solidFill>
              <a:srgbClr val="A9444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950976" y="1472184"/>
            <a:ext cx="485546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limitation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969264" y="1856232"/>
            <a:ext cx="4818888" cy="150876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MLLMs are trained for generation.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Hidden states are optimized for next-token prediction, not compact discriminative retrieval.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EOS-token embedding extraction is an adaptation, not an ideal retrieval design.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6217920" y="1325880"/>
            <a:ext cx="4983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217920" y="1325880"/>
            <a:ext cx="73152" cy="214884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6419088" y="1472184"/>
            <a:ext cx="467258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direction</a:t>
            </a:r>
            <a:endParaRPr lang="en-US" sz="1750" dirty="0"/>
          </a:p>
        </p:txBody>
      </p:sp>
      <p:sp>
        <p:nvSpPr>
          <p:cNvPr id="16" name="Text 14"/>
          <p:cNvSpPr txBox="1"/>
          <p:nvPr/>
        </p:nvSpPr>
        <p:spPr>
          <a:xfrm>
            <a:off x="6437376" y="1856232"/>
            <a:ext cx="4636008" cy="150876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Pre-train with retrieval-first objectives.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Introduce retrieval-specific tokens and task-decoupled routing.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 lightweight adapters to preserve generative ability while shaping retrieval geometry.</a:t>
            </a:r>
            <a:endParaRPr lang="en-US" sz="1580" dirty="0"/>
          </a:p>
        </p:txBody>
      </p:sp>
      <p:sp>
        <p:nvSpPr>
          <p:cNvPr id="17" name="Shape 15"/>
          <p:cNvSpPr/>
          <p:nvPr/>
        </p:nvSpPr>
        <p:spPr>
          <a:xfrm>
            <a:off x="749808" y="3977640"/>
            <a:ext cx="1045159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49808" y="3977640"/>
            <a:ext cx="73152" cy="960120"/>
          </a:xfrm>
          <a:prstGeom prst="rect">
            <a:avLst/>
          </a:prstGeom>
          <a:solidFill>
            <a:srgbClr val="2F7D5C"/>
          </a:solidFill>
          <a:ln w="12700">
            <a:solidFill>
              <a:srgbClr val="2F7D5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950976" y="4123944"/>
            <a:ext cx="10140696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problem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69264" y="4507992"/>
            <a:ext cx="10104120" cy="3931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How can retrieval-native representation be learned without degrading the generative abilities that make MLLMs useful?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video embedders should be retrieval-native, not retrieval-adapted after generation pretraining.</a:t>
            </a:r>
            <a:endParaRPr lang="en-US" sz="1700" dirty="0"/>
          </a:p>
        </p:txBody>
      </p:sp>
      <p:sp>
        <p:nvSpPr>
          <p:cNvPr id="24" name="Rectangle 23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Future Direction: Video Retrieval as Agent Memory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325880"/>
            <a:ext cx="51663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49808" y="1325880"/>
            <a:ext cx="73152" cy="2057400"/>
          </a:xfrm>
          <a:prstGeom prst="rect">
            <a:avLst/>
          </a:prstGeom>
          <a:solidFill>
            <a:srgbClr val="3D7D82"/>
          </a:solidFill>
          <a:ln w="12700">
            <a:solidFill>
              <a:srgbClr val="3D7D8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950976" y="1472184"/>
            <a:ext cx="485546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969264" y="1856232"/>
            <a:ext cx="4818888" cy="141732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Embodied and web agents need long-horizon visual memory.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They must recall past observations, object locations, and event context.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Video retrieval is the natural interface for querying episodic memory.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6217920" y="1325880"/>
            <a:ext cx="49834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217920" y="1325880"/>
            <a:ext cx="73152" cy="2057400"/>
          </a:xfrm>
          <a:prstGeom prst="rect">
            <a:avLst/>
          </a:prstGeom>
          <a:solidFill>
            <a:srgbClr val="2F6DA5"/>
          </a:solidFill>
          <a:ln w="12700">
            <a:solidFill>
              <a:srgbClr val="2F6DA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6419088" y="1472184"/>
            <a:ext cx="467258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system setting</a:t>
            </a:r>
            <a:endParaRPr lang="en-US" sz="1750" dirty="0"/>
          </a:p>
        </p:txBody>
      </p:sp>
      <p:sp>
        <p:nvSpPr>
          <p:cNvPr id="16" name="Text 14"/>
          <p:cNvSpPr txBox="1"/>
          <p:nvPr/>
        </p:nvSpPr>
        <p:spPr>
          <a:xfrm>
            <a:off x="6437376" y="1856232"/>
            <a:ext cx="4636008" cy="141732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Streaming visual memory grows continuously.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Queries arrive in real time and may depend on hours of past observation.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VEterfall-style efficiency becomes critical for on-device or edge environments.</a:t>
            </a:r>
            <a:endParaRPr lang="en-US" sz="1580" dirty="0"/>
          </a:p>
        </p:txBody>
      </p:sp>
      <p:sp>
        <p:nvSpPr>
          <p:cNvPr id="17" name="Shape 15"/>
          <p:cNvSpPr/>
          <p:nvPr/>
        </p:nvSpPr>
        <p:spPr>
          <a:xfrm>
            <a:off x="749808" y="3886200"/>
            <a:ext cx="1045159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49808" y="3886200"/>
            <a:ext cx="73152" cy="118872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950976" y="4032504"/>
            <a:ext cx="10140696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shift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69264" y="4416552"/>
            <a:ext cx="10104120" cy="54864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Beyond Recall@K: measure downstream task success, decision latency, and memory usefulness.</a:t>
            </a:r>
            <a:endParaRPr lang="en-US" sz="162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This connects observational scaling with search scaling.</a:t>
            </a:r>
            <a:endParaRPr lang="en-US" sz="1620" dirty="0"/>
          </a:p>
        </p:txBody>
      </p:sp>
      <p:sp>
        <p:nvSpPr>
          <p:cNvPr id="21" name="Shape 19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retrieval can become a foundational memory mechanism for multimodal intelligence.</a:t>
            </a:r>
            <a:endParaRPr lang="en-US" sz="1700" dirty="0"/>
          </a:p>
        </p:txBody>
      </p:sp>
      <p:sp>
        <p:nvSpPr>
          <p:cNvPr id="24" name="Rectangle 23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Future Direction: Self-Evolving Data and Curriculum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325880"/>
            <a:ext cx="51663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49808" y="1325880"/>
            <a:ext cx="73152" cy="192024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950976" y="1472184"/>
            <a:ext cx="485546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pipeline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969264" y="1856232"/>
            <a:ext cx="4818888" cy="128016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UVRB diagnoses gaps.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V-SynFlow generates targeted data.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Modality Pyramid schedules learning.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This is currently a one-shot process.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6217920" y="1325880"/>
            <a:ext cx="49834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217920" y="1325880"/>
            <a:ext cx="73152" cy="1920240"/>
          </a:xfrm>
          <a:prstGeom prst="rect">
            <a:avLst/>
          </a:prstGeom>
          <a:solidFill>
            <a:srgbClr val="2F7D5C"/>
          </a:solidFill>
          <a:ln w="12700">
            <a:solidFill>
              <a:srgbClr val="2F7D5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6419088" y="1472184"/>
            <a:ext cx="467258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Closed-loop future</a:t>
            </a:r>
            <a:endParaRPr lang="en-US" sz="1750" dirty="0"/>
          </a:p>
        </p:txBody>
      </p:sp>
      <p:sp>
        <p:nvSpPr>
          <p:cNvPr id="16" name="Text 14"/>
          <p:cNvSpPr txBox="1"/>
          <p:nvPr/>
        </p:nvSpPr>
        <p:spPr>
          <a:xfrm>
            <a:off x="6437376" y="1856232"/>
            <a:ext cx="4636008" cy="128016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Evaluator diagnoses new weaknesses.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Synthesizer generates targeted examples.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Curriculum scheduler adjusts task distribution.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Model is re-evaluated and the loop repeats.</a:t>
            </a:r>
            <a:endParaRPr lang="en-US" sz="1580" dirty="0"/>
          </a:p>
        </p:txBody>
      </p:sp>
      <p:sp>
        <p:nvSpPr>
          <p:cNvPr id="17" name="Shape 15"/>
          <p:cNvSpPr/>
          <p:nvPr/>
        </p:nvSpPr>
        <p:spPr>
          <a:xfrm>
            <a:off x="749808" y="3794760"/>
            <a:ext cx="1045159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49808" y="3794760"/>
            <a:ext cx="73152" cy="1234440"/>
          </a:xfrm>
          <a:prstGeom prst="rect">
            <a:avLst/>
          </a:prstGeom>
          <a:solidFill>
            <a:srgbClr val="2F6DA5"/>
          </a:solidFill>
          <a:ln w="12700">
            <a:solidFill>
              <a:srgbClr val="2F6DA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950976" y="3941064"/>
            <a:ext cx="10140696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69264" y="4325112"/>
            <a:ext cx="10104120" cy="59436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New query formats, video domains, and relevance patterns emerge continuously.</a:t>
            </a:r>
            <a:endParaRPr lang="en-US" sz="162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Self-evolving systems reduce dependence on manually curated benchmarks and static curricula.</a:t>
            </a:r>
            <a:endParaRPr lang="en-US" sz="1620" dirty="0"/>
          </a:p>
        </p:txBody>
      </p:sp>
      <p:sp>
        <p:nvSpPr>
          <p:cNvPr id="21" name="Shape 19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evaluation-synthesis-curriculum loop can become an automatic capability expansion engine.</a:t>
            </a:r>
            <a:endParaRPr lang="en-US" sz="1700" dirty="0"/>
          </a:p>
        </p:txBody>
      </p:sp>
      <p:sp>
        <p:nvSpPr>
          <p:cNvPr id="24" name="Rectangle 23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>
                <a:solidFill>
                  <a:srgbClr val="142642"/>
                </a:solidFill>
                <a:latin typeface="Arial"/>
              </a:rPr>
              <a:t>Future Direction: Continuous Multi-Granular Representations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325880"/>
            <a:ext cx="51663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49808" y="1325880"/>
            <a:ext cx="73152" cy="2011680"/>
          </a:xfrm>
          <a:prstGeom prst="rect">
            <a:avLst/>
          </a:prstGeom>
          <a:solidFill>
            <a:srgbClr val="A94442"/>
          </a:solidFill>
          <a:ln w="12700">
            <a:solidFill>
              <a:srgbClr val="A9444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950976" y="1472184"/>
            <a:ext cx="485546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single embeddings may be insufficient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969264" y="1856232"/>
            <a:ext cx="4818888" cy="137160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single pooled vector must represent global themes and local details simultaneously.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Coarse and fine-grained queries may require different abstraction levels.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This creates tension in one-vector retrieval.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6217920" y="1325880"/>
            <a:ext cx="49834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217920" y="1325880"/>
            <a:ext cx="73152" cy="201168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6419088" y="1472184"/>
            <a:ext cx="467258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hypothesis</a:t>
            </a:r>
            <a:endParaRPr lang="en-US" sz="1750" dirty="0"/>
          </a:p>
        </p:txBody>
      </p:sp>
      <p:sp>
        <p:nvSpPr>
          <p:cNvPr id="16" name="Text 14"/>
          <p:cNvSpPr txBox="1"/>
          <p:nvPr/>
        </p:nvSpPr>
        <p:spPr>
          <a:xfrm>
            <a:off x="6437376" y="1856232"/>
            <a:ext cx="4636008" cy="137160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Diffusion or flow trajectories encode different granularities over time.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Early trajectory states capture global structure.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Later states expose fine-grained details.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Intermediate states may serve as granularity-specific embeddings.</a:t>
            </a:r>
            <a:endParaRPr lang="en-US" sz="1580" dirty="0"/>
          </a:p>
        </p:txBody>
      </p:sp>
      <p:sp>
        <p:nvSpPr>
          <p:cNvPr id="17" name="Shape 15"/>
          <p:cNvSpPr/>
          <p:nvPr/>
        </p:nvSpPr>
        <p:spPr>
          <a:xfrm>
            <a:off x="749808" y="3886200"/>
            <a:ext cx="1045159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49808" y="3886200"/>
            <a:ext cx="73152" cy="1188720"/>
          </a:xfrm>
          <a:prstGeom prst="rect">
            <a:avLst/>
          </a:prstGeom>
          <a:solidFill>
            <a:srgbClr val="3D7D82"/>
          </a:solidFill>
          <a:ln w="12700">
            <a:solidFill>
              <a:srgbClr val="3D7D8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950976" y="4032504"/>
            <a:ext cx="10140696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challenge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69264" y="4416552"/>
            <a:ext cx="10104120" cy="54864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Generative representations must become discriminative and searchable.</a:t>
            </a:r>
            <a:endParaRPr lang="en-US" sz="162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key difficulty is connecting generation trajectories with retrieval geometry.</a:t>
            </a:r>
            <a:endParaRPr lang="en-US" sz="1620" dirty="0"/>
          </a:p>
        </p:txBody>
      </p:sp>
      <p:sp>
        <p:nvSpPr>
          <p:cNvPr id="21" name="Shape 19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representations may unify coarse and fine-grained retrieval without task-specific heads.</a:t>
            </a:r>
            <a:endParaRPr lang="en-US" sz="1700" dirty="0"/>
          </a:p>
        </p:txBody>
      </p:sp>
      <p:sp>
        <p:nvSpPr>
          <p:cNvPr id="24" name="Rectangle 23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Structure-Aware Scaling Connects the Three Studies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68680" y="1234440"/>
            <a:ext cx="10469880" cy="822960"/>
          </a:xfrm>
          <a:prstGeom prst="roundRect">
            <a:avLst>
              <a:gd name="adj" fmla="val 8889"/>
            </a:avLst>
          </a:prstGeom>
          <a:solidFill>
            <a:srgbClr val="FFF7E6"/>
          </a:solidFill>
          <a:ln w="1524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1097280" y="1380744"/>
            <a:ext cx="10012680" cy="53035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retrieval has three sequential scaling bottlenecks, each requiring structure-aware rather than capacity-naive solutions.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749808" y="2423160"/>
            <a:ext cx="33375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749808" y="2423160"/>
            <a:ext cx="73152" cy="196596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950976" y="2569464"/>
            <a:ext cx="302666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1: semantic scaling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69264" y="2953512"/>
            <a:ext cx="2990088" cy="1325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UVRB + V-SynFlow + GVE.</a:t>
            </a:r>
            <a:endParaRPr lang="en-US" sz="14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SOTA zero-shot across 16 datasets.</a:t>
            </a:r>
            <a:endParaRPr lang="en-US" sz="14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Capability-targeted data beats parameter-naive scaling.</a:t>
            </a:r>
            <a:endParaRPr lang="en-US" sz="1480" dirty="0"/>
          </a:p>
        </p:txBody>
      </p:sp>
      <p:sp>
        <p:nvSpPr>
          <p:cNvPr id="15" name="Shape 13"/>
          <p:cNvSpPr/>
          <p:nvPr/>
        </p:nvSpPr>
        <p:spPr>
          <a:xfrm>
            <a:off x="4434840" y="2423160"/>
            <a:ext cx="33375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434840" y="2423160"/>
            <a:ext cx="73152" cy="1965960"/>
          </a:xfrm>
          <a:prstGeom prst="rect">
            <a:avLst/>
          </a:prstGeom>
          <a:solidFill>
            <a:srgbClr val="3D7D82"/>
          </a:solidFill>
          <a:ln w="12700">
            <a:solidFill>
              <a:srgbClr val="3D7D8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4636008" y="2569464"/>
            <a:ext cx="302666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2: observational scaling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654296" y="2953512"/>
            <a:ext cx="2990088" cy="1325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MG-LVR + VEterfall.</a:t>
            </a:r>
            <a:endParaRPr lang="en-US" sz="14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Frame-count anchoring and S–T trade-off.</a:t>
            </a:r>
            <a:endParaRPr lang="en-US" sz="14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+20% fine-grained R@1 at 4–16× efficiency.</a:t>
            </a:r>
            <a:endParaRPr lang="en-US" sz="1480" dirty="0"/>
          </a:p>
        </p:txBody>
      </p:sp>
      <p:sp>
        <p:nvSpPr>
          <p:cNvPr id="19" name="Shape 17"/>
          <p:cNvSpPr/>
          <p:nvPr/>
        </p:nvSpPr>
        <p:spPr>
          <a:xfrm>
            <a:off x="8119872" y="2423160"/>
            <a:ext cx="33375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119872" y="2423160"/>
            <a:ext cx="73152" cy="1965960"/>
          </a:xfrm>
          <a:prstGeom prst="rect">
            <a:avLst/>
          </a:prstGeom>
          <a:solidFill>
            <a:srgbClr val="2F6DA5"/>
          </a:solidFill>
          <a:ln w="12700">
            <a:solidFill>
              <a:srgbClr val="2F6DA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8321040" y="2569464"/>
            <a:ext cx="302666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3: search scaling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339328" y="2953512"/>
            <a:ext cx="2990088" cy="1325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MUIRML + HiPANNS.</a:t>
            </a:r>
            <a:endParaRPr lang="en-US" sz="14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+20% offline accuracy and +3% engagement.</a:t>
            </a:r>
            <a:endParaRPr lang="en-US" sz="14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at Baidu scale.</a:t>
            </a:r>
            <a:endParaRPr lang="en-US" sz="1480" dirty="0"/>
          </a:p>
        </p:txBody>
      </p:sp>
      <p:sp>
        <p:nvSpPr>
          <p:cNvPr id="23" name="Shape 21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open question: can a single system jointly optimize representation, observation, and search?</a:t>
            </a:r>
            <a:endParaRPr lang="en-US" sz="1700" dirty="0"/>
          </a:p>
        </p:txBody>
      </p:sp>
      <p:sp>
        <p:nvSpPr>
          <p:cNvPr id="26" name="Rectangle 25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Research Outputs and Reusable Artifacts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417320"/>
            <a:ext cx="150876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813816" y="1490472"/>
            <a:ext cx="143560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Thesis chapter</a:t>
            </a:r>
          </a:p>
        </p:txBody>
      </p:sp>
      <p:sp>
        <p:nvSpPr>
          <p:cNvPr id="11" name="Shape 9"/>
          <p:cNvSpPr/>
          <p:nvPr/>
        </p:nvSpPr>
        <p:spPr>
          <a:xfrm>
            <a:off x="2286000" y="1417320"/>
            <a:ext cx="219456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2322576" y="1490472"/>
            <a:ext cx="212140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Artifact</a:t>
            </a:r>
          </a:p>
        </p:txBody>
      </p:sp>
      <p:sp>
        <p:nvSpPr>
          <p:cNvPr id="13" name="Shape 11"/>
          <p:cNvSpPr/>
          <p:nvPr/>
        </p:nvSpPr>
        <p:spPr>
          <a:xfrm>
            <a:off x="4480560" y="1417320"/>
            <a:ext cx="205740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4517136" y="1490472"/>
            <a:ext cx="198424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Venue / status</a:t>
            </a:r>
          </a:p>
        </p:txBody>
      </p:sp>
      <p:sp>
        <p:nvSpPr>
          <p:cNvPr id="15" name="Shape 13"/>
          <p:cNvSpPr/>
          <p:nvPr/>
        </p:nvSpPr>
        <p:spPr>
          <a:xfrm>
            <a:off x="6537960" y="1417320"/>
            <a:ext cx="480060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6574536" y="1490472"/>
            <a:ext cx="4727448" cy="310896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Core contribution</a:t>
            </a:r>
          </a:p>
        </p:txBody>
      </p:sp>
      <p:sp>
        <p:nvSpPr>
          <p:cNvPr id="17" name="Shape 15"/>
          <p:cNvSpPr/>
          <p:nvPr/>
        </p:nvSpPr>
        <p:spPr>
          <a:xfrm>
            <a:off x="777240" y="1764792"/>
            <a:ext cx="15087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822960" y="1819656"/>
            <a:ext cx="1417320" cy="47548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Ch.3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2286000" y="1764792"/>
            <a:ext cx="21945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2331720" y="1819656"/>
            <a:ext cx="2103120" cy="47548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GVE / UVRB / UVRD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480560" y="1764792"/>
            <a:ext cx="20574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4526280" y="1819656"/>
            <a:ext cx="1965960" cy="47548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ACM MM 2026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submitted</a:t>
            </a:r>
          </a:p>
        </p:txBody>
      </p:sp>
      <p:sp>
        <p:nvSpPr>
          <p:cNvPr id="23" name="Shape 21"/>
          <p:cNvSpPr/>
          <p:nvPr/>
        </p:nvSpPr>
        <p:spPr>
          <a:xfrm>
            <a:off x="6537960" y="1764792"/>
            <a:ext cx="48006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6583680" y="1819656"/>
            <a:ext cx="4709160" cy="47548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scaling by diagnosis and synthesis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77240" y="2258568"/>
            <a:ext cx="1508760" cy="493776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822960" y="2313432"/>
            <a:ext cx="1417320" cy="47548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Ch.4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2286000" y="2258568"/>
            <a:ext cx="2194560" cy="493776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2331720" y="2313432"/>
            <a:ext cx="2103120" cy="47548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MG-LVR / VEterfall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4480560" y="2258568"/>
            <a:ext cx="2057400" cy="493776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4526280" y="2313432"/>
            <a:ext cx="1965960" cy="47548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ECCV 2026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submitted</a:t>
            </a:r>
          </a:p>
        </p:txBody>
      </p:sp>
      <p:sp>
        <p:nvSpPr>
          <p:cNvPr id="31" name="Shape 29"/>
          <p:cNvSpPr/>
          <p:nvPr/>
        </p:nvSpPr>
        <p:spPr>
          <a:xfrm>
            <a:off x="6537960" y="2258568"/>
            <a:ext cx="4800600" cy="493776"/>
          </a:xfrm>
          <a:prstGeom prst="rect">
            <a:avLst/>
          </a:prstGeom>
          <a:solidFill>
            <a:srgbClr val="EEF4FA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6583680" y="2313432"/>
            <a:ext cx="4709160" cy="47548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 scaling and dense-to-sparse inference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777240" y="2752344"/>
            <a:ext cx="15087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 txBox="1"/>
          <p:nvPr/>
        </p:nvSpPr>
        <p:spPr>
          <a:xfrm>
            <a:off x="822960" y="2807208"/>
            <a:ext cx="1417320" cy="47548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7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Ch.5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2286000" y="2752344"/>
            <a:ext cx="21945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2331720" y="2807208"/>
            <a:ext cx="2103120" cy="47548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GMP-GR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4480560" y="2752344"/>
            <a:ext cx="20574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4526280" y="2807208"/>
            <a:ext cx="1965960" cy="47548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ACM WebConf 2026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published</a:t>
            </a:r>
          </a:p>
        </p:txBody>
      </p:sp>
      <p:sp>
        <p:nvSpPr>
          <p:cNvPr id="39" name="Shape 37"/>
          <p:cNvSpPr/>
          <p:nvPr/>
        </p:nvSpPr>
        <p:spPr>
          <a:xfrm>
            <a:off x="6537960" y="2752344"/>
            <a:ext cx="48006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 txBox="1"/>
          <p:nvPr/>
        </p:nvSpPr>
        <p:spPr>
          <a:xfrm>
            <a:off x="6583680" y="2807208"/>
            <a:ext cx="4709160" cy="47548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search scaling at Baidu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960120" y="3703320"/>
            <a:ext cx="4892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960120" y="3703320"/>
            <a:ext cx="73152" cy="150876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 txBox="1"/>
          <p:nvPr/>
        </p:nvSpPr>
        <p:spPr>
          <a:xfrm>
            <a:off x="1161288" y="3849624"/>
            <a:ext cx="458114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outputs</a:t>
            </a:r>
            <a:endParaRPr lang="en-US" sz="1750" dirty="0"/>
          </a:p>
        </p:txBody>
      </p:sp>
      <p:sp>
        <p:nvSpPr>
          <p:cNvPr id="44" name="Text 42"/>
          <p:cNvSpPr txBox="1"/>
          <p:nvPr/>
        </p:nvSpPr>
        <p:spPr>
          <a:xfrm>
            <a:off x="1179576" y="4233672"/>
            <a:ext cx="4544568" cy="8686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UVRB: unified evaluation protocol.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UVRD: capability-targeted training corpus.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MG-LVR: multi-granular long-video retrieval benchmark.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GVE and VEterfall: methods for semantic and observational scaling.</a:t>
            </a:r>
            <a:endParaRPr lang="en-US" sz="1580" dirty="0"/>
          </a:p>
        </p:txBody>
      </p:sp>
      <p:sp>
        <p:nvSpPr>
          <p:cNvPr id="45" name="Shape 43"/>
          <p:cNvSpPr/>
          <p:nvPr/>
        </p:nvSpPr>
        <p:spPr>
          <a:xfrm>
            <a:off x="6263640" y="3703320"/>
            <a:ext cx="4892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6263640" y="3703320"/>
            <a:ext cx="73152" cy="1508760"/>
          </a:xfrm>
          <a:prstGeom prst="rect">
            <a:avLst/>
          </a:prstGeom>
          <a:solidFill>
            <a:srgbClr val="2F7D5C"/>
          </a:solidFill>
          <a:ln w="12700">
            <a:solidFill>
              <a:srgbClr val="2F7D5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 txBox="1"/>
          <p:nvPr/>
        </p:nvSpPr>
        <p:spPr>
          <a:xfrm>
            <a:off x="6464808" y="3849624"/>
            <a:ext cx="458114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impact</a:t>
            </a:r>
            <a:endParaRPr lang="en-US" sz="1750" dirty="0"/>
          </a:p>
        </p:txBody>
      </p:sp>
      <p:sp>
        <p:nvSpPr>
          <p:cNvPr id="48" name="Text 46"/>
          <p:cNvSpPr txBox="1"/>
          <p:nvPr/>
        </p:nvSpPr>
        <p:spPr>
          <a:xfrm>
            <a:off x="6483096" y="4233672"/>
            <a:ext cx="4544568" cy="8686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0" i="0">
                <a:solidFill>
                  <a:srgbClr val="1F2937"/>
                </a:solidFill>
                <a:latin typeface="Arial"/>
              </a:rPr>
              <a:t>• GMP-GR is deployed across Baidu products.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0" i="0">
                <a:solidFill>
                  <a:srgbClr val="1F2937"/>
                </a:solidFill>
                <a:latin typeface="Arial"/>
              </a:rPr>
              <a:t>• Demonstrates that retrieval research can improve real user engagement under production constraints.</a:t>
            </a:r>
          </a:p>
        </p:txBody>
      </p:sp>
      <p:sp>
        <p:nvSpPr>
          <p:cNvPr id="49" name="Shape 47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51" name="Text 49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142642"/>
                </a:solidFill>
                <a:latin typeface="Arial"/>
              </a:rPr>
              <a:t>The thesis delivers reusable academic artifacts and one validated production-scale system.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731520" y="1325880"/>
            <a:ext cx="10698480" cy="91440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5400" b="1">
                <a:solidFill>
                  <a:srgbClr val="FFFFFF"/>
                </a:solidFill>
                <a:latin typeface="Arial"/>
              </a:rPr>
              <a:t>Questions?</a:t>
            </a:r>
          </a:p>
        </p:txBody>
      </p:sp>
      <p:sp>
        <p:nvSpPr>
          <p:cNvPr id="5" name="Text 3"/>
          <p:cNvSpPr txBox="1"/>
          <p:nvPr/>
        </p:nvSpPr>
        <p:spPr>
          <a:xfrm>
            <a:off x="1143000" y="2514600"/>
            <a:ext cx="9921240" cy="74980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400" b="0">
                <a:solidFill>
                  <a:srgbClr val="FFFFFF"/>
                </a:solidFill>
                <a:latin typeface="Arial"/>
              </a:rPr>
              <a:t>Structure-aware scaling for scalable and generalizable video retrieval</a:t>
            </a:r>
          </a:p>
        </p:txBody>
      </p:sp>
      <p:sp>
        <p:nvSpPr>
          <p:cNvPr id="6" name="Shape 4"/>
          <p:cNvSpPr/>
          <p:nvPr/>
        </p:nvSpPr>
        <p:spPr>
          <a:xfrm>
            <a:off x="3017520" y="4023360"/>
            <a:ext cx="6172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3246120" y="4169664"/>
            <a:ext cx="5715000" cy="57607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3000" b="1">
                <a:solidFill>
                  <a:srgbClr val="D97706"/>
                </a:solidFill>
                <a:latin typeface="Arial"/>
              </a:rPr>
              <a:t>Thank you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3886200" y="6126480"/>
            <a:ext cx="4389120" cy="22860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D1D5DB"/>
                </a:solidFill>
                <a:latin typeface="Arial"/>
              </a:rPr>
              <a:t>HKUST(GZ)  ·  July 29, 2026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1D5DB"/>
                </a:solidFill>
                <a:latin typeface="Arial"/>
              </a:rPr>
              <a:t>71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12365D"/>
          </a:solidFill>
          <a:ln w="12700">
            <a:solidFill>
              <a:srgbClr val="12365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3383280" y="0"/>
            <a:ext cx="880841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658368" y="1115568"/>
            <a:ext cx="2011680" cy="91440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148840"/>
            <a:ext cx="2331720" cy="100584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8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58368" y="3337560"/>
            <a:ext cx="2084832" cy="0"/>
          </a:xfrm>
          <a:prstGeom prst="line">
            <a:avLst/>
          </a:prstGeom>
          <a:noFill/>
          <a:ln w="2540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4069080" y="1143000"/>
            <a:ext cx="7223760" cy="105156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3800" b="1" i="0">
                <a:solidFill>
                  <a:srgbClr val="142642"/>
                </a:solidFill>
                <a:latin typeface="Arial"/>
              </a:rPr>
              <a:t>Backup Slides for Q&amp;A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2514600"/>
            <a:ext cx="6858000" cy="118872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1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slides for committee questions.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5440680"/>
            <a:ext cx="3657600" cy="34747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2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PhD Thesis Defense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Q&amp;A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Q1–Q2: GVE and Synthesized Data Quality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325880"/>
            <a:ext cx="51663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49808" y="1325880"/>
            <a:ext cx="73152" cy="219456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950976" y="1472184"/>
            <a:ext cx="485546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Q1: How does GVE compare to GPT-4o / Gemini retrieval?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969264" y="1856232"/>
            <a:ext cx="4818888" cy="15544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Those models are optimized for generation, not embedding retrieval.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Using hidden states as embeddings would be comparable to evaluated MLLM embedders.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GVE differs by explicit UVRD retrieval supervision and Modality Pyramid training.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6217920" y="1325880"/>
            <a:ext cx="49834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217920" y="1325880"/>
            <a:ext cx="73152" cy="2194560"/>
          </a:xfrm>
          <a:prstGeom prst="rect">
            <a:avLst/>
          </a:prstGeom>
          <a:solidFill>
            <a:srgbClr val="2F6DA5"/>
          </a:solidFill>
          <a:ln w="12700">
            <a:solidFill>
              <a:srgbClr val="2F6DA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6419088" y="1472184"/>
            <a:ext cx="467258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Q2: Is 100-sample validation enough?</a:t>
            </a:r>
            <a:endParaRPr lang="en-US" sz="1750" dirty="0"/>
          </a:p>
        </p:txBody>
      </p:sp>
      <p:sp>
        <p:nvSpPr>
          <p:cNvPr id="16" name="Text 14"/>
          <p:cNvSpPr txBox="1"/>
          <p:nvPr/>
        </p:nvSpPr>
        <p:spPr>
          <a:xfrm>
            <a:off x="6437376" y="1856232"/>
            <a:ext cx="4636008" cy="15544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 is a limitation; 95% accuracy gives a wide confidence interval.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Downstream consistency across 16 UVRB datasets is functional evidence that synthesized data is useful.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If noise were systematic, broad zero-shot gains would be unlikely.</a:t>
            </a:r>
            <a:endParaRPr lang="en-US" sz="1580" dirty="0"/>
          </a:p>
        </p:txBody>
      </p:sp>
      <p:sp>
        <p:nvSpPr>
          <p:cNvPr id="17" name="Shape 15"/>
          <p:cNvSpPr/>
          <p:nvPr/>
        </p:nvSpPr>
        <p:spPr>
          <a:xfrm>
            <a:off x="749808" y="4160520"/>
            <a:ext cx="104515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49808" y="4160520"/>
            <a:ext cx="73152" cy="868680"/>
          </a:xfrm>
          <a:prstGeom prst="rect">
            <a:avLst/>
          </a:prstGeom>
          <a:solidFill>
            <a:srgbClr val="2F7D5C"/>
          </a:solidFill>
          <a:ln w="12700">
            <a:solidFill>
              <a:srgbClr val="2F7D5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950976" y="4306824"/>
            <a:ext cx="10140696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Answering strategy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69264" y="4690872"/>
            <a:ext cx="10104120" cy="30175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Acknowledge uncertainty first, then point to downstream validation and future larger-scale audit.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strongest defense is not that synthesis is perfect, but that diagnostic-guided synthesis improves broad zero-shot transfer.</a:t>
            </a:r>
            <a:endParaRPr lang="en-US" sz="1700" dirty="0"/>
          </a:p>
        </p:txBody>
      </p:sp>
      <p:sp>
        <p:nvSpPr>
          <p:cNvPr id="24" name="Rectangle 23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Q&amp;A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Q3–Q4: MG-LVR and VEterfall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325880"/>
            <a:ext cx="51663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49808" y="1325880"/>
            <a:ext cx="73152" cy="2148840"/>
          </a:xfrm>
          <a:prstGeom prst="rect">
            <a:avLst/>
          </a:prstGeom>
          <a:solidFill>
            <a:srgbClr val="3D7D82"/>
          </a:solidFill>
          <a:ln w="12700">
            <a:solidFill>
              <a:srgbClr val="3D7D8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950976" y="1472184"/>
            <a:ext cx="485546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Q3: Is the granularity gap a benchmark artifact?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969264" y="1856232"/>
            <a:ext cx="4818888" cy="150876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gap appears across all 23 evaluated models.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theoretical reason is clear: fine queries require brief frame-level evidence.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Short-clip benchmarks cannot reveal this because nearly all evidence is observed.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6217920" y="1325880"/>
            <a:ext cx="4983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217920" y="1325880"/>
            <a:ext cx="73152" cy="214884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6419088" y="1472184"/>
            <a:ext cx="467258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Q4: How would GVE + VEterfall combine?</a:t>
            </a:r>
            <a:endParaRPr lang="en-US" sz="1750" dirty="0"/>
          </a:p>
        </p:txBody>
      </p:sp>
      <p:sp>
        <p:nvSpPr>
          <p:cNvPr id="16" name="Text 14"/>
          <p:cNvSpPr txBox="1"/>
          <p:nvPr/>
        </p:nvSpPr>
        <p:spPr>
          <a:xfrm>
            <a:off x="6437376" y="1856232"/>
            <a:ext cx="4636008" cy="150876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Not yet evaluated as an integrated published experiment.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Hypothesis: a stronger GVE dense teacher should produce better sparse distillation signals.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This is a concrete future integration experiment.</a:t>
            </a:r>
            <a:endParaRPr lang="en-US" sz="1580" dirty="0"/>
          </a:p>
        </p:txBody>
      </p:sp>
      <p:sp>
        <p:nvSpPr>
          <p:cNvPr id="17" name="Shape 15"/>
          <p:cNvSpPr/>
          <p:nvPr/>
        </p:nvSpPr>
        <p:spPr>
          <a:xfrm>
            <a:off x="749808" y="4160520"/>
            <a:ext cx="104515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49808" y="4160520"/>
            <a:ext cx="73152" cy="868680"/>
          </a:xfrm>
          <a:prstGeom prst="rect">
            <a:avLst/>
          </a:prstGeom>
          <a:solidFill>
            <a:srgbClr val="2F7D5C"/>
          </a:solidFill>
          <a:ln w="12700">
            <a:solidFill>
              <a:srgbClr val="2F7D5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950976" y="4306824"/>
            <a:ext cx="10140696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Answering strategy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69264" y="4690872"/>
            <a:ext cx="10104120" cy="30175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Separate validated results from plausible next steps.</a:t>
            </a:r>
            <a:endParaRPr lang="en-US" sz="160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Avoid overclaiming the end-to-end system integration.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stage-level findings are validated; cross-stage integration remains a clear future work item.</a:t>
            </a:r>
            <a:endParaRPr lang="en-US" sz="1700" dirty="0"/>
          </a:p>
        </p:txBody>
      </p:sp>
      <p:sp>
        <p:nvSpPr>
          <p:cNvPr id="24" name="Rectangle 23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Q&amp;A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Q5–Q6: SCL and GMP-GR Generalization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325880"/>
            <a:ext cx="51663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49808" y="1325880"/>
            <a:ext cx="73152" cy="219456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950976" y="1472184"/>
            <a:ext cx="485546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Q5: Does SCL hurt DNN metric expressiveness?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969264" y="1856232"/>
            <a:ext cx="4818888" cy="15544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SCL is a soft regularizer, not a hard equality constraint.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 aligns ranking regularity rather than raw score values.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 removes pathological graph-navigation cases while preserving fine-grained relevance.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6217920" y="1325880"/>
            <a:ext cx="49834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217920" y="1325880"/>
            <a:ext cx="73152" cy="2194560"/>
          </a:xfrm>
          <a:prstGeom prst="rect">
            <a:avLst/>
          </a:prstGeom>
          <a:solidFill>
            <a:srgbClr val="2F6DA5"/>
          </a:solidFill>
          <a:ln w="12700">
            <a:solidFill>
              <a:srgbClr val="2F6DA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6419088" y="1472184"/>
            <a:ext cx="467258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Q6: Can GMP-GR generalize beyond Baidu?</a:t>
            </a:r>
            <a:endParaRPr lang="en-US" sz="1750" dirty="0"/>
          </a:p>
        </p:txBody>
      </p:sp>
      <p:sp>
        <p:nvSpPr>
          <p:cNvPr id="16" name="Text 14"/>
          <p:cNvSpPr txBox="1"/>
          <p:nvPr/>
        </p:nvSpPr>
        <p:spPr>
          <a:xfrm>
            <a:off x="6437376" y="1856232"/>
            <a:ext cx="4636008" cy="15544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Algorithmic components are general to HNSW-compatible infrastructure.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Exact throughput numbers are hardware- and traffic-dependent.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Accuracy gains should generalize more readily than engineering throughput gains.</a:t>
            </a:r>
            <a:endParaRPr lang="en-US" sz="1580" dirty="0"/>
          </a:p>
        </p:txBody>
      </p:sp>
      <p:sp>
        <p:nvSpPr>
          <p:cNvPr id="17" name="Shape 15"/>
          <p:cNvSpPr/>
          <p:nvPr/>
        </p:nvSpPr>
        <p:spPr>
          <a:xfrm>
            <a:off x="749808" y="4160520"/>
            <a:ext cx="104515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49808" y="4160520"/>
            <a:ext cx="73152" cy="868680"/>
          </a:xfrm>
          <a:prstGeom prst="rect">
            <a:avLst/>
          </a:prstGeom>
          <a:solidFill>
            <a:srgbClr val="2F7D5C"/>
          </a:solidFill>
          <a:ln w="12700">
            <a:solidFill>
              <a:srgbClr val="2F7D5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950976" y="4306824"/>
            <a:ext cx="10140696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Answering strategy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69264" y="4690872"/>
            <a:ext cx="10104120" cy="30175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Distinguish algorithmic generality from platform-specific measurements.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GMP-GR is a general co-design principle, while the reported serving numbers are Baidu-specific.</a:t>
            </a:r>
            <a:endParaRPr lang="en-US" sz="1700" dirty="0"/>
          </a:p>
        </p:txBody>
      </p:sp>
      <p:sp>
        <p:nvSpPr>
          <p:cNvPr id="24" name="Rectangle 23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310896"/>
            <a:ext cx="260604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Q&amp;A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530352"/>
            <a:ext cx="10652760" cy="6217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42642"/>
                </a:solidFill>
                <a:latin typeface="Arial"/>
              </a:rPr>
              <a:t>Q7–Q8: Surprising Findings and Openness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0352" y="1069848"/>
            <a:ext cx="11128248" cy="0"/>
          </a:xfrm>
          <a:prstGeom prst="line">
            <a:avLst/>
          </a:prstGeom>
          <a:noFill/>
          <a:ln w="15240">
            <a:solidFill>
              <a:srgbClr val="C89F53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0352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Scalable and Generalizable Video Retrieval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325880"/>
            <a:ext cx="5166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49808" y="1325880"/>
            <a:ext cx="73152" cy="2331720"/>
          </a:xfrm>
          <a:prstGeom prst="rect">
            <a:avLst/>
          </a:prstGeom>
          <a:solidFill>
            <a:srgbClr val="C89F53"/>
          </a:solidFill>
          <a:ln w="12700">
            <a:solidFill>
              <a:srgbClr val="C89F5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950976" y="1472184"/>
            <a:ext cx="485546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Q7: Most surprising finding?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969264" y="1856232"/>
            <a:ext cx="4818888" cy="169164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Study 1 scaling paradox: 87M CLIP can outperform 8B MLLM on visual-only retrieval.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Study 2 frame-count anchoring: CLIP models can degrade when more frames are added.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Both challenge the intuition that “larger input/model always helps.”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6217920" y="1325880"/>
            <a:ext cx="49834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217920" y="1325880"/>
            <a:ext cx="73152" cy="2331720"/>
          </a:xfrm>
          <a:prstGeom prst="rect">
            <a:avLst/>
          </a:prstGeom>
          <a:solidFill>
            <a:srgbClr val="2F6DA5"/>
          </a:solidFill>
          <a:ln w="12700">
            <a:solidFill>
              <a:srgbClr val="2F6DA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6419088" y="1472184"/>
            <a:ext cx="4672584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Q8: What will be open-sourced?</a:t>
            </a:r>
            <a:endParaRPr lang="en-US" sz="1750" dirty="0"/>
          </a:p>
        </p:txBody>
      </p:sp>
      <p:sp>
        <p:nvSpPr>
          <p:cNvPr id="16" name="Text 14"/>
          <p:cNvSpPr txBox="1"/>
          <p:nvPr/>
        </p:nvSpPr>
        <p:spPr>
          <a:xfrm>
            <a:off x="6437376" y="1856232"/>
            <a:ext cx="4636008" cy="1691640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UVRB and MG-LVR are designed for public release with protocols and splits.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GVE release depends on compatibility with the Qwen2.5-VL license.</a:t>
            </a:r>
            <a:endParaRPr lang="en-US" sz="1580" dirty="0"/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GMP-GR production system is proprietary, but algorithm components are fully described.</a:t>
            </a:r>
            <a:endParaRPr lang="en-US" sz="1580" dirty="0"/>
          </a:p>
        </p:txBody>
      </p:sp>
      <p:sp>
        <p:nvSpPr>
          <p:cNvPr id="17" name="Shape 15"/>
          <p:cNvSpPr/>
          <p:nvPr/>
        </p:nvSpPr>
        <p:spPr>
          <a:xfrm>
            <a:off x="749808" y="4297680"/>
            <a:ext cx="104515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2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49808" y="4297680"/>
            <a:ext cx="73152" cy="868680"/>
          </a:xfrm>
          <a:prstGeom prst="rect">
            <a:avLst/>
          </a:prstGeom>
          <a:solidFill>
            <a:srgbClr val="2F7D5C"/>
          </a:solidFill>
          <a:ln w="12700">
            <a:solidFill>
              <a:srgbClr val="2F7D5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950976" y="4443984"/>
            <a:ext cx="10140696" cy="384048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Answering strategy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69264" y="4828032"/>
            <a:ext cx="10104120" cy="30175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 surprising findings to reinforce the thesis: structural bottlenecks matter more than naive capacity.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0352" y="5989320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3970">
            <a:solidFill>
              <a:srgbClr val="C89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749808" y="6108192"/>
            <a:ext cx="960120" cy="164592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2011680" y="6035040"/>
            <a:ext cx="9281160" cy="329184"/>
          </a:xfrm>
          <a:prstGeom prst="rect">
            <a:avLst/>
          </a:prstGeom>
          <a:noFill/>
          <a:ln/>
        </p:spPr>
        <p:txBody>
          <a:bodyPr wrap="square" lIns="41148" tIns="22860" rIns="41148" bIns="22860" rtlCol="0" anchor="ctr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000" b="1" i="0" dirty="0">
                <a:solidFill>
                  <a:srgbClr val="142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important findings are the ones that force the field to rethink naive scaling assumptions.</a:t>
            </a:r>
            <a:endParaRPr lang="en-US" sz="1700" dirty="0"/>
          </a:p>
        </p:txBody>
      </p:sp>
      <p:sp>
        <p:nvSpPr>
          <p:cNvPr id="24" name="Rectangle 23"/>
          <p:cNvSpPr/>
          <p:nvPr/>
        </p:nvSpPr>
        <p:spPr>
          <a:xfrm>
            <a:off x="502920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5577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988234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230892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473549" y="91440"/>
            <a:ext cx="2215225" cy="41148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8943</Words>
  <Application>Microsoft Macintosh PowerPoint</Application>
  <PresentationFormat>宽屏</PresentationFormat>
  <Paragraphs>1533</Paragraphs>
  <Slides>76</Slides>
  <Notes>76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76</vt:i4>
      </vt:variant>
    </vt:vector>
  </HeadingPairs>
  <TitlesOfParts>
    <vt:vector size="78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HKUST(GZ)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Towards Scalable and Generalizable Video Retrieval</dc:title>
  <dc:subject>PhD Thesis Defense</dc:subject>
  <dc:creator>OpenAI</dc:creator>
  <cp:lastModifiedBy>Microsoft Office User</cp:lastModifiedBy>
  <cp:revision>1</cp:revision>
  <dcterms:created xsi:type="dcterms:W3CDTF">2026-07-03T02:42:06Z</dcterms:created>
  <dcterms:modified xsi:type="dcterms:W3CDTF">2026-07-07T05:36:25Z</dcterms:modified>
</cp:coreProperties>
</file>